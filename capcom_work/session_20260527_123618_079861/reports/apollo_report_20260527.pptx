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645920"/>
            <a:ext cx="1828800" cy="27432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3B7DD8"/>
                </a:solidFill>
                <a:latin typeface="Meiryo UI"/>
                <a:ea typeface="Meiryo UI"/>
              </a:rPr>
              <a:t>APOLLO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sz="3600" b="1" lang="ja-JP" altLang="en-US">
                <a:solidFill>
                  <a:srgbClr val="FFFFFF"/>
                </a:solidFill>
                <a:latin typeface="Meiryo UI"/>
                <a:ea typeface="Meiryo UI"/>
              </a:rPr>
              <a:t>炭酸カルシウム技術動向分析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800" b="0" lang="ja-JP" altLang="en-US">
                <a:solidFill>
                  <a:srgbClr val="AABBDD"/>
                </a:solidFill>
                <a:latin typeface="Meiryo UI"/>
                <a:ea typeface="Meiryo UI"/>
              </a:rPr>
              <a:t>炭酸カルシウム関連特許 1,959 件に見る成長領域と出願人動態（1911-2026）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300" b="0" lang="ja-JP" altLang="en-US">
                <a:solidFill>
                  <a:srgbClr val="8899BB"/>
                </a:solidFill>
                <a:latin typeface="Meiryo UI"/>
                <a:ea typeface="Meiryo UI"/>
              </a:rPr>
              <a:t>Mission: 最近の注目領域について客観的な分析   |   2026年5月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b="1" sz="2400" lang="ja-JP" altLang="en-US">
                <a:solidFill>
                  <a:srgbClr val="1B2A4A"/>
                </a:solidFill>
                <a:latin typeface="Meiryo UI"/>
                <a:ea typeface="Meiryo UI"/>
              </a:rPr>
              <a:t>目次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47120" cy="127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941832"/>
            <a:ext cx="941832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987552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9875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333333"/>
                </a:solidFill>
                <a:latin typeface="Meiryo UI"/>
                <a:ea typeface="Meiryo UI"/>
              </a:rPr>
              <a:t>エグゼクティブサマリー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98755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r"/>
            <a:r>
              <a:rPr sz="14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444752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4447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333333"/>
                </a:solidFill>
                <a:latin typeface="Meiryo UI"/>
                <a:ea typeface="Meiryo UI"/>
              </a:rPr>
              <a:t>技術環境・ライフサイクル分析（NEBULA）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44475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r"/>
            <a:r>
              <a:rPr sz="14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P6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1856232"/>
            <a:ext cx="941832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1901952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19019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333333"/>
                </a:solidFill>
                <a:latin typeface="Meiryo UI"/>
                <a:ea typeface="Meiryo UI"/>
              </a:rPr>
              <a:t>基本統計・競争構造（ATLAS）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90195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r"/>
            <a:r>
              <a:rPr sz="14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P9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359152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359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333333"/>
                </a:solidFill>
                <a:latin typeface="Meiryo UI"/>
                <a:ea typeface="Meiryo UI"/>
              </a:rPr>
              <a:t>技術ランドスケープ（Saturn V）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35915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r"/>
            <a:r>
              <a:rPr sz="14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P13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2770632"/>
            <a:ext cx="941832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2816352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28163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333333"/>
                </a:solidFill>
                <a:latin typeface="Meiryo UI"/>
                <a:ea typeface="Meiryo UI"/>
              </a:rPr>
              <a:t>出願人動態分析（MEGA）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81635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r"/>
            <a:r>
              <a:rPr sz="14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P18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273552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6.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2735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333333"/>
                </a:solidFill>
                <a:latin typeface="Meiryo UI"/>
                <a:ea typeface="Meiryo UI"/>
              </a:rPr>
              <a:t>キーワード共起構造（Explorer）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27355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r"/>
            <a:r>
              <a:rPr sz="14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P21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3685032"/>
            <a:ext cx="941832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3730752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7.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37307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333333"/>
                </a:solidFill>
                <a:latin typeface="Meiryo UI"/>
                <a:ea typeface="Meiryo UI"/>
              </a:rPr>
              <a:t>仮説検証と戦略提言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73075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r"/>
            <a:r>
              <a:rPr sz="14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P23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327648"/>
            <a:ext cx="12188952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6355080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APOLLO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r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572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0" b="1" lang="ja-JP" altLang="en-US">
                <a:solidFill>
                  <a:srgbClr val="2A3A5A"/>
                </a:solidFill>
                <a:latin typeface="Meiryo UI"/>
                <a:ea typeface="Meiryo UI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36576" cy="18288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sz="3200" b="1" lang="ja-JP" altLang="en-US">
                <a:solidFill>
                  <a:srgbClr val="FFFFFF"/>
                </a:solidFill>
                <a:latin typeface="Meiryo UI"/>
                <a:ea typeface="Meiryo UI"/>
              </a:rPr>
              <a:t>エグゼクティブサマリー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3891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600" b="0" lang="ja-JP" altLang="en-US">
                <a:solidFill>
                  <a:srgbClr val="CCDDEE"/>
                </a:solidFill>
                <a:latin typeface="Meiryo UI"/>
                <a:ea typeface="Meiryo UI"/>
              </a:rPr>
              <a:t>本分析の核心と主要 KPI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b="1" sz="2200" lang="ja-JP" altLang="en-US">
                <a:solidFill>
                  <a:srgbClr val="1B2A4A"/>
                </a:solidFill>
                <a:latin typeface="Meiryo UI"/>
                <a:ea typeface="Meiryo UI"/>
              </a:rPr>
              <a:t>本母集団の核心指標 ～CO₂固定化クラスタが直近5年集中率39%で成長を牽引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1832"/>
            <a:ext cx="11247120" cy="822959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41832"/>
            <a:ext cx="36576" cy="822959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14984"/>
            <a:ext cx="10972800" cy="6766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sz="16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b="1" sz="1600" lang="ja-JP" altLang="en-US">
                <a:solidFill>
                  <a:srgbClr val="1B2A4A"/>
                </a:solidFill>
                <a:latin typeface="Meiryo UI"/>
                <a:ea typeface="Meiryo UI"/>
              </a:rPr>
              <a:t>全 1,959 件</a:t>
            </a:r>
            <a:r>
              <a:rPr sz="1600" lang="ja-JP" altLang="en-US">
                <a:solidFill>
                  <a:srgbClr val="333333"/>
                </a:solidFill>
                <a:latin typeface="Meiryo UI"/>
                <a:ea typeface="Meiryo UI"/>
              </a:rPr>
              <a:t>の本母集団から検出された 35 クラスタのうち、CO₂ 固定化が最大の注目領域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856231"/>
            <a:ext cx="3383279" cy="195224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56231"/>
            <a:ext cx="36576" cy="195224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000" b="1" lang="ja-JP" altLang="en-US">
                <a:solidFill>
                  <a:srgbClr val="666666"/>
                </a:solidFill>
                <a:latin typeface="Meiryo UI"/>
                <a:ea typeface="Meiryo UI"/>
              </a:rPr>
              <a:t>対象件数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21991"/>
            <a:ext cx="3108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1,959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42716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9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件（1911-2026）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856231"/>
            <a:ext cx="3383279" cy="195224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56231"/>
            <a:ext cx="36576" cy="195224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965960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000" b="1" lang="ja-JP" altLang="en-US">
                <a:solidFill>
                  <a:srgbClr val="666666"/>
                </a:solidFill>
                <a:latin typeface="Meiryo UI"/>
                <a:ea typeface="Meiryo UI"/>
              </a:rPr>
              <a:t>検出クラスタ数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221991"/>
            <a:ext cx="3108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442716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9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Saturn 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856231"/>
            <a:ext cx="3383279" cy="195224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856231"/>
            <a:ext cx="36576" cy="195224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965960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000" b="1" lang="ja-JP" altLang="en-US">
                <a:solidFill>
                  <a:srgbClr val="666666"/>
                </a:solidFill>
                <a:latin typeface="Meiryo UI"/>
                <a:ea typeface="Meiryo UI"/>
              </a:rPr>
              <a:t>ノイズ率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221991"/>
            <a:ext cx="3108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11.5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442716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9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% 標準・安定構造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991356"/>
            <a:ext cx="3383279" cy="195224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3991356"/>
            <a:ext cx="36576" cy="195224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101084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000" b="1" lang="ja-JP" altLang="en-US">
                <a:solidFill>
                  <a:srgbClr val="666666"/>
                </a:solidFill>
                <a:latin typeface="Meiryo UI"/>
                <a:ea typeface="Meiryo UI"/>
              </a:rPr>
              <a:t>CO₂固定化 直近5年集中率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357116"/>
            <a:ext cx="3108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39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577840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9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% 全体平均の約5倍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3991356"/>
            <a:ext cx="3383279" cy="195224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3991356"/>
            <a:ext cx="36576" cy="195224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4101084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000" b="1" lang="ja-JP" altLang="en-US">
                <a:solidFill>
                  <a:srgbClr val="666666"/>
                </a:solidFill>
                <a:latin typeface="Meiryo UI"/>
                <a:ea typeface="Meiryo UI"/>
              </a:rPr>
              <a:t>出願人 HHI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357116"/>
            <a:ext cx="3108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0.063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5577840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9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競争的・分散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79" y="3991356"/>
            <a:ext cx="3383279" cy="195224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55279" y="3991356"/>
            <a:ext cx="36576" cy="1952244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92440" y="4101084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000" b="1" lang="ja-JP" altLang="en-US">
                <a:solidFill>
                  <a:srgbClr val="666666"/>
                </a:solidFill>
                <a:latin typeface="Meiryo UI"/>
                <a:ea typeface="Meiryo UI"/>
              </a:rPr>
              <a:t>最高成長 出願人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4357116"/>
            <a:ext cx="3108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住友大阪セメント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5577840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9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+13.7% MEGAリーダー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/>
            <a:r>
              <a:rPr sz="9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（出所）ATLAS / Saturn V / MEGA PULSE 分析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327648"/>
            <a:ext cx="12188952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6355080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APOLLO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r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|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b="1" sz="2400" lang="ja-JP" altLang="en-US">
                <a:solidFill>
                  <a:srgbClr val="1B2A4A"/>
                </a:solidFill>
                <a:latin typeface="Meiryo UI"/>
                <a:ea typeface="Meiryo UI"/>
              </a:rPr>
              <a:t>主要発見 ～成長軸はCO₂固定化、伝統用途は構造的縮小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47120" cy="127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50392"/>
            <a:ext cx="1124712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50392"/>
            <a:ext cx="36576" cy="5029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23544"/>
            <a:ext cx="10972800" cy="3566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sz="16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600" lang="ja-JP" altLang="en-US">
                <a:solidFill>
                  <a:srgbClr val="333333"/>
                </a:solidFill>
                <a:latin typeface="Meiryo UI"/>
                <a:ea typeface="Meiryo UI"/>
              </a:rPr>
              <a:t>本母集団の構造転換を 4 つの観点で要約。複数モジュールが同一結論を裏付け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44752"/>
            <a:ext cx="2640330" cy="411480"/>
          </a:xfrm>
          <a:prstGeom prst="round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245745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ctr"/>
            <a:r>
              <a:rPr sz="1300" b="1" lang="ja-JP" altLang="en-US">
                <a:solidFill>
                  <a:srgbClr val="FFFFFF"/>
                </a:solidFill>
                <a:latin typeface="Meiryo UI"/>
                <a:ea typeface="Meiryo UI"/>
              </a:rPr>
              <a:t>注目領域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56232"/>
            <a:ext cx="2640330" cy="408736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947672"/>
            <a:ext cx="2420874" cy="390448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40000"/>
              </a:lnSpc>
            </a:pPr>
            <a:r>
              <a:rPr b="1" sz="1200" lang="ja-JP" altLang="en-US">
                <a:solidFill>
                  <a:srgbClr val="1B2A4A"/>
                </a:solidFill>
                <a:latin typeface="Meiryo UI"/>
                <a:ea typeface="Meiryo UI"/>
              </a:rPr>
              <a:t>CO₂ 固定化クラスタ</a:t>
            </a:r>
            <a:r>
              <a:rPr b="0" sz="1200" lang="ja-JP" altLang="en-US">
                <a:solidFill>
                  <a:srgbClr val="333333"/>
                </a:solidFill>
                <a:latin typeface="Meiryo UI"/>
                <a:ea typeface="Meiryo UI"/>
              </a:rPr>
              <a:t>が99件中39件を直近5年に集中。Saturn V・Explorer・CORE の3手法が一致して中心テーマと検出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6130" y="1444752"/>
            <a:ext cx="2640330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7570" y="1490472"/>
            <a:ext cx="245745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ctr"/>
            <a:r>
              <a:rPr sz="1300" b="1" lang="ja-JP" altLang="en-US">
                <a:solidFill>
                  <a:srgbClr val="FFFFFF"/>
                </a:solidFill>
                <a:latin typeface="Meiryo UI"/>
                <a:ea typeface="Meiryo UI"/>
              </a:rPr>
              <a:t>成長の担い手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26130" y="1856232"/>
            <a:ext cx="2640330" cy="408736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5858" y="1947672"/>
            <a:ext cx="2420874" cy="390448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40000"/>
              </a:lnSpc>
            </a:pPr>
            <a:r>
              <a:rPr b="1" sz="1200" lang="ja-JP" altLang="en-US">
                <a:solidFill>
                  <a:srgbClr val="1B2A4A"/>
                </a:solidFill>
                <a:latin typeface="Meiryo UI"/>
                <a:ea typeface="Meiryo UI"/>
              </a:rPr>
              <a:t>住友大阪セメント</a:t>
            </a:r>
            <a:r>
              <a:rPr b="0" sz="1200" lang="ja-JP" altLang="en-US">
                <a:solidFill>
                  <a:srgbClr val="333333"/>
                </a:solidFill>
                <a:latin typeface="Meiryo UI"/>
                <a:ea typeface="Meiryo UI"/>
              </a:rPr>
              <a:t>(+13.7%)と</a:t>
            </a:r>
            <a:r>
              <a:rPr b="1" sz="1200" lang="ja-JP" altLang="en-US">
                <a:solidFill>
                  <a:srgbClr val="1B2A4A"/>
                </a:solidFill>
                <a:latin typeface="Meiryo UI"/>
                <a:ea typeface="Meiryo UI"/>
              </a:rPr>
              <a:t>神島化学</a:t>
            </a:r>
            <a:r>
              <a:rPr b="0" sz="1200" lang="ja-JP" altLang="en-US">
                <a:solidFill>
                  <a:srgbClr val="333333"/>
                </a:solidFill>
                <a:latin typeface="Meiryo UI"/>
                <a:ea typeface="Meiryo UI"/>
              </a:rPr>
              <a:t>(12/13件が直近)。セメント・建設・大学の産学連携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1444752"/>
            <a:ext cx="2640330" cy="411480"/>
          </a:xfrm>
          <a:prstGeom prst="round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6500" y="1490472"/>
            <a:ext cx="245745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ctr"/>
            <a:r>
              <a:rPr sz="1300" b="1" lang="ja-JP" altLang="en-US">
                <a:solidFill>
                  <a:srgbClr val="FFFFFF"/>
                </a:solidFill>
                <a:latin typeface="Meiryo UI"/>
                <a:ea typeface="Meiryo UI"/>
              </a:rPr>
              <a:t>衰退する軸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5060" y="1856232"/>
            <a:ext cx="2640330" cy="408736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4788" y="1947672"/>
            <a:ext cx="2420874" cy="390448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40000"/>
              </a:lnSpc>
            </a:pPr>
            <a:r>
              <a:rPr b="1" sz="1200" lang="ja-JP" altLang="en-US">
                <a:solidFill>
                  <a:srgbClr val="1B2A4A"/>
                </a:solidFill>
                <a:latin typeface="Meiryo UI"/>
                <a:ea typeface="Meiryo UI"/>
              </a:rPr>
              <a:t>丸尾117件・オムヤ126件・日本製紙69件</a:t>
            </a:r>
            <a:r>
              <a:rPr b="0" sz="1200" lang="ja-JP" altLang="en-US">
                <a:solidFill>
                  <a:srgbClr val="333333"/>
                </a:solidFill>
                <a:latin typeface="Meiryo UI"/>
                <a:ea typeface="Meiryo UI"/>
              </a:rPr>
              <a:t>は成熟/衰退象限。製紙特化日本製紙の直近出願は</a:t>
            </a:r>
            <a:r>
              <a:rPr b="1" sz="1200" lang="ja-JP" altLang="en-US">
                <a:solidFill>
                  <a:srgbClr val="1B2A4A"/>
                </a:solidFill>
                <a:latin typeface="Meiryo UI"/>
                <a:ea typeface="Meiryo UI"/>
              </a:rPr>
              <a:t>ゼロ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3990" y="1444752"/>
            <a:ext cx="264033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5430" y="1490472"/>
            <a:ext cx="245745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ctr"/>
            <a:r>
              <a:rPr sz="1300" b="1" lang="ja-JP" altLang="en-US">
                <a:solidFill>
                  <a:srgbClr val="FFFFFF"/>
                </a:solidFill>
                <a:latin typeface="Meiryo UI"/>
                <a:ea typeface="Meiryo UI"/>
              </a:rPr>
              <a:t>政策連動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63990" y="1856232"/>
            <a:ext cx="2640330" cy="408736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3718" y="1947672"/>
            <a:ext cx="2420874" cy="390448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40000"/>
              </a:lnSpc>
            </a:pPr>
            <a:r>
              <a:rPr b="0" sz="1200" lang="ja-JP" altLang="en-US">
                <a:solidFill>
                  <a:srgbClr val="333333"/>
                </a:solidFill>
                <a:latin typeface="Meiryo UI"/>
                <a:ea typeface="Meiryo UI"/>
              </a:rPr>
              <a:t>2022-2023年の出願再上昇は</a:t>
            </a:r>
            <a:r>
              <a:rPr b="1" sz="1200" lang="ja-JP" altLang="en-US">
                <a:solidFill>
                  <a:srgbClr val="1B2A4A"/>
                </a:solidFill>
                <a:latin typeface="Meiryo UI"/>
                <a:ea typeface="Meiryo UI"/>
              </a:rPr>
              <a:t>カーボンニュートラル政策</a:t>
            </a:r>
            <a:r>
              <a:rPr b="0" sz="1200" lang="ja-JP" altLang="en-US">
                <a:solidFill>
                  <a:srgbClr val="333333"/>
                </a:solidFill>
                <a:latin typeface="Meiryo UI"/>
                <a:ea typeface="Meiryo UI"/>
              </a:rPr>
              <a:t>(2020年宣言)と時系列整合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/>
            <a:r>
              <a:rPr sz="9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（出所）統合分析（クロスモジュール P1/P8/P11）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327648"/>
            <a:ext cx="12188952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6355080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APOLLO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r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|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b="1" sz="2200" lang="ja-JP" altLang="en-US">
                <a:solidFill>
                  <a:srgbClr val="1B2A4A"/>
                </a:solidFill>
                <a:latin typeface="Meiryo UI"/>
                <a:ea typeface="Meiryo UI"/>
              </a:rPr>
              <a:t>本母集団は二重ライフサイクルの転換期 ～伝統用途縮小 × CO₂固定化勃興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1832"/>
            <a:ext cx="1124712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41832"/>
            <a:ext cx="36576" cy="5029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14984"/>
            <a:ext cx="10972800" cy="3566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sz="16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600" lang="ja-JP" altLang="en-US">
                <a:solidFill>
                  <a:srgbClr val="333333"/>
                </a:solidFill>
                <a:latin typeface="Meiryo UI"/>
                <a:ea typeface="Meiryo UI"/>
              </a:rPr>
              <a:t>成熟技術領域における </a:t>
            </a:r>
            <a:r>
              <a:rPr b="1" sz="1600" lang="ja-JP" altLang="en-US">
                <a:solidFill>
                  <a:srgbClr val="1B2A4A"/>
                </a:solidFill>
                <a:latin typeface="Meiryo UI"/>
                <a:ea typeface="Meiryo UI"/>
              </a:rPr>
              <a:t>第二の成長曲線</a:t>
            </a:r>
            <a:r>
              <a:rPr sz="1600" lang="ja-JP" altLang="en-US">
                <a:solidFill>
                  <a:srgbClr val="333333"/>
                </a:solidFill>
                <a:latin typeface="Meiryo UI"/>
                <a:ea typeface="Meiryo UI"/>
              </a:rPr>
              <a:t> が立ち上がる構造転換期にある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36192"/>
            <a:ext cx="66111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本母集団の出願トレンド全景（1911-2026）</a:t>
            </a:r>
          </a:p>
        </p:txBody>
      </p:sp>
      <p:pic>
        <p:nvPicPr>
          <p:cNvPr id="8" name="Picture 7" descr="voyager_ev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03380"/>
            <a:ext cx="6611112" cy="3718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52359" y="1609344"/>
            <a:ext cx="4142232" cy="40782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伝統用途（填料・顔料・製紙）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は 2004 年ピーク(53件)から縮小局面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2018-2021年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に年27-30件へ低下、長期成熟化が進行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2022-2023年に再上昇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(28→45件)、CO₂ 固定化が牽引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直近2年(2025-26)は未完年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のため絶対値は保守的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二重ライフサイクル：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衰退する伝統用途 × 勃興するCO₂固定化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/>
            <a:r>
              <a:rPr sz="9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（出所）ATLAS 基本統計分析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27648"/>
            <a:ext cx="12188952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6355080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APOLLO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r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|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572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0" b="1" lang="ja-JP" altLang="en-US">
                <a:solidFill>
                  <a:srgbClr val="2A3A5A"/>
                </a:solidFill>
                <a:latin typeface="Meiryo UI"/>
                <a:ea typeface="Meiryo UI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36576" cy="18288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sz="3200" b="1" lang="ja-JP" altLang="en-US">
                <a:solidFill>
                  <a:srgbClr val="FFFFFF"/>
                </a:solidFill>
                <a:latin typeface="Meiryo UI"/>
                <a:ea typeface="Meiryo UI"/>
              </a:rPr>
              <a:t>技術環境・ライフサイクル分析（NEBULA）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3891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600" b="0" lang="ja-JP" altLang="en-US">
                <a:solidFill>
                  <a:srgbClr val="CCDDEE"/>
                </a:solidFill>
                <a:latin typeface="Meiryo UI"/>
                <a:ea typeface="Meiryo UI"/>
              </a:rPr>
              <a:t>本母集団の長期動向と外部政策の影響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b="1" sz="2200" lang="ja-JP" altLang="en-US">
                <a:solidFill>
                  <a:srgbClr val="1B2A4A"/>
                </a:solidFill>
                <a:latin typeface="Meiryo UI"/>
                <a:ea typeface="Meiryo UI"/>
              </a:rPr>
              <a:t>技術ライフサイクルは第二の成長曲線へ ～2022-23年に出願1.8倍へ再上昇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1832"/>
            <a:ext cx="1124712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41832"/>
            <a:ext cx="36576" cy="5029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14984"/>
            <a:ext cx="10972800" cy="3566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sz="16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600" lang="ja-JP" altLang="en-US">
                <a:solidFill>
                  <a:srgbClr val="333333"/>
                </a:solidFill>
                <a:latin typeface="Meiryo UI"/>
                <a:ea typeface="Meiryo UI"/>
              </a:rPr>
              <a:t>1946 年以来 80 年の技術領域が、CO₂ 固定化という新軸で再活性化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36192"/>
            <a:ext cx="66111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特許出願トレンドの長期推移</a:t>
            </a:r>
          </a:p>
        </p:txBody>
      </p:sp>
      <p:pic>
        <p:nvPicPr>
          <p:cNvPr id="8" name="Picture 7" descr="nebula_h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03380"/>
            <a:ext cx="6611112" cy="3718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52359" y="1609344"/>
            <a:ext cx="4142232" cy="40782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第1期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(1946-70年代前半): 萌芽期、年1-13件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第2期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(70-90年代前半): 拡大期、1991年ピーク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44件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第3期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(90後半-10年代前半): 成熟期、2004年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53件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で高原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第4期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(現在): 転換期、2023年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45件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に再上昇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再上昇は 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CO₂ 固定化クラスタ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の急増(2019:6件→2023:18件)が牽引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/>
            <a:r>
              <a:rPr sz="9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（出所）NEBULA 技術ライフサイクル分析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27648"/>
            <a:ext cx="12188952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6355080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APOLLO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r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|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b="1" sz="2400" lang="ja-JP" altLang="en-US">
                <a:solidFill>
                  <a:srgbClr val="1B2A4A"/>
                </a:solidFill>
                <a:latin typeface="Meiryo UI"/>
                <a:ea typeface="Meiryo UI"/>
              </a:rPr>
              <a:t>カーボンニュートラル政策が成長軸を駆動 ～時系列整合は明確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47120" cy="127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50392"/>
            <a:ext cx="1124712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50392"/>
            <a:ext cx="36576" cy="5029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23544"/>
            <a:ext cx="10972800" cy="3566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sz="16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600" lang="ja-JP" altLang="en-US">
                <a:solidFill>
                  <a:srgbClr val="333333"/>
                </a:solidFill>
                <a:latin typeface="Meiryo UI"/>
                <a:ea typeface="Meiryo UI"/>
              </a:rPr>
              <a:t>外部政策イベントと本母集団の変曲点が高い整合性を示す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90672"/>
            <a:ext cx="10515600" cy="1905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7512" y="2935224"/>
            <a:ext cx="365760" cy="36576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9631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ctr"/>
            <a:r>
              <a:rPr sz="11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1991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91439" y="354787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 algn="ctr"/>
            <a:r>
              <a:rPr sz="1000" b="0" lang="ja-JP" altLang="en-US">
                <a:solidFill>
                  <a:srgbClr val="333333"/>
                </a:solidFill>
                <a:latin typeface="Meiryo UI"/>
                <a:ea typeface="Meiryo UI"/>
              </a:rPr>
              <a:t>第2期ピーク
年44件達成</a:t>
            </a:r>
          </a:p>
        </p:txBody>
      </p:sp>
      <p:sp>
        <p:nvSpPr>
          <p:cNvPr id="11" name="Oval 10"/>
          <p:cNvSpPr/>
          <p:nvPr/>
        </p:nvSpPr>
        <p:spPr>
          <a:xfrm>
            <a:off x="2770632" y="2935224"/>
            <a:ext cx="365760" cy="365760"/>
          </a:xfrm>
          <a:prstGeom prst="ellipse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249631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ctr"/>
            <a:r>
              <a:rPr sz="11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2004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79" y="171907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 algn="ctr"/>
            <a:r>
              <a:rPr sz="1000" b="0" lang="ja-JP" altLang="en-US">
                <a:solidFill>
                  <a:srgbClr val="333333"/>
                </a:solidFill>
                <a:latin typeface="Meiryo UI"/>
                <a:ea typeface="Meiryo UI"/>
              </a:rPr>
              <a:t>第3期最高水準
年53件</a:t>
            </a:r>
          </a:p>
        </p:txBody>
      </p:sp>
      <p:sp>
        <p:nvSpPr>
          <p:cNvPr id="14" name="Oval 13"/>
          <p:cNvSpPr/>
          <p:nvPr/>
        </p:nvSpPr>
        <p:spPr>
          <a:xfrm>
            <a:off x="4873752" y="2935224"/>
            <a:ext cx="365760" cy="36576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49631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ctr"/>
            <a:r>
              <a:rPr sz="11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2018-21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54787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 algn="ctr"/>
            <a:r>
              <a:rPr sz="1000" b="0" lang="ja-JP" altLang="en-US">
                <a:solidFill>
                  <a:srgbClr val="333333"/>
                </a:solidFill>
                <a:latin typeface="Meiryo UI"/>
                <a:ea typeface="Meiryo UI"/>
              </a:rPr>
              <a:t>出願低下
年27-30件</a:t>
            </a:r>
          </a:p>
        </p:txBody>
      </p:sp>
      <p:sp>
        <p:nvSpPr>
          <p:cNvPr id="17" name="Oval 16"/>
          <p:cNvSpPr/>
          <p:nvPr/>
        </p:nvSpPr>
        <p:spPr>
          <a:xfrm>
            <a:off x="6976872" y="2935224"/>
            <a:ext cx="365760" cy="36576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59" y="249631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ctr"/>
            <a:r>
              <a:rPr sz="11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2020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71907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 algn="ctr"/>
            <a:r>
              <a:rPr sz="1000" b="0" lang="ja-JP" altLang="en-US">
                <a:solidFill>
                  <a:srgbClr val="333333"/>
                </a:solidFill>
                <a:latin typeface="Meiryo UI"/>
                <a:ea typeface="Meiryo UI"/>
              </a:rPr>
              <a:t>CN宣言
政策ドライバー</a:t>
            </a:r>
          </a:p>
        </p:txBody>
      </p:sp>
      <p:sp>
        <p:nvSpPr>
          <p:cNvPr id="20" name="Oval 19"/>
          <p:cNvSpPr/>
          <p:nvPr/>
        </p:nvSpPr>
        <p:spPr>
          <a:xfrm>
            <a:off x="9079992" y="2935224"/>
            <a:ext cx="365760" cy="36576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49631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ctr"/>
            <a:r>
              <a:rPr sz="11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2021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54787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 algn="ctr"/>
            <a:r>
              <a:rPr sz="1000" b="0" lang="ja-JP" altLang="en-US">
                <a:solidFill>
                  <a:srgbClr val="333333"/>
                </a:solidFill>
                <a:latin typeface="Meiryo UI"/>
                <a:ea typeface="Meiryo UI"/>
              </a:rPr>
              <a:t>グリーン成長戦略
カーボンリサイクル重点化</a:t>
            </a:r>
          </a:p>
        </p:txBody>
      </p:sp>
      <p:sp>
        <p:nvSpPr>
          <p:cNvPr id="23" name="Oval 22"/>
          <p:cNvSpPr/>
          <p:nvPr/>
        </p:nvSpPr>
        <p:spPr>
          <a:xfrm>
            <a:off x="11183112" y="2935224"/>
            <a:ext cx="365760" cy="365760"/>
          </a:xfrm>
          <a:prstGeom prst="ellipse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0" y="249631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ctr"/>
            <a:r>
              <a:rPr sz="11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2023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171907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 algn="ctr"/>
            <a:r>
              <a:rPr sz="1000" b="0" lang="ja-JP" altLang="en-US">
                <a:solidFill>
                  <a:srgbClr val="333333"/>
                </a:solidFill>
                <a:latin typeface="Meiryo UI"/>
                <a:ea typeface="Meiryo UI"/>
              </a:rPr>
              <a:t>出願再上昇
45件・CO₂固定化主導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/>
            <a:r>
              <a:rPr sz="9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（出所）NEBULA × ATLAS クロス分析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327648"/>
            <a:ext cx="12188952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6355080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APOLLO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r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|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572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0" b="1" lang="ja-JP" altLang="en-US">
                <a:solidFill>
                  <a:srgbClr val="2A3A5A"/>
                </a:solidFill>
                <a:latin typeface="Meiryo UI"/>
                <a:ea typeface="Meiryo UI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36576" cy="18288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sz="3200" b="1" lang="ja-JP" altLang="en-US">
                <a:solidFill>
                  <a:srgbClr val="FFFFFF"/>
                </a:solidFill>
                <a:latin typeface="Meiryo UI"/>
                <a:ea typeface="Meiryo UI"/>
              </a:rPr>
              <a:t>基本統計・競争構造分析（ATLAS）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3891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600" b="0" lang="ja-JP" altLang="en-US">
                <a:solidFill>
                  <a:srgbClr val="CCDDEE"/>
                </a:solidFill>
                <a:latin typeface="Meiryo UI"/>
                <a:ea typeface="Meiryo UI"/>
              </a:rPr>
              <a:t>多様性指標と出願人ランキングで二層構造を可視化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b="1" sz="2200" lang="ja-JP" altLang="en-US">
                <a:solidFill>
                  <a:srgbClr val="1B2A4A"/>
                </a:solidFill>
                <a:latin typeface="Meiryo UI"/>
                <a:ea typeface="Meiryo UI"/>
              </a:rPr>
              <a:t>全期間CAGR +1.0%の平均値は実像を隠す ～衰退と急成長が相殺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1832"/>
            <a:ext cx="11247120" cy="822959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41832"/>
            <a:ext cx="36576" cy="822959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14984"/>
            <a:ext cx="10972800" cy="6766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sz="16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600" lang="ja-JP" altLang="en-US">
                <a:solidFill>
                  <a:srgbClr val="333333"/>
                </a:solidFill>
                <a:latin typeface="Meiryo UI"/>
                <a:ea typeface="Meiryo UI"/>
              </a:rPr>
              <a:t>本母集団の +1.0% は </a:t>
            </a:r>
            <a:r>
              <a:rPr b="1" sz="1600" lang="ja-JP" altLang="en-US">
                <a:solidFill>
                  <a:srgbClr val="1B2A4A"/>
                </a:solidFill>
                <a:latin typeface="Meiryo UI"/>
                <a:ea typeface="Meiryo UI"/>
              </a:rPr>
              <a:t>衰退する伝統用途</a:t>
            </a:r>
            <a:r>
              <a:rPr sz="1600" lang="ja-JP" altLang="en-US">
                <a:solidFill>
                  <a:srgbClr val="333333"/>
                </a:solidFill>
                <a:latin typeface="Meiryo UI"/>
                <a:ea typeface="Meiryo UI"/>
              </a:rPr>
              <a:t> と </a:t>
            </a:r>
            <a:r>
              <a:rPr b="1" sz="1600" lang="ja-JP" altLang="en-US">
                <a:solidFill>
                  <a:srgbClr val="1B2A4A"/>
                </a:solidFill>
                <a:latin typeface="Meiryo UI"/>
                <a:ea typeface="Meiryo UI"/>
              </a:rPr>
              <a:t>急成長する CO₂ 固定化</a:t>
            </a:r>
            <a:r>
              <a:rPr sz="1600" lang="ja-JP" altLang="en-US">
                <a:solidFill>
                  <a:srgbClr val="333333"/>
                </a:solidFill>
                <a:latin typeface="Meiryo UI"/>
                <a:ea typeface="Meiryo UI"/>
              </a:rPr>
              <a:t> の相殺結果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56231"/>
            <a:ext cx="66111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出願件数の長期推移（棒グラフ）</a:t>
            </a:r>
          </a:p>
        </p:txBody>
      </p:sp>
      <p:pic>
        <p:nvPicPr>
          <p:cNvPr id="8" name="Picture 7" descr="voyager_ev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59" y="2176272"/>
            <a:ext cx="6209792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52359" y="1929384"/>
            <a:ext cx="4142232" cy="3758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全期間 CAGR 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+1.0%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（1911-2026 年、増加傾向）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填料・顔料クラスタ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(成熟・衰退、計732件)は緩やか縮小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CO₂固定化クラスタ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(99件中39件直近)は直近集中率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39%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平均値ではなく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クラスタ単位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の成長率の分散に着目が必要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注目領域特定には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動態的視点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が不可欠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/>
            <a:r>
              <a:rPr sz="9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（出所）ATLAS 時系列分析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27648"/>
            <a:ext cx="12188952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6355080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APOLLO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r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|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b="1" sz="2400" lang="ja-JP" altLang="en-US">
                <a:solidFill>
                  <a:srgbClr val="1B2A4A"/>
                </a:solidFill>
                <a:latin typeface="Meiryo UI"/>
                <a:ea typeface="Meiryo UI"/>
              </a:rPr>
              <a:t>多様性指標が示す二層構造 ～競争的だが上位に伝統大手が蓄積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47120" cy="127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50392"/>
            <a:ext cx="11247120" cy="822959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50392"/>
            <a:ext cx="36576" cy="822959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23544"/>
            <a:ext cx="10972800" cy="6766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sz="16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b="1" sz="1600" lang="ja-JP" altLang="en-US">
                <a:solidFill>
                  <a:srgbClr val="1B2A4A"/>
                </a:solidFill>
                <a:latin typeface="Meiryo UI"/>
                <a:ea typeface="Meiryo UI"/>
              </a:rPr>
              <a:t>HHI 0.063 (競争的)</a:t>
            </a:r>
            <a:r>
              <a:rPr sz="1600" lang="ja-JP" altLang="en-US">
                <a:solidFill>
                  <a:srgbClr val="333333"/>
                </a:solidFill>
                <a:latin typeface="Meiryo UI"/>
                <a:ea typeface="Meiryo UI"/>
              </a:rPr>
              <a:t> × </a:t>
            </a:r>
            <a:r>
              <a:rPr b="1" sz="1600" lang="ja-JP" altLang="en-US">
                <a:solidFill>
                  <a:srgbClr val="1B2A4A"/>
                </a:solidFill>
                <a:latin typeface="Meiryo UI"/>
                <a:ea typeface="Meiryo UI"/>
              </a:rPr>
              <a:t>Gini 0.43 (上位の偏り)</a:t>
            </a:r>
            <a:r>
              <a:rPr sz="1600" lang="ja-JP" altLang="en-US">
                <a:solidFill>
                  <a:srgbClr val="333333"/>
                </a:solidFill>
                <a:latin typeface="Meiryo UI"/>
                <a:ea typeface="Meiryo UI"/>
              </a:rPr>
              <a:t> の組み合わせが構造転換を映す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64792"/>
            <a:ext cx="2743200" cy="4503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333333"/>
                </a:solidFill>
                <a:latin typeface="Meiryo UI"/>
                <a:ea typeface="Meiryo UI"/>
              </a:rPr>
              <a:t>HHI（集中度）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215134"/>
            <a:ext cx="8229600" cy="4572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0" y="2215134"/>
            <a:ext cx="1728216" cy="4572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0055" y="2215134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2E8B57"/>
                </a:solidFill>
                <a:latin typeface="Meiryo UI"/>
                <a:ea typeface="Meiryo UI"/>
              </a:rPr>
              <a:t>6.3% 競争的・分散(&lt;10)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63774"/>
            <a:ext cx="2743200" cy="4503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333333"/>
                </a:solidFill>
                <a:latin typeface="Meiryo UI"/>
                <a:ea typeface="Meiryo UI"/>
              </a:rPr>
              <a:t>Entropy（多様性）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3214116"/>
            <a:ext cx="8229600" cy="4572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0" y="3214116"/>
            <a:ext cx="7291425" cy="457200"/>
          </a:xfrm>
          <a:prstGeom prst="round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83265" y="3214116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3B7DD8"/>
                </a:solidFill>
                <a:latin typeface="Meiryo UI"/>
                <a:ea typeface="Meiryo UI"/>
              </a:rPr>
              <a:t>4.43 高多様性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62756"/>
            <a:ext cx="2743200" cy="4503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333333"/>
                </a:solidFill>
                <a:latin typeface="Meiryo UI"/>
                <a:ea typeface="Meiryo UI"/>
              </a:rPr>
              <a:t>Gini（不平等度）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4213098"/>
            <a:ext cx="8229600" cy="4572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00400" y="4213098"/>
            <a:ext cx="3538728" cy="457200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0568" y="421309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D4A017"/>
                </a:solidFill>
                <a:latin typeface="Meiryo UI"/>
                <a:ea typeface="Meiryo UI"/>
              </a:rPr>
              <a:t>43% 中程度の不平等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61738"/>
            <a:ext cx="2743200" cy="4503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333333"/>
                </a:solidFill>
                <a:latin typeface="Meiryo UI"/>
                <a:ea typeface="Meiryo UI"/>
              </a:rPr>
              <a:t>上位5社シェア合計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5212079"/>
            <a:ext cx="8229600" cy="4572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00400" y="5212079"/>
            <a:ext cx="1851660" cy="457200"/>
          </a:xfrm>
          <a:prstGeom prst="round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43500" y="5212079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2E5090"/>
                </a:solidFill>
                <a:latin typeface="Meiryo UI"/>
                <a:ea typeface="Meiryo UI"/>
              </a:rPr>
              <a:t>22.5% 寡占的でない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/>
            <a:r>
              <a:rPr sz="9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（出所）ATLAS 多様性指標（HHI / Entropy / Gini）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327648"/>
            <a:ext cx="12188952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6355080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APOLLO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r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| 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b="1" sz="2200" lang="ja-JP" altLang="en-US">
                <a:solidFill>
                  <a:srgbClr val="1B2A4A"/>
                </a:solidFill>
                <a:latin typeface="Meiryo UI"/>
                <a:ea typeface="Meiryo UI"/>
              </a:rPr>
              <a:t>件数上位は伝統大手、成長上位は新興プレイヤー ～「上位＝成熟、中位＝成長」の逆転構造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1832"/>
            <a:ext cx="1124712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41832"/>
            <a:ext cx="36576" cy="5029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14984"/>
            <a:ext cx="10972800" cy="3566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sz="16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600" lang="ja-JP" altLang="en-US">
                <a:solidFill>
                  <a:srgbClr val="333333"/>
                </a:solidFill>
                <a:latin typeface="Meiryo UI"/>
                <a:ea typeface="Meiryo UI"/>
              </a:rPr>
              <a:t>件数ランキングと MEGA 動態象限の </a:t>
            </a:r>
            <a:r>
              <a:rPr b="1" sz="1600" lang="ja-JP" altLang="en-US">
                <a:solidFill>
                  <a:srgbClr val="1B2A4A"/>
                </a:solidFill>
                <a:latin typeface="Meiryo UI"/>
                <a:ea typeface="Meiryo UI"/>
              </a:rPr>
              <a:t>乖離</a:t>
            </a:r>
            <a:r>
              <a:rPr sz="1600" lang="ja-JP" altLang="en-US">
                <a:solidFill>
                  <a:srgbClr val="333333"/>
                </a:solidFill>
                <a:latin typeface="Meiryo UI"/>
                <a:ea typeface="Meiryo UI"/>
              </a:rPr>
              <a:t> こそが本母集団の最大の特徴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36192"/>
          <a:ext cx="1124712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200400"/>
                <a:gridCol w="914400"/>
                <a:gridCol w="6492240"/>
              </a:tblGrid>
              <a:tr h="431596">
                <a:tc>
                  <a:txBody>
                    <a:bodyPr/>
                    <a:lstStyle/>
                    <a:p>
                      <a:pPr eaLnBrk="1" hangingPunct="1"/>
                      <a:r>
                        <a:rPr sz="1300" b="1" lang="ja-JP" altLang="en-US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順位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300" b="1" lang="ja-JP" altLang="en-US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出願人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300" b="1" lang="ja-JP" altLang="en-US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件数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300" b="1" lang="ja-JP" altLang="en-US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MEGA 象限 / 性格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31596"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丸尾カルシウム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成熟・既存（填料・顔料専業）</a:t>
                      </a:r>
                    </a:p>
                  </a:txBody>
                  <a:tcPr/>
                </a:tc>
              </a:tr>
              <a:tr h="431596"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オムヤ・インターナショナル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126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衰退・ニッチ（海外填料大手）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1596"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日本製紙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衰退・ニッチ（製紙用途・直近ゼロ）</a:t>
                      </a:r>
                    </a:p>
                  </a:txBody>
                  <a:tcPr/>
                </a:tc>
              </a:tr>
              <a:tr h="431596"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白石工業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61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成熟・既存（粒子制御専業）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1596"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奥多摩工業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衰退・ニッチ（石灰原料）</a:t>
                      </a:r>
                    </a:p>
                  </a:txBody>
                  <a:tcPr/>
                </a:tc>
              </a:tr>
              <a:tr h="431596"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白石中央研究所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43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リーダー（粒子制御研究拠点）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431596"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9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宇部マテリアルズ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27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リーダー（軽質炭酸）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431596"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10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住友大阪セメント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24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★ リーダー（CO₂固定化、+13.7%）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431604"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—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神島化学工業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13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★ リーダー（新興・直近12件集中）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589520" y="1536192"/>
            <a:ext cx="4114800" cy="4315968"/>
          </a:xfrm>
          <a:prstGeom prst="rect">
            <a:avLst/>
          </a:prstGeom>
          <a:solidFill>
            <a:srgbClr val="E8F0F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99248" y="1609344"/>
            <a:ext cx="3895344" cy="416966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3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300" lang="ja-JP" altLang="en-US">
                <a:solidFill>
                  <a:srgbClr val="333333"/>
                </a:solidFill>
                <a:latin typeface="Meiryo UI"/>
                <a:ea typeface="Meiryo UI"/>
              </a:rPr>
              <a:t>件数 </a:t>
            </a:r>
            <a:r>
              <a:rPr b="1" sz="1300" lang="ja-JP" altLang="en-US">
                <a:solidFill>
                  <a:srgbClr val="1B2A4A"/>
                </a:solidFill>
                <a:latin typeface="Meiryo UI"/>
                <a:ea typeface="Meiryo UI"/>
              </a:rPr>
              <a:t>1-5位</a:t>
            </a:r>
            <a:r>
              <a:rPr sz="1300" lang="ja-JP" altLang="en-US">
                <a:solidFill>
                  <a:srgbClr val="333333"/>
                </a:solidFill>
                <a:latin typeface="Meiryo UI"/>
                <a:ea typeface="Meiryo UI"/>
              </a:rPr>
              <a:t> は伝統的填料・顔料・原料メーカー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3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300" lang="ja-JP" altLang="en-US">
                <a:solidFill>
                  <a:srgbClr val="333333"/>
                </a:solidFill>
                <a:latin typeface="Meiryo UI"/>
                <a:ea typeface="Meiryo UI"/>
              </a:rPr>
              <a:t>件数 </a:t>
            </a:r>
            <a:r>
              <a:rPr b="1" sz="1300" lang="ja-JP" altLang="en-US">
                <a:solidFill>
                  <a:srgbClr val="1B2A4A"/>
                </a:solidFill>
                <a:latin typeface="Meiryo UI"/>
                <a:ea typeface="Meiryo UI"/>
              </a:rPr>
              <a:t>6,9,10位</a:t>
            </a:r>
            <a:r>
              <a:rPr sz="1300" lang="ja-JP" altLang="en-US">
                <a:solidFill>
                  <a:srgbClr val="333333"/>
                </a:solidFill>
                <a:latin typeface="Meiryo UI"/>
                <a:ea typeface="Meiryo UI"/>
              </a:rPr>
              <a:t> がリーダー象限（成長を担う）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3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b="1" sz="1300" lang="ja-JP" altLang="en-US">
                <a:solidFill>
                  <a:srgbClr val="1B2A4A"/>
                </a:solidFill>
                <a:latin typeface="Meiryo UI"/>
                <a:ea typeface="Meiryo UI"/>
              </a:rPr>
              <a:t>住友大阪セメント</a:t>
            </a:r>
            <a:r>
              <a:rPr sz="1300" lang="ja-JP" altLang="en-US">
                <a:solidFill>
                  <a:srgbClr val="333333"/>
                </a:solidFill>
                <a:latin typeface="Meiryo UI"/>
                <a:ea typeface="Meiryo UI"/>
              </a:rPr>
              <a:t>(10位)が最高成長率 </a:t>
            </a:r>
            <a:r>
              <a:rPr b="1" sz="1300" lang="ja-JP" altLang="en-US">
                <a:solidFill>
                  <a:srgbClr val="1B2A4A"/>
                </a:solidFill>
                <a:latin typeface="Meiryo UI"/>
                <a:ea typeface="Meiryo UI"/>
              </a:rPr>
              <a:t>+13.7%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3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b="1" sz="1300" lang="ja-JP" altLang="en-US">
                <a:solidFill>
                  <a:srgbClr val="1B2A4A"/>
                </a:solidFill>
                <a:latin typeface="Meiryo UI"/>
                <a:ea typeface="Meiryo UI"/>
              </a:rPr>
              <a:t>神島化学</a:t>
            </a:r>
            <a:r>
              <a:rPr sz="1300" lang="ja-JP" altLang="en-US">
                <a:solidFill>
                  <a:srgbClr val="333333"/>
                </a:solidFill>
                <a:latin typeface="Meiryo UI"/>
                <a:ea typeface="Meiryo UI"/>
              </a:rPr>
              <a:t>はランキング外から急浮上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/>
            <a:r>
              <a:rPr sz="9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（出所）ATLAS 基本統計 + MEGA PULSE 象限分類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27648"/>
            <a:ext cx="12188952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6355080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APOLLO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r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| 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572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0" b="1" lang="ja-JP" altLang="en-US">
                <a:solidFill>
                  <a:srgbClr val="2A3A5A"/>
                </a:solidFill>
                <a:latin typeface="Meiryo UI"/>
                <a:ea typeface="Meiryo UI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36576" cy="18288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sz="3200" b="1" lang="ja-JP" altLang="en-US">
                <a:solidFill>
                  <a:srgbClr val="FFFFFF"/>
                </a:solidFill>
                <a:latin typeface="Meiryo UI"/>
                <a:ea typeface="Meiryo UI"/>
              </a:rPr>
              <a:t>技術ランドスケープ分析（Saturn V）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3891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600" b="0" lang="ja-JP" altLang="en-US">
                <a:solidFill>
                  <a:srgbClr val="CCDDEE"/>
                </a:solidFill>
                <a:latin typeface="Meiryo UI"/>
                <a:ea typeface="Meiryo UI"/>
              </a:rPr>
              <a:t>35クラスタを5超領域に集約、CO₂固定化が成長エンジン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b="1" sz="2200" lang="ja-JP" altLang="en-US">
                <a:solidFill>
                  <a:srgbClr val="1B2A4A"/>
                </a:solidFill>
                <a:latin typeface="Meiryo UI"/>
                <a:ea typeface="Meiryo UI"/>
              </a:rPr>
              <a:t>35クラスタを5超領域に集約 ～最大はCO₂固定化×粒子制御の連鎖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1832"/>
            <a:ext cx="11247120" cy="822959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41832"/>
            <a:ext cx="36576" cy="822959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14984"/>
            <a:ext cx="10972800" cy="6766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sz="16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600" lang="ja-JP" altLang="en-US">
                <a:solidFill>
                  <a:srgbClr val="333333"/>
                </a:solidFill>
                <a:latin typeface="Meiryo UI"/>
                <a:ea typeface="Meiryo UI"/>
              </a:rPr>
              <a:t>Saturn V TELESCOPE 分析（SBERT + UMAP + HDBSCAN）で技術空間の骨格を可視化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56231"/>
            <a:ext cx="66111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技術ランドスケープ全体（UMAP 2D 投影）</a:t>
            </a:r>
          </a:p>
        </p:txBody>
      </p:sp>
      <p:pic>
        <p:nvPicPr>
          <p:cNvPr id="8" name="Picture 7" descr="saturn_main_sn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093" y="2176272"/>
            <a:ext cx="4885325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52359" y="1929384"/>
            <a:ext cx="4142232" cy="3758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メガクラスタ2つ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: クラスタ30 基本製造(257件) / クラスタ9 CO₂固定化(99件)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ノイズ率 11.5%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 は標準・安定構造、新興は既存クラスタ内部に集中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5 超領域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: A CO₂固定化 / B 粒子制御 / C 填料樹脂 / D 資源循環 / E 食品医療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蓄積型(クラスタ30) vs 加速型(クラスタ9) の 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二極構造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意味ベクトル分析が CO₂ 固定化を中心テーマと検出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/>
            <a:r>
              <a:rPr sz="9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（出所）Saturn V TELESCOPE 分析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27648"/>
            <a:ext cx="12188952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6355080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APOLLO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r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| 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b="1" sz="2400" lang="ja-JP" altLang="en-US">
                <a:solidFill>
                  <a:srgbClr val="1B2A4A"/>
                </a:solidFill>
                <a:latin typeface="Meiryo UI"/>
                <a:ea typeface="Meiryo UI"/>
              </a:rPr>
              <a:t>5つの技術超領域 ～CO₂固定化と資源循環が成長軸の核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47120" cy="127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50392"/>
            <a:ext cx="1124712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50392"/>
            <a:ext cx="36576" cy="5029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23544"/>
            <a:ext cx="10972800" cy="3566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sz="16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600" lang="ja-JP" altLang="en-US">
                <a:solidFill>
                  <a:srgbClr val="333333"/>
                </a:solidFill>
                <a:latin typeface="Meiryo UI"/>
                <a:ea typeface="Meiryo UI"/>
              </a:rPr>
              <a:t>UMAP 空間の近接関係から、35 クラスタを 5 つの超領域に集約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44752"/>
            <a:ext cx="2066544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883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ctr"/>
            <a:r>
              <a:rPr sz="1300" b="1" lang="ja-JP" altLang="en-US">
                <a:solidFill>
                  <a:srgbClr val="FFFFFF"/>
                </a:solidFill>
                <a:latin typeface="Meiryo UI"/>
                <a:ea typeface="Meiryo UI"/>
              </a:rPr>
              <a:t>🅰 CO₂固定化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56232"/>
            <a:ext cx="2066544" cy="408736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947672"/>
            <a:ext cx="1847088" cy="390448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40000"/>
              </a:lnSpc>
            </a:pPr>
            <a:r>
              <a:rPr b="1" sz="1200" lang="ja-JP" altLang="en-US">
                <a:solidFill>
                  <a:srgbClr val="1B2A4A"/>
                </a:solidFill>
                <a:latin typeface="Meiryo UI"/>
                <a:ea typeface="Meiryo UI"/>
              </a:rPr>
              <a:t>約180件・成長軸</a:t>
            </a:r>
            <a:r>
              <a:rPr b="0" sz="1200" lang="ja-JP" altLang="en-US">
                <a:solidFill>
                  <a:srgbClr val="333333"/>
                </a:solidFill>
                <a:latin typeface="Meiryo UI"/>
                <a:ea typeface="Meiryo UI"/>
              </a:rPr>
              <a:t>
クラスタ9・6・13・31・33・26。住友大阪セメント・神島化学・建設業・大学の異業種参入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52344" y="1444752"/>
            <a:ext cx="2066544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43784" y="1490472"/>
            <a:ext cx="1883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ctr"/>
            <a:r>
              <a:rPr sz="1300" b="1" lang="ja-JP" altLang="en-US">
                <a:solidFill>
                  <a:srgbClr val="FFFFFF"/>
                </a:solidFill>
                <a:latin typeface="Meiryo UI"/>
                <a:ea typeface="Meiryo UI"/>
              </a:rPr>
              <a:t>🅱 粒子制御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52344" y="1856232"/>
            <a:ext cx="2066544" cy="408736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62072" y="1947672"/>
            <a:ext cx="1847088" cy="390448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40000"/>
              </a:lnSpc>
            </a:pPr>
            <a:r>
              <a:rPr b="1" sz="1200" lang="ja-JP" altLang="en-US">
                <a:solidFill>
                  <a:srgbClr val="1B2A4A"/>
                </a:solidFill>
                <a:latin typeface="Meiryo UI"/>
                <a:ea typeface="Meiryo UI"/>
              </a:rPr>
              <a:t>約700件・最大規模</a:t>
            </a:r>
            <a:r>
              <a:rPr b="0" sz="1200" lang="ja-JP" altLang="en-US">
                <a:solidFill>
                  <a:srgbClr val="333333"/>
                </a:solidFill>
                <a:latin typeface="Meiryo UI"/>
                <a:ea typeface="Meiryo UI"/>
              </a:rPr>
              <a:t>
クラスタ30・15・16・22・23。白石工業・宇部マテリアルズの専業メーカー主導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7488" y="1444752"/>
            <a:ext cx="2066544" cy="411480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8928" y="1490472"/>
            <a:ext cx="1883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ctr"/>
            <a:r>
              <a:rPr sz="1300" b="1" lang="ja-JP" altLang="en-US">
                <a:solidFill>
                  <a:srgbClr val="FFFFFF"/>
                </a:solidFill>
                <a:latin typeface="Meiryo UI"/>
                <a:ea typeface="Meiryo UI"/>
              </a:rPr>
              <a:t>🅲 填料・樹脂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47488" y="1856232"/>
            <a:ext cx="2066544" cy="408736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57216" y="1947672"/>
            <a:ext cx="1847088" cy="390448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40000"/>
              </a:lnSpc>
            </a:pPr>
            <a:r>
              <a:rPr b="1" sz="1200" lang="ja-JP" altLang="en-US">
                <a:solidFill>
                  <a:srgbClr val="1B2A4A"/>
                </a:solidFill>
                <a:latin typeface="Meiryo UI"/>
                <a:ea typeface="Meiryo UI"/>
              </a:rPr>
              <a:t>約240件・成熟/衰退</a:t>
            </a:r>
            <a:r>
              <a:rPr b="0" sz="1200" lang="ja-JP" altLang="en-US">
                <a:solidFill>
                  <a:srgbClr val="333333"/>
                </a:solidFill>
                <a:latin typeface="Meiryo UI"/>
                <a:ea typeface="Meiryo UI"/>
              </a:rPr>
              <a:t>
クラスタ25・19・20・12・7。丸尾・オムヤ・日本製紙の伝統用途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42632" y="1444752"/>
            <a:ext cx="2066544" cy="411480"/>
          </a:xfrm>
          <a:prstGeom prst="round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4072" y="1490472"/>
            <a:ext cx="1883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ctr"/>
            <a:r>
              <a:rPr sz="1300" b="1" lang="ja-JP" altLang="en-US">
                <a:solidFill>
                  <a:srgbClr val="FFFFFF"/>
                </a:solidFill>
                <a:latin typeface="Meiryo UI"/>
                <a:ea typeface="Meiryo UI"/>
              </a:rPr>
              <a:t>🅳 資源循環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42632" y="1856232"/>
            <a:ext cx="2066544" cy="408736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1947672"/>
            <a:ext cx="1847088" cy="390448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40000"/>
              </a:lnSpc>
            </a:pPr>
            <a:r>
              <a:rPr b="1" sz="1200" lang="ja-JP" altLang="en-US">
                <a:solidFill>
                  <a:srgbClr val="1B2A4A"/>
                </a:solidFill>
                <a:latin typeface="Meiryo UI"/>
                <a:ea typeface="Meiryo UI"/>
              </a:rPr>
              <a:t>約300件・新興連結</a:t>
            </a:r>
            <a:r>
              <a:rPr b="0" sz="1200" lang="ja-JP" altLang="en-US">
                <a:solidFill>
                  <a:srgbClr val="333333"/>
                </a:solidFill>
                <a:latin typeface="Meiryo UI"/>
                <a:ea typeface="Meiryo UI"/>
              </a:rPr>
              <a:t>
クラスタ28・34・29・11・14・26。スラグ・貝殻・廃液からのカルシウム回収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37776" y="1444752"/>
            <a:ext cx="2066544" cy="411480"/>
          </a:xfrm>
          <a:prstGeom prst="round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9216" y="1490472"/>
            <a:ext cx="1883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ctr"/>
            <a:r>
              <a:rPr sz="1300" b="1" lang="ja-JP" altLang="en-US">
                <a:solidFill>
                  <a:srgbClr val="FFFFFF"/>
                </a:solidFill>
                <a:latin typeface="Meiryo UI"/>
                <a:ea typeface="Meiryo UI"/>
              </a:rPr>
              <a:t>🅴 機能性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37776" y="1856232"/>
            <a:ext cx="2066544" cy="408736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47504" y="1947672"/>
            <a:ext cx="1847088" cy="390448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40000"/>
              </a:lnSpc>
            </a:pPr>
            <a:r>
              <a:rPr b="1" sz="1200" lang="ja-JP" altLang="en-US">
                <a:solidFill>
                  <a:srgbClr val="1B2A4A"/>
                </a:solidFill>
                <a:latin typeface="Meiryo UI"/>
                <a:ea typeface="Meiryo UI"/>
              </a:rPr>
              <a:t>約100件・ニッチ</a:t>
            </a:r>
            <a:r>
              <a:rPr b="0" sz="1200" lang="ja-JP" altLang="en-US">
                <a:solidFill>
                  <a:srgbClr val="333333"/>
                </a:solidFill>
                <a:latin typeface="Meiryo UI"/>
                <a:ea typeface="Meiryo UI"/>
              </a:rPr>
              <a:t>
クラスタ3・24・32・13。食品・医療・化粧品。出光・富山大・産学連携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/>
            <a:r>
              <a:rPr sz="9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（出所）Saturn V 空間配置分析 + 超領域命名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27648"/>
            <a:ext cx="12188952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6355080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APOLLO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r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| 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b="1" sz="2200" lang="ja-JP" altLang="en-US">
                <a:solidFill>
                  <a:srgbClr val="1B2A4A"/>
                </a:solidFill>
                <a:latin typeface="Meiryo UI"/>
                <a:ea typeface="Meiryo UI"/>
              </a:rPr>
              <a:t>クラスタ動態 4象限 ～成長リーダー象限が779件で本母集団の主軸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1832"/>
            <a:ext cx="1124712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41832"/>
            <a:ext cx="36576" cy="5029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14984"/>
            <a:ext cx="10972800" cy="3566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sz="16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b="1" sz="1600" lang="ja-JP" altLang="en-US">
                <a:solidFill>
                  <a:srgbClr val="1B2A4A"/>
                </a:solidFill>
                <a:latin typeface="Meiryo UI"/>
                <a:ea typeface="Meiryo UI"/>
              </a:rPr>
              <a:t>成長リーダー9クラスタ・779件</a:t>
            </a:r>
            <a:r>
              <a:rPr sz="1600" lang="ja-JP" altLang="en-US">
                <a:solidFill>
                  <a:srgbClr val="333333"/>
                </a:solidFill>
                <a:latin typeface="Meiryo UI"/>
                <a:ea typeface="Meiryo UI"/>
              </a:rPr>
              <a:t> が本母集団の成長を牽引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719072"/>
            <a:ext cx="2926080" cy="202082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10512"/>
            <a:ext cx="2697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300" b="1" lang="ja-JP" altLang="en-US">
                <a:solidFill>
                  <a:srgbClr val="3B7DD8"/>
                </a:solidFill>
                <a:latin typeface="Meiryo UI"/>
                <a:ea typeface="Meiryo UI"/>
              </a:rPr>
              <a:t>新興（9クラスタ・223件）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76272"/>
            <a:ext cx="2606040" cy="1426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sz="1000" b="0" lang="ja-JP" altLang="en-US">
                <a:solidFill>
                  <a:srgbClr val="333333"/>
                </a:solidFill>
                <a:latin typeface="Meiryo UI"/>
                <a:ea typeface="Meiryo UI"/>
              </a:rPr>
              <a:t>・[15] 多面体炭酸 33件</a:t>
            </a:r>
          </a:p>
          <a:p>
            <a:pPr eaLnBrk="1" hangingPunct="1"/>
            <a:r>
              <a:rPr sz="1000" b="0" lang="ja-JP" altLang="en-US">
                <a:solidFill>
                  <a:srgbClr val="333333"/>
                </a:solidFill>
                <a:latin typeface="Meiryo UI"/>
                <a:ea typeface="Meiryo UI"/>
              </a:rPr>
              <a:t>・[6] 脱硫 19件</a:t>
            </a:r>
          </a:p>
          <a:p>
            <a:pPr eaLnBrk="1" hangingPunct="1"/>
            <a:r>
              <a:rPr sz="1000" b="0" lang="ja-JP" altLang="en-US">
                <a:solidFill>
                  <a:srgbClr val="333333"/>
                </a:solidFill>
                <a:latin typeface="Meiryo UI"/>
                <a:ea typeface="Meiryo UI"/>
              </a:rPr>
              <a:t>・[26] 石灰泥 26件</a:t>
            </a:r>
          </a:p>
          <a:p>
            <a:pPr eaLnBrk="1" hangingPunct="1"/>
            <a:r>
              <a:rPr sz="1000" b="0" lang="ja-JP" altLang="en-US">
                <a:solidFill>
                  <a:srgbClr val="333333"/>
                </a:solidFill>
                <a:latin typeface="Meiryo UI"/>
                <a:ea typeface="Meiryo UI"/>
              </a:rPr>
              <a:t>・[10] 炭酸塩 26件</a:t>
            </a:r>
          </a:p>
          <a:p>
            <a:pPr eaLnBrk="1" hangingPunct="1"/>
            <a:r>
              <a:rPr sz="1000" b="0" lang="ja-JP" altLang="en-US">
                <a:solidFill>
                  <a:srgbClr val="333333"/>
                </a:solidFill>
                <a:latin typeface="Meiryo UI"/>
                <a:ea typeface="Meiryo UI"/>
              </a:rPr>
              <a:t>・小規模×相対高成長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6200" y="1719072"/>
            <a:ext cx="2926080" cy="202082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1810512"/>
            <a:ext cx="2697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300" b="1" lang="ja-JP" altLang="en-US">
                <a:solidFill>
                  <a:srgbClr val="2E8B57"/>
                </a:solidFill>
                <a:latin typeface="Meiryo UI"/>
                <a:ea typeface="Meiryo UI"/>
              </a:rPr>
              <a:t>成長リーダー（9クラスタ・779件）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176272"/>
            <a:ext cx="2606040" cy="1426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sz="1000" b="0" lang="ja-JP" altLang="en-US">
                <a:solidFill>
                  <a:srgbClr val="333333"/>
                </a:solidFill>
                <a:latin typeface="Meiryo UI"/>
                <a:ea typeface="Meiryo UI"/>
              </a:rPr>
              <a:t>・[9] CO₂固定化 99件 ★</a:t>
            </a:r>
          </a:p>
          <a:p>
            <a:pPr eaLnBrk="1" hangingPunct="1"/>
            <a:r>
              <a:rPr sz="1000" b="0" lang="ja-JP" altLang="en-US">
                <a:solidFill>
                  <a:srgbClr val="333333"/>
                </a:solidFill>
                <a:latin typeface="Meiryo UI"/>
                <a:ea typeface="Meiryo UI"/>
              </a:rPr>
              <a:t>・[30] 基本製造 257件</a:t>
            </a:r>
          </a:p>
          <a:p>
            <a:pPr eaLnBrk="1" hangingPunct="1"/>
            <a:r>
              <a:rPr sz="1000" b="0" lang="ja-JP" altLang="en-US">
                <a:solidFill>
                  <a:srgbClr val="333333"/>
                </a:solidFill>
                <a:latin typeface="Meiryo UI"/>
                <a:ea typeface="Meiryo UI"/>
              </a:rPr>
              <a:t>・[28] 石灰石 57件</a:t>
            </a:r>
          </a:p>
          <a:p>
            <a:pPr eaLnBrk="1" hangingPunct="1"/>
            <a:r>
              <a:rPr sz="1000" b="0" lang="ja-JP" altLang="en-US">
                <a:solidFill>
                  <a:srgbClr val="333333"/>
                </a:solidFill>
                <a:latin typeface="Meiryo UI"/>
                <a:ea typeface="Meiryo UI"/>
              </a:rPr>
              <a:t>・[34] 貝殻 58件</a:t>
            </a:r>
          </a:p>
          <a:p>
            <a:pPr eaLnBrk="1" hangingPunct="1"/>
            <a:r>
              <a:rPr sz="1000" b="0" lang="ja-JP" altLang="en-US">
                <a:solidFill>
                  <a:srgbClr val="333333"/>
                </a:solidFill>
                <a:latin typeface="Meiryo UI"/>
                <a:ea typeface="Meiryo UI"/>
              </a:rPr>
              <a:t>・大規模×相対高成長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785615"/>
            <a:ext cx="2926080" cy="202082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877055"/>
            <a:ext cx="2697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300" b="1" lang="ja-JP" altLang="en-US">
                <a:solidFill>
                  <a:srgbClr val="666666"/>
                </a:solidFill>
                <a:latin typeface="Meiryo UI"/>
                <a:ea typeface="Meiryo UI"/>
              </a:rPr>
              <a:t>ニッチ/衰退（8クラスタ・212件）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242816"/>
            <a:ext cx="2606040" cy="1426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sz="1000" b="0" lang="ja-JP" altLang="en-US">
                <a:solidFill>
                  <a:srgbClr val="333333"/>
                </a:solidFill>
                <a:latin typeface="Meiryo UI"/>
                <a:ea typeface="Meiryo UI"/>
              </a:rPr>
              <a:t>・[7] 製紙用 34件</a:t>
            </a:r>
          </a:p>
          <a:p>
            <a:pPr eaLnBrk="1" hangingPunct="1"/>
            <a:r>
              <a:rPr sz="1000" b="0" lang="ja-JP" altLang="en-US">
                <a:solidFill>
                  <a:srgbClr val="333333"/>
                </a:solidFill>
                <a:latin typeface="Meiryo UI"/>
                <a:ea typeface="Meiryo UI"/>
              </a:rPr>
              <a:t>・[8] 高級炭酸 34件</a:t>
            </a:r>
          </a:p>
          <a:p>
            <a:pPr eaLnBrk="1" hangingPunct="1"/>
            <a:r>
              <a:rPr sz="1000" b="0" lang="ja-JP" altLang="en-US">
                <a:solidFill>
                  <a:srgbClr val="333333"/>
                </a:solidFill>
                <a:latin typeface="Meiryo UI"/>
                <a:ea typeface="Meiryo UI"/>
              </a:rPr>
              <a:t>・[17] 軽質炭酸 27件</a:t>
            </a:r>
          </a:p>
          <a:p>
            <a:pPr eaLnBrk="1" hangingPunct="1"/>
            <a:r>
              <a:rPr sz="1000" b="0" lang="ja-JP" altLang="en-US">
                <a:solidFill>
                  <a:srgbClr val="333333"/>
                </a:solidFill>
                <a:latin typeface="Meiryo UI"/>
                <a:ea typeface="Meiryo UI"/>
              </a:rPr>
              <a:t>・[14] パルプ廃液 15件</a:t>
            </a:r>
          </a:p>
          <a:p>
            <a:pPr eaLnBrk="1" hangingPunct="1"/>
            <a:r>
              <a:rPr sz="1000" b="0" lang="ja-JP" altLang="en-US">
                <a:solidFill>
                  <a:srgbClr val="333333"/>
                </a:solidFill>
                <a:latin typeface="Meiryo UI"/>
                <a:ea typeface="Meiryo UI"/>
              </a:rPr>
              <a:t>・縮小・撤退領域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86200" y="3785615"/>
            <a:ext cx="2926080" cy="202082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7639" y="3877055"/>
            <a:ext cx="2697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300" b="1" lang="ja-JP" altLang="en-US">
                <a:solidFill>
                  <a:srgbClr val="D4A017"/>
                </a:solidFill>
                <a:latin typeface="Meiryo UI"/>
                <a:ea typeface="Meiryo UI"/>
              </a:rPr>
              <a:t>成熟（9クラスタ・520件）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242816"/>
            <a:ext cx="2606040" cy="1426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sz="1000" b="0" lang="ja-JP" altLang="en-US">
                <a:solidFill>
                  <a:srgbClr val="333333"/>
                </a:solidFill>
                <a:latin typeface="Meiryo UI"/>
                <a:ea typeface="Meiryo UI"/>
              </a:rPr>
              <a:t>・[12] 軽質炭酸 52件</a:t>
            </a:r>
          </a:p>
          <a:p>
            <a:pPr eaLnBrk="1" hangingPunct="1"/>
            <a:r>
              <a:rPr sz="1000" b="0" lang="ja-JP" altLang="en-US">
                <a:solidFill>
                  <a:srgbClr val="333333"/>
                </a:solidFill>
                <a:latin typeface="Meiryo UI"/>
                <a:ea typeface="Meiryo UI"/>
              </a:rPr>
              <a:t>・[19] ゴム 35件</a:t>
            </a:r>
          </a:p>
          <a:p>
            <a:pPr eaLnBrk="1" hangingPunct="1"/>
            <a:r>
              <a:rPr sz="1000" b="0" lang="ja-JP" altLang="en-US">
                <a:solidFill>
                  <a:srgbClr val="333333"/>
                </a:solidFill>
                <a:latin typeface="Meiryo UI"/>
                <a:ea typeface="Meiryo UI"/>
              </a:rPr>
              <a:t>・[27] 水性製造 45件</a:t>
            </a:r>
          </a:p>
          <a:p>
            <a:pPr eaLnBrk="1" hangingPunct="1"/>
            <a:r>
              <a:rPr sz="1000" b="0" lang="ja-JP" altLang="en-US">
                <a:solidFill>
                  <a:srgbClr val="333333"/>
                </a:solidFill>
                <a:latin typeface="Meiryo UI"/>
                <a:ea typeface="Meiryo UI"/>
              </a:rPr>
              <a:t>・[22] 紡錘状 36件</a:t>
            </a:r>
          </a:p>
          <a:p>
            <a:pPr eaLnBrk="1" hangingPunct="1"/>
            <a:r>
              <a:rPr sz="1000" b="0" lang="ja-JP" altLang="en-US">
                <a:solidFill>
                  <a:srgbClr val="333333"/>
                </a:solidFill>
                <a:latin typeface="Meiryo UI"/>
                <a:ea typeface="Meiryo UI"/>
              </a:rPr>
              <a:t>・差別化困難領域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5897879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0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→ 累積件数（規模）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79" y="3648456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0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↑ 直近成長率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1719072"/>
            <a:ext cx="4416552" cy="4133087"/>
          </a:xfrm>
          <a:prstGeom prst="rect">
            <a:avLst/>
          </a:prstGeom>
          <a:solidFill>
            <a:srgbClr val="E8F0F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24927" y="1792224"/>
            <a:ext cx="4197096" cy="398678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2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b="1" sz="1200" lang="ja-JP" altLang="en-US">
                <a:solidFill>
                  <a:srgbClr val="1B2A4A"/>
                </a:solidFill>
                <a:latin typeface="Meiryo UI"/>
                <a:ea typeface="Meiryo UI"/>
              </a:rPr>
              <a:t>成長リーダー（右上）</a:t>
            </a:r>
            <a:r>
              <a:rPr sz="1200" lang="ja-JP" altLang="en-US">
                <a:solidFill>
                  <a:srgbClr val="333333"/>
                </a:solidFill>
                <a:latin typeface="Meiryo UI"/>
                <a:ea typeface="Meiryo UI"/>
              </a:rPr>
              <a:t>: 大規模×高成長。CO₂ 固定化クラスタが筆頭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2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b="1" sz="1200" lang="ja-JP" altLang="en-US">
                <a:solidFill>
                  <a:srgbClr val="1B2A4A"/>
                </a:solidFill>
                <a:latin typeface="Meiryo UI"/>
                <a:ea typeface="Meiryo UI"/>
              </a:rPr>
              <a:t>新興（左上）</a:t>
            </a:r>
            <a:r>
              <a:rPr sz="1200" lang="ja-JP" altLang="en-US">
                <a:solidFill>
                  <a:srgbClr val="333333"/>
                </a:solidFill>
                <a:latin typeface="Meiryo UI"/>
                <a:ea typeface="Meiryo UI"/>
              </a:rPr>
              <a:t>: 小規模×高成長。多面体炭酸・脱硫・石灰泥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2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b="1" sz="1200" lang="ja-JP" altLang="en-US">
                <a:solidFill>
                  <a:srgbClr val="1B2A4A"/>
                </a:solidFill>
                <a:latin typeface="Meiryo UI"/>
                <a:ea typeface="Meiryo UI"/>
              </a:rPr>
              <a:t>成熟（右下）</a:t>
            </a:r>
            <a:r>
              <a:rPr sz="1200" lang="ja-JP" altLang="en-US">
                <a:solidFill>
                  <a:srgbClr val="333333"/>
                </a:solidFill>
                <a:latin typeface="Meiryo UI"/>
                <a:ea typeface="Meiryo UI"/>
              </a:rPr>
              <a:t>: 大規模×低成長。軽質炭酸・ゴム・水性製造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2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b="1" sz="1200" lang="ja-JP" altLang="en-US">
                <a:solidFill>
                  <a:srgbClr val="1B2A4A"/>
                </a:solidFill>
                <a:latin typeface="Meiryo UI"/>
                <a:ea typeface="Meiryo UI"/>
              </a:rPr>
              <a:t>衰退（左下）</a:t>
            </a:r>
            <a:r>
              <a:rPr sz="1200" lang="ja-JP" altLang="en-US">
                <a:solidFill>
                  <a:srgbClr val="333333"/>
                </a:solidFill>
                <a:latin typeface="Meiryo UI"/>
                <a:ea typeface="Meiryo UI"/>
              </a:rPr>
              <a:t>: 縮小。製紙用・高級炭酸・パルプ廃液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2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b="1" sz="1200" lang="ja-JP" altLang="en-US">
                <a:solidFill>
                  <a:srgbClr val="1B2A4A"/>
                </a:solidFill>
                <a:latin typeface="Meiryo UI"/>
                <a:ea typeface="Meiryo UI"/>
              </a:rPr>
              <a:t>全 35 クラスタ</a:t>
            </a:r>
            <a:r>
              <a:rPr sz="1200" lang="ja-JP" altLang="en-US">
                <a:solidFill>
                  <a:srgbClr val="333333"/>
                </a:solidFill>
                <a:latin typeface="Meiryo UI"/>
                <a:ea typeface="Meiryo UI"/>
              </a:rPr>
              <a:t>を 4 象限分類、注目領域は明確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/>
            <a:r>
              <a:rPr sz="9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（出所）Saturn V クラスタ動態マップ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327648"/>
            <a:ext cx="12188952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6355080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APOLLO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r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| 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b="1" sz="2200" lang="ja-JP" altLang="en-US">
                <a:solidFill>
                  <a:srgbClr val="1B2A4A"/>
                </a:solidFill>
                <a:latin typeface="Meiryo UI"/>
                <a:ea typeface="Meiryo UI"/>
              </a:rPr>
              <a:t>注目領域(CO₂固定化)の代表特許 ～セメント・建設・大学の連携が顕著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1832"/>
            <a:ext cx="1124712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41832"/>
            <a:ext cx="36576" cy="5029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14984"/>
            <a:ext cx="10972800" cy="3566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sz="16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b="1" sz="1600" lang="ja-JP" altLang="en-US">
                <a:solidFill>
                  <a:srgbClr val="1B2A4A"/>
                </a:solidFill>
                <a:latin typeface="Meiryo UI"/>
                <a:ea typeface="Meiryo UI"/>
              </a:rPr>
              <a:t>クラスタ9（CO₂固定化、99件中39件直近）</a:t>
            </a:r>
            <a:r>
              <a:rPr sz="1600" lang="ja-JP" altLang="en-US">
                <a:solidFill>
                  <a:srgbClr val="333333"/>
                </a:solidFill>
                <a:latin typeface="Meiryo UI"/>
                <a:ea typeface="Meiryo UI"/>
              </a:rPr>
              <a:t> から抽出した代表特許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36192"/>
          <a:ext cx="1124712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120640"/>
                <a:gridCol w="2926080"/>
                <a:gridCol w="1554480"/>
              </a:tblGrid>
              <a:tr h="431596">
                <a:tc>
                  <a:txBody>
                    <a:bodyPr/>
                    <a:lstStyle/>
                    <a:p>
                      <a:pPr eaLnBrk="1" hangingPunct="1"/>
                      <a:r>
                        <a:rPr sz="1300" b="1" lang="ja-JP" altLang="en-US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公開番号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300" b="1" lang="ja-JP" altLang="en-US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発明の名称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300" b="1" lang="ja-JP" altLang="en-US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出願人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300" b="1" lang="ja-JP" altLang="en-US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出願年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31596"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特開2025-152354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二酸化炭素の固定化方法及び固定化装置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住友大阪セメント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2024</a:t>
                      </a:r>
                    </a:p>
                  </a:txBody>
                  <a:tcPr/>
                </a:tc>
              </a:tr>
              <a:tr h="431596"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特開2026-013631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硝酸塩の製造方法、燃焼排ガス処理、CO₂製造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住友大阪セメント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2024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1596"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特開2026-059136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二酸化炭素の回収方法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神島化学工業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2024</a:t>
                      </a:r>
                    </a:p>
                  </a:txBody>
                  <a:tcPr/>
                </a:tc>
              </a:tr>
              <a:tr h="431596"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特開2026-083244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二酸化炭素の回収方法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神島化学工業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1596"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特開2026-001556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CO₂固定化方法及び装置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山口大学・前田道路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2024</a:t>
                      </a:r>
                    </a:p>
                  </a:txBody>
                  <a:tcPr/>
                </a:tc>
              </a:tr>
              <a:tr h="431596"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特開2025-114357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CO₂固定化方法・装置・粉末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ヤマハ・京都大学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2024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1596"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特開2024-174665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炭酸ガス固定化×コンクリート製造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北川鉄工所・鹿島建設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2023</a:t>
                      </a:r>
                    </a:p>
                  </a:txBody>
                  <a:tcPr/>
                </a:tc>
              </a:tr>
              <a:tr h="431596"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特開2025-104398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炭酸カルシウム製造×CO₂固定化×土木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鴻池組・白石工業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1604"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特表2025-533803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鉄鋼スラグ総合利用方法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ユアンチュウ・テクノロジー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2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2023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/>
            <a:r>
              <a:rPr sz="9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（出所）特許データセット条件検索（クラスタ9絞込）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27648"/>
            <a:ext cx="12188952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6355080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APOLLO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r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| 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b="1" sz="2200" lang="ja-JP" altLang="en-US">
                <a:solidFill>
                  <a:srgbClr val="1B2A4A"/>
                </a:solidFill>
                <a:latin typeface="Meiryo UI"/>
                <a:ea typeface="Meiryo UI"/>
              </a:rPr>
              <a:t>ノイズ225件は「過去集中」型 ～新興は既存クラスタ内部の質的転換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1832"/>
            <a:ext cx="11247120" cy="822959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41832"/>
            <a:ext cx="36576" cy="822959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14984"/>
            <a:ext cx="10972800" cy="6766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sz="16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b="1" sz="1600" lang="ja-JP" altLang="en-US">
                <a:solidFill>
                  <a:srgbClr val="1B2A4A"/>
                </a:solidFill>
                <a:latin typeface="Meiryo UI"/>
                <a:ea typeface="Meiryo UI"/>
              </a:rPr>
              <a:t>ノイズ率 11.5% は標準・安定構造</a:t>
            </a:r>
            <a:r>
              <a:rPr sz="1600" lang="ja-JP" altLang="en-US">
                <a:solidFill>
                  <a:srgbClr val="333333"/>
                </a:solidFill>
                <a:latin typeface="Meiryo UI"/>
                <a:ea typeface="Meiryo UI"/>
              </a:rPr>
              <a:t>。萌芽テーマはノイズではなく既存クラスタの再活性化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56231"/>
            <a:ext cx="66111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クラスタ詳細マップ（ドリルダウン）</a:t>
            </a:r>
          </a:p>
        </p:txBody>
      </p:sp>
      <p:pic>
        <p:nvPicPr>
          <p:cNvPr id="8" name="Picture 7" descr="saturn_drill_sn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349" y="2176272"/>
            <a:ext cx="5588812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52359" y="1929384"/>
            <a:ext cx="4142232" cy="3758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ノイズ 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225件 (11.5%)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、解釈区分「標準・安定」(5-15%)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時系列パターン「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過去集中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」: 1990s-2010sに分散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ノイズ上位: 丸尾18件・オムヤ14件 = 伝統大手の歴史的個別出願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萌芽キーワード: 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バテライト型炭酸カルシウム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(8件)、無機質成形体(8件)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新興は既存クラスタ9内部での質的転換に集中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/>
            <a:r>
              <a:rPr sz="9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（出所）Saturn V ノイズ分析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27648"/>
            <a:ext cx="12188952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6355080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APOLLO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r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| 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572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0" b="1" lang="ja-JP" altLang="en-US">
                <a:solidFill>
                  <a:srgbClr val="2A3A5A"/>
                </a:solidFill>
                <a:latin typeface="Meiryo UI"/>
                <a:ea typeface="Meiryo UI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36576" cy="18288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sz="3200" b="1" lang="ja-JP" altLang="en-US">
                <a:solidFill>
                  <a:srgbClr val="FFFFFF"/>
                </a:solidFill>
                <a:latin typeface="Meiryo UI"/>
                <a:ea typeface="Meiryo UI"/>
              </a:rPr>
              <a:t>出願人動態分析（MEGA PULSE）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3891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600" b="0" lang="ja-JP" altLang="en-US">
                <a:solidFill>
                  <a:srgbClr val="CCDDEE"/>
                </a:solidFill>
                <a:latin typeface="Meiryo UI"/>
                <a:ea typeface="Meiryo UI"/>
              </a:rPr>
              <a:t>CAGR×活動量で出願人を4象限分類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b="1" sz="2200" lang="ja-JP" altLang="en-US">
                <a:solidFill>
                  <a:srgbClr val="1B2A4A"/>
                </a:solidFill>
                <a:latin typeface="Meiryo UI"/>
                <a:ea typeface="Meiryo UI"/>
              </a:rPr>
              <a:t>リーダー象限の5社 ～CO₂固定化×粒子制御の両輪が成長を牽引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1832"/>
            <a:ext cx="11247120" cy="822959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41832"/>
            <a:ext cx="36576" cy="822959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14984"/>
            <a:ext cx="10972800" cy="6766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sz="16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600" lang="ja-JP" altLang="en-US">
                <a:solidFill>
                  <a:srgbClr val="333333"/>
                </a:solidFill>
                <a:latin typeface="Meiryo UI"/>
                <a:ea typeface="Meiryo UI"/>
              </a:rPr>
              <a:t>上位30出願人中、</a:t>
            </a:r>
            <a:r>
              <a:rPr b="1" sz="1600" lang="ja-JP" altLang="en-US">
                <a:solidFill>
                  <a:srgbClr val="1B2A4A"/>
                </a:solidFill>
                <a:latin typeface="Meiryo UI"/>
                <a:ea typeface="Meiryo UI"/>
              </a:rPr>
              <a:t>リーダー象限はわずか5社</a:t>
            </a:r>
            <a:r>
              <a:rPr sz="1600" lang="ja-JP" altLang="en-US">
                <a:solidFill>
                  <a:srgbClr val="333333"/>
                </a:solidFill>
                <a:latin typeface="Meiryo UI"/>
                <a:ea typeface="Meiryo UI"/>
              </a:rPr>
              <a:t>。これらが本母集団の成長を一手に担う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56231"/>
            <a:ext cx="2640330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01951"/>
            <a:ext cx="245745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ctr"/>
            <a:r>
              <a:rPr sz="1300" b="1" lang="ja-JP" altLang="en-US">
                <a:solidFill>
                  <a:srgbClr val="FFFFFF"/>
                </a:solidFill>
                <a:latin typeface="Meiryo UI"/>
                <a:ea typeface="Meiryo UI"/>
              </a:rPr>
              <a:t>住友大阪セメント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67712"/>
            <a:ext cx="2640330" cy="367588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359152"/>
            <a:ext cx="2420874" cy="34930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40000"/>
              </a:lnSpc>
            </a:pPr>
            <a:r>
              <a:rPr b="1" sz="1200" lang="ja-JP" altLang="en-US">
                <a:solidFill>
                  <a:srgbClr val="1B2A4A"/>
                </a:solidFill>
                <a:latin typeface="Meiryo UI"/>
                <a:ea typeface="Meiryo UI"/>
              </a:rPr>
              <a:t>24件・+13.7% 最高成長</a:t>
            </a:r>
            <a:r>
              <a:rPr b="0" sz="1200" lang="ja-JP" altLang="en-US">
                <a:solidFill>
                  <a:srgbClr val="333333"/>
                </a:solidFill>
                <a:latin typeface="Meiryo UI"/>
                <a:ea typeface="Meiryo UI"/>
              </a:rPr>
              <a:t>
2024年に5件加速。CO₂固定化が主戦場、燃焼排ガス処理から炭酸塩化まで一体戦略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6130" y="1856231"/>
            <a:ext cx="2640330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7570" y="1901951"/>
            <a:ext cx="245745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ctr"/>
            <a:r>
              <a:rPr sz="1300" b="1" lang="ja-JP" altLang="en-US">
                <a:solidFill>
                  <a:srgbClr val="FFFFFF"/>
                </a:solidFill>
                <a:latin typeface="Meiryo UI"/>
                <a:ea typeface="Meiryo UI"/>
              </a:rPr>
              <a:t>神島化学工業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26130" y="2267712"/>
            <a:ext cx="2640330" cy="367588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5858" y="2359152"/>
            <a:ext cx="2420874" cy="34930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40000"/>
              </a:lnSpc>
            </a:pPr>
            <a:r>
              <a:rPr b="1" sz="1200" lang="ja-JP" altLang="en-US">
                <a:solidFill>
                  <a:srgbClr val="1B2A4A"/>
                </a:solidFill>
                <a:latin typeface="Meiryo UI"/>
                <a:ea typeface="Meiryo UI"/>
              </a:rPr>
              <a:t>13件中12件が直近5年</a:t>
            </a:r>
            <a:r>
              <a:rPr b="0" sz="1200" lang="ja-JP" altLang="en-US">
                <a:solidFill>
                  <a:srgbClr val="333333"/>
                </a:solidFill>
                <a:latin typeface="Meiryo UI"/>
                <a:ea typeface="Meiryo UI"/>
              </a:rPr>
              <a:t>
完全新興型。CO₂回収×無機質成形体の垂直統合で建材化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1856231"/>
            <a:ext cx="2640330" cy="411480"/>
          </a:xfrm>
          <a:prstGeom prst="round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6500" y="1901951"/>
            <a:ext cx="245745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ctr"/>
            <a:r>
              <a:rPr sz="1300" b="1" lang="ja-JP" altLang="en-US">
                <a:solidFill>
                  <a:srgbClr val="FFFFFF"/>
                </a:solidFill>
                <a:latin typeface="Meiryo UI"/>
                <a:ea typeface="Meiryo UI"/>
              </a:rPr>
              <a:t>白石中央研究所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5060" y="2267712"/>
            <a:ext cx="2640330" cy="367588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4788" y="2359152"/>
            <a:ext cx="2420874" cy="34930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40000"/>
              </a:lnSpc>
            </a:pPr>
            <a:r>
              <a:rPr b="1" sz="1200" lang="ja-JP" altLang="en-US">
                <a:solidFill>
                  <a:srgbClr val="1B2A4A"/>
                </a:solidFill>
                <a:latin typeface="Meiryo UI"/>
                <a:ea typeface="Meiryo UI"/>
              </a:rPr>
              <a:t>43件・+2.9%</a:t>
            </a:r>
            <a:r>
              <a:rPr b="0" sz="1200" lang="ja-JP" altLang="en-US">
                <a:solidFill>
                  <a:srgbClr val="333333"/>
                </a:solidFill>
                <a:latin typeface="Meiryo UI"/>
                <a:ea typeface="Meiryo UI"/>
              </a:rPr>
              <a:t>
白石工業グループ研究拠点。粒子制御を継続的に深掘り、伝統技術の高度化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3990" y="1856231"/>
            <a:ext cx="2640330" cy="411480"/>
          </a:xfrm>
          <a:prstGeom prst="round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5430" y="1901951"/>
            <a:ext cx="245745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ctr"/>
            <a:r>
              <a:rPr sz="1300" b="1" lang="ja-JP" altLang="en-US">
                <a:solidFill>
                  <a:srgbClr val="FFFFFF"/>
                </a:solidFill>
                <a:latin typeface="Meiryo UI"/>
                <a:ea typeface="Meiryo UI"/>
              </a:rPr>
              <a:t>宇部マテリアルズ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63990" y="2267712"/>
            <a:ext cx="2640330" cy="367588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3718" y="2359152"/>
            <a:ext cx="2420874" cy="34930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40000"/>
              </a:lnSpc>
            </a:pPr>
            <a:r>
              <a:rPr b="1" sz="1200" lang="ja-JP" altLang="en-US">
                <a:solidFill>
                  <a:srgbClr val="1B2A4A"/>
                </a:solidFill>
                <a:latin typeface="Meiryo UI"/>
                <a:ea typeface="Meiryo UI"/>
              </a:rPr>
              <a:t>27件・+2.2%</a:t>
            </a:r>
            <a:r>
              <a:rPr b="0" sz="1200" lang="ja-JP" altLang="en-US">
                <a:solidFill>
                  <a:srgbClr val="333333"/>
                </a:solidFill>
                <a:latin typeface="Meiryo UI"/>
                <a:ea typeface="Meiryo UI"/>
              </a:rPr>
              <a:t>
軽質炭酸カルシウム製造の専業として安定成長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/>
            <a:r>
              <a:rPr sz="9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（出所）MEGA PULSE 分析（CAGR × 活動量の4象限）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327648"/>
            <a:ext cx="12188952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6355080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APOLLO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r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| 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b="1" sz="2200" lang="ja-JP" altLang="en-US">
                <a:solidFill>
                  <a:srgbClr val="1B2A4A"/>
                </a:solidFill>
                <a:latin typeface="Meiryo UI"/>
                <a:ea typeface="Meiryo UI"/>
              </a:rPr>
              <a:t>上位伝統メーカーの直近5年集中度 ～蓄積の大きさが成長を保証しない逆説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1832"/>
            <a:ext cx="1124712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41832"/>
            <a:ext cx="36576" cy="5029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14984"/>
            <a:ext cx="10972800" cy="3566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sz="16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600" lang="ja-JP" altLang="en-US">
                <a:solidFill>
                  <a:srgbClr val="333333"/>
                </a:solidFill>
                <a:latin typeface="Meiryo UI"/>
                <a:ea typeface="Meiryo UI"/>
              </a:rPr>
              <a:t>件数上位の伝統大手ほど直近活動が縮小。</a:t>
            </a:r>
            <a:r>
              <a:rPr b="1" sz="1600" lang="ja-JP" altLang="en-US">
                <a:solidFill>
                  <a:srgbClr val="1B2A4A"/>
                </a:solidFill>
                <a:latin typeface="Meiryo UI"/>
                <a:ea typeface="Meiryo UI"/>
              </a:rPr>
              <a:t>日本製紙はゼロ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36192"/>
            <a:ext cx="2743200" cy="2606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333333"/>
                </a:solidFill>
                <a:latin typeface="Meiryo UI"/>
                <a:ea typeface="Meiryo UI"/>
              </a:rPr>
              <a:t>神島化学工業 (13件)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796796"/>
            <a:ext cx="8229600" cy="352044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0" y="1796796"/>
            <a:ext cx="7571232" cy="352044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63072" y="1796796"/>
            <a:ext cx="1828800" cy="3520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2E8B57"/>
                </a:solidFill>
                <a:latin typeface="Meiryo UI"/>
                <a:ea typeface="Meiryo UI"/>
              </a:rPr>
              <a:t>92%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2743200" cy="2606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333333"/>
                </a:solidFill>
                <a:latin typeface="Meiryo UI"/>
                <a:ea typeface="Meiryo UI"/>
              </a:rPr>
              <a:t>住友大阪セメント (19件)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500884"/>
            <a:ext cx="8229600" cy="352044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0" y="2500884"/>
            <a:ext cx="3867911" cy="352044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9751" y="2500884"/>
            <a:ext cx="1828800" cy="3520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2E8B57"/>
                </a:solidFill>
                <a:latin typeface="Meiryo UI"/>
                <a:ea typeface="Meiryo UI"/>
              </a:rPr>
              <a:t>47%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44368"/>
            <a:ext cx="2743200" cy="2606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333333"/>
                </a:solidFill>
                <a:latin typeface="Meiryo UI"/>
                <a:ea typeface="Meiryo UI"/>
              </a:rPr>
              <a:t>白石中央研究所 (33件)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3204972"/>
            <a:ext cx="8229600" cy="352044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00400" y="3204972"/>
            <a:ext cx="1234439" cy="352044"/>
          </a:xfrm>
          <a:prstGeom prst="round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79" y="3204972"/>
            <a:ext cx="1828800" cy="3520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3B7DD8"/>
                </a:solidFill>
                <a:latin typeface="Meiryo UI"/>
                <a:ea typeface="Meiryo UI"/>
              </a:rPr>
              <a:t>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48456"/>
            <a:ext cx="2743200" cy="2606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333333"/>
                </a:solidFill>
                <a:latin typeface="Meiryo UI"/>
                <a:ea typeface="Meiryo UI"/>
              </a:rPr>
              <a:t>丸尾カルシウム (117件)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3909060"/>
            <a:ext cx="8229600" cy="352044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00400" y="3909060"/>
            <a:ext cx="246888" cy="352044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38728" y="3909060"/>
            <a:ext cx="1828800" cy="3520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D4A017"/>
                </a:solidFill>
                <a:latin typeface="Meiryo UI"/>
                <a:ea typeface="Meiryo UI"/>
              </a:rPr>
              <a:t>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52544"/>
            <a:ext cx="2743200" cy="2606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333333"/>
                </a:solidFill>
                <a:latin typeface="Meiryo UI"/>
                <a:ea typeface="Meiryo UI"/>
              </a:rPr>
              <a:t>オムヤ (126件)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4613148"/>
            <a:ext cx="8229600" cy="352044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200400" y="4613148"/>
            <a:ext cx="246888" cy="352044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38728" y="4613148"/>
            <a:ext cx="1828800" cy="3520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D4A017"/>
                </a:solidFill>
                <a:latin typeface="Meiryo UI"/>
                <a:ea typeface="Meiryo UI"/>
              </a:rPr>
              <a:t>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056632"/>
            <a:ext cx="2743200" cy="2606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333333"/>
                </a:solidFill>
                <a:latin typeface="Meiryo UI"/>
                <a:ea typeface="Meiryo UI"/>
              </a:rPr>
              <a:t>日本製紙 (69件)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0" y="5317236"/>
            <a:ext cx="8229600" cy="352044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5317236"/>
            <a:ext cx="1828800" cy="3520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D64545"/>
                </a:solidFill>
                <a:latin typeface="Meiryo UI"/>
                <a:ea typeface="Meiryo UI"/>
              </a:rPr>
              <a:t>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/>
            <a:r>
              <a:rPr sz="9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（出所）特許データセットの出願人別 × 直近5年集中度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327648"/>
            <a:ext cx="12188952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6355080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APOLLO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r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| 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572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0" b="1" lang="ja-JP" altLang="en-US">
                <a:solidFill>
                  <a:srgbClr val="2A3A5A"/>
                </a:solidFill>
                <a:latin typeface="Meiryo UI"/>
                <a:ea typeface="Meiryo UI"/>
              </a:rP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36576" cy="18288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sz="3200" b="1" lang="ja-JP" altLang="en-US">
                <a:solidFill>
                  <a:srgbClr val="FFFFFF"/>
                </a:solidFill>
                <a:latin typeface="Meiryo UI"/>
                <a:ea typeface="Meiryo UI"/>
              </a:rPr>
              <a:t>キーワード共起構造（Explorer）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3891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600" b="0" lang="ja-JP" altLang="en-US">
                <a:solidFill>
                  <a:srgbClr val="CCDDEE"/>
                </a:solidFill>
                <a:latin typeface="Meiryo UI"/>
                <a:ea typeface="Meiryo UI"/>
              </a:rPr>
              <a:t>テキストマイニングによる注目領域の独立検証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b="1" sz="2200" lang="ja-JP" altLang="en-US">
                <a:solidFill>
                  <a:srgbClr val="1B2A4A"/>
                </a:solidFill>
                <a:latin typeface="Meiryo UI"/>
                <a:ea typeface="Meiryo UI"/>
              </a:rPr>
              <a:t>「二酸化炭素」が最高次数中心性 ～SBERTと共起分析が同一結論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1832"/>
            <a:ext cx="11247120" cy="822959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41832"/>
            <a:ext cx="36576" cy="822959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14984"/>
            <a:ext cx="10972800" cy="6766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sz="16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600" lang="ja-JP" altLang="en-US">
                <a:solidFill>
                  <a:srgbClr val="333333"/>
                </a:solidFill>
                <a:latin typeface="Meiryo UI"/>
                <a:ea typeface="Meiryo UI"/>
              </a:rPr>
              <a:t>意味ベクトル(Saturn V)と共起頻度(Explorer)の </a:t>
            </a:r>
            <a:r>
              <a:rPr b="1" sz="1600" lang="ja-JP" altLang="en-US">
                <a:solidFill>
                  <a:srgbClr val="1B2A4A"/>
                </a:solidFill>
                <a:latin typeface="Meiryo UI"/>
                <a:ea typeface="Meiryo UI"/>
              </a:rPr>
              <a:t>独立2手法</a:t>
            </a:r>
            <a:r>
              <a:rPr sz="1600" lang="ja-JP" altLang="en-US">
                <a:solidFill>
                  <a:srgbClr val="333333"/>
                </a:solidFill>
                <a:latin typeface="Meiryo UI"/>
                <a:ea typeface="Meiryo UI"/>
              </a:rPr>
              <a:t> が一致して CO₂ 固定化を中心と検出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56231"/>
            <a:ext cx="66111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共起キーワードのワードクラウド</a:t>
            </a:r>
          </a:p>
        </p:txBody>
      </p:sp>
      <p:pic>
        <p:nvPicPr>
          <p:cNvPr id="8" name="Picture 7" descr="explorer_global_word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40" y="2176272"/>
            <a:ext cx="6448630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52359" y="1929384"/>
            <a:ext cx="4142232" cy="3758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ノード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58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、エッジ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84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、密度0.051(疎なネットワーク)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最高中心性: 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「二酸化炭素」0.1404・頻度53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次点: 「カルシウム」0.1404・「製造」「炭酸塩」0.1053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コミュニティ3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 が最大(15語)、CO₂固定化群を形成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顔料・塗工コミュニティは構造的に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周辺化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/>
            <a:r>
              <a:rPr sz="9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（出所）Explorer 共起ネットワーク分析（Jaccard ≥ 0.03）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27648"/>
            <a:ext cx="12188952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6355080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APOLLO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r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| 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b="1" sz="2400" lang="ja-JP" altLang="en-US">
                <a:solidFill>
                  <a:srgbClr val="1B2A4A"/>
                </a:solidFill>
                <a:latin typeface="Meiryo UI"/>
                <a:ea typeface="Meiryo UI"/>
              </a:rPr>
              <a:t>コミュニティ別の中心性 ～CO₂固定化群が15ノードで最大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47120" cy="127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50392"/>
            <a:ext cx="1124712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50392"/>
            <a:ext cx="36576" cy="5029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23544"/>
            <a:ext cx="10972800" cy="3566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sz="16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600" lang="ja-JP" altLang="en-US">
                <a:solidFill>
                  <a:srgbClr val="333333"/>
                </a:solidFill>
                <a:latin typeface="Meiryo UI"/>
                <a:ea typeface="Meiryo UI"/>
              </a:rPr>
              <a:t>10 コミュニティのうち、CO₂ 固定化群が規模・中心性ともに支配的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66111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4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キーワードの中心性・頻度分析</a:t>
            </a:r>
          </a:p>
        </p:txBody>
      </p:sp>
      <p:pic>
        <p:nvPicPr>
          <p:cNvPr id="8" name="Picture 7" descr="exp_tornado_sn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57660"/>
            <a:ext cx="6611112" cy="3718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52359" y="1517904"/>
            <a:ext cx="4142232" cy="416966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C3 CO₂固定化(15語)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: 固定化方法・回収方法・装置・バテライト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C1 製造・表面処理(11語)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: 沈降炭酸・貝殻・添加剤・粉砕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C4 顔料・製紙(9語)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: 塗工紙・複合粒子（中心性低・周辺化）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C9 表面処理樹脂(6語)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: 樹脂組成物・石灰石</a:t>
            </a:r>
          </a:p>
          <a:p>
            <a:pPr eaLnBrk="1" hangingPunct="1">
              <a:lnSpc>
                <a:spcPct val="150000"/>
              </a:lnSpc>
              <a:spcAft>
                <a:spcPts val="600"/>
              </a:spcAft>
            </a:pPr>
            <a:r>
              <a:rPr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b="1" sz="1400" lang="ja-JP" altLang="en-US">
                <a:solidFill>
                  <a:srgbClr val="1B2A4A"/>
                </a:solidFill>
                <a:latin typeface="Meiryo UI"/>
                <a:ea typeface="Meiryo UI"/>
              </a:rPr>
              <a:t>C6 無機質成形体(2語)</a:t>
            </a:r>
            <a:r>
              <a:rPr sz="1400" lang="ja-JP" altLang="en-US">
                <a:solidFill>
                  <a:srgbClr val="333333"/>
                </a:solidFill>
                <a:latin typeface="Meiryo UI"/>
                <a:ea typeface="Meiryo UI"/>
              </a:rPr>
              <a:t>: 神島化学の建材化技術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/>
            <a:r>
              <a:rPr sz="9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（出所）Explorer コミュニティ検出 + 中心性分析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27648"/>
            <a:ext cx="12188952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6355080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APOLLO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r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| 19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572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0" b="1" lang="ja-JP" altLang="en-US">
                <a:solidFill>
                  <a:srgbClr val="2A3A5A"/>
                </a:solidFill>
                <a:latin typeface="Meiryo UI"/>
                <a:ea typeface="Meiryo UI"/>
              </a:rPr>
              <a:t>07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36576" cy="18288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sz="3200" b="1" lang="ja-JP" altLang="en-US">
                <a:solidFill>
                  <a:srgbClr val="FFFFFF"/>
                </a:solidFill>
                <a:latin typeface="Meiryo UI"/>
                <a:ea typeface="Meiryo UI"/>
              </a:rPr>
              <a:t>仮説検証と戦略提言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3891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1600" b="0" lang="ja-JP" altLang="en-US">
                <a:solidFill>
                  <a:srgbClr val="CCDDEE"/>
                </a:solidFill>
                <a:latin typeface="Meiryo UI"/>
                <a:ea typeface="Meiryo UI"/>
              </a:rPr>
              <a:t>3仮説すべてが支持、本分析の結論は頑健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b="1" sz="2400" lang="ja-JP" altLang="en-US">
                <a:solidFill>
                  <a:srgbClr val="1B2A4A"/>
                </a:solidFill>
                <a:latin typeface="Meiryo UI"/>
                <a:ea typeface="Meiryo UI"/>
              </a:rPr>
              <a:t>仮説検証サマリー ～3仮説すべてが支持、結論の頑健性を確認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47120" cy="127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50392"/>
            <a:ext cx="11247120" cy="822959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50392"/>
            <a:ext cx="36576" cy="822959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23544"/>
            <a:ext cx="10972800" cy="6766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sz="16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600" lang="ja-JP" altLang="en-US">
                <a:solidFill>
                  <a:srgbClr val="333333"/>
                </a:solidFill>
                <a:latin typeface="Meiryo UI"/>
                <a:ea typeface="Meiryo UI"/>
              </a:rPr>
              <a:t>NEBULA 環境分析で立てた </a:t>
            </a:r>
            <a:r>
              <a:rPr b="1" sz="1600" lang="ja-JP" altLang="en-US">
                <a:solidFill>
                  <a:srgbClr val="1B2A4A"/>
                </a:solidFill>
                <a:latin typeface="Meiryo UI"/>
                <a:ea typeface="Meiryo UI"/>
              </a:rPr>
              <a:t>3 仮説すべてが Saturn V × MEGA × ATLAS の照合で支持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64792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657600"/>
                <a:gridCol w="1188720"/>
                <a:gridCol w="5760720"/>
              </a:tblGrid>
              <a:tr h="914400">
                <a:tc>
                  <a:txBody>
                    <a:bodyPr/>
                    <a:lstStyle/>
                    <a:p>
                      <a:pPr eaLnBrk="1" hangingPunct="1"/>
                      <a:r>
                        <a:rPr sz="1300" b="1" lang="ja-JP" altLang="en-US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ID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300" b="1" lang="ja-JP" altLang="en-US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仮説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300" b="1" lang="ja-JP" altLang="en-US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判定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300" b="1" lang="ja-JP" altLang="en-US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根拠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eaLnBrk="1" hangingPunct="1"/>
                      <a:r>
                        <a:rPr sz="11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1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カーボンニュートラル政策が本母集団の成長を駆動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 algn="ctr"/>
                      <a:r>
                        <a:rPr sz="1200" b="1" lang="ja-JP" altLang="en-US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✅ 支持</a:t>
                      </a:r>
                    </a:p>
                  </a:txBody>
                  <a:tcPr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1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2022-23年の出願再上昇(28→45件)が政策イベント(2020年宣言・2021年GGS)と時系列整合。Saturn V クラスタ9 の急増(2019:6→2023:18)と一致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eaLnBrk="1" hangingPunct="1"/>
                      <a:r>
                        <a:rPr sz="11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H2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1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成長を牽引するのはCO₂多排出産業(セメント・建設)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 algn="ctr"/>
                      <a:r>
                        <a:rPr sz="1200" b="1" lang="ja-JP" altLang="en-US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✅ 支持</a:t>
                      </a:r>
                    </a:p>
                  </a:txBody>
                  <a:tcPr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1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MEGAリーダー象限の筆頭が住友大阪セメント(+13.7%)・神島化学。建設業(鹿島・大成・鴻池)・大学(山口・京大・富山)の参入も顕著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eaLnBrk="1" hangingPunct="1"/>
                      <a:r>
                        <a:rPr sz="11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H3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1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伝統的填料・顔料用途は構造的縮小局面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 algn="ctr"/>
                      <a:r>
                        <a:rPr sz="1200" b="1" lang="ja-JP" altLang="en-US">
                          <a:solidFill>
                            <a:srgbClr val="FFFFFF"/>
                          </a:solidFill>
                          <a:latin typeface="Meiryo UI"/>
                          <a:ea typeface="Meiryo UI"/>
                        </a:rPr>
                        <a:t>✅ 支持</a:t>
                      </a:r>
                    </a:p>
                  </a:txBody>
                  <a:tcPr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sz="1100" b="0" lang="ja-JP" altLang="en-US">
                          <a:solidFill>
                            <a:srgbClr val="333333"/>
                          </a:solidFill>
                          <a:latin typeface="Meiryo UI"/>
                          <a:ea typeface="Meiryo UI"/>
                        </a:rPr>
                        <a:t>Saturn V で填料・製紙クラスタ(7・8・17・25)が成熟/衰退象限。日本製紙の直近出願ゼロ。Explorerで顔料コミュニティが周辺化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/>
            <a:r>
              <a:rPr sz="9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（出所）クロスモジュール統合分析（P1・P8・P11）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27648"/>
            <a:ext cx="12188952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6355080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APOLLO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r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| 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b="1" sz="2200" lang="ja-JP" altLang="en-US">
                <a:solidFill>
                  <a:srgbClr val="1B2A4A"/>
                </a:solidFill>
                <a:latin typeface="Meiryo UI"/>
                <a:ea typeface="Meiryo UI"/>
              </a:rPr>
              <a:t>戦略ロードマップ ～短期はCO₂固定化集中、中期は産学連携、長期は事業転換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127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1832"/>
            <a:ext cx="1124712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41832"/>
            <a:ext cx="36576" cy="5029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14984"/>
            <a:ext cx="10972800" cy="3566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sz="16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600" lang="ja-JP" altLang="en-US">
                <a:solidFill>
                  <a:srgbClr val="333333"/>
                </a:solidFill>
                <a:latin typeface="Meiryo UI"/>
                <a:ea typeface="Meiryo UI"/>
              </a:rPr>
              <a:t>本母集団の成長軸に乗るための </a:t>
            </a:r>
            <a:r>
              <a:rPr b="1" sz="1600" lang="ja-JP" altLang="en-US">
                <a:solidFill>
                  <a:srgbClr val="1B2A4A"/>
                </a:solidFill>
                <a:latin typeface="Meiryo UI"/>
                <a:ea typeface="Meiryo UI"/>
              </a:rPr>
              <a:t>時間軸別アクション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831335"/>
            <a:ext cx="2674620" cy="4572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77055"/>
            <a:ext cx="2491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ctr"/>
            <a:r>
              <a:rPr sz="1400" b="1" lang="ja-JP" altLang="en-US">
                <a:solidFill>
                  <a:srgbClr val="FFFFFF"/>
                </a:solidFill>
                <a:latin typeface="Meiryo UI"/>
                <a:ea typeface="Meiryo UI"/>
              </a:rPr>
              <a:t>短期（1年以内）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88536"/>
            <a:ext cx="2674620" cy="165506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379975"/>
            <a:ext cx="2491740" cy="1472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b="0" sz="1100" lang="ja-JP" altLang="en-US">
                <a:solidFill>
                  <a:srgbClr val="333333"/>
                </a:solidFill>
                <a:latin typeface="Meiryo UI"/>
                <a:ea typeface="Meiryo UI"/>
              </a:rPr>
              <a:t>・CO₂固定化(B01D×C01F×C04B)へ出願集中</a:t>
            </a:r>
          </a:p>
          <a:p>
            <a:pPr eaLnBrk="1" hangingPunct="1">
              <a:lnSpc>
                <a:spcPct val="130000"/>
              </a:lnSpc>
            </a:pPr>
            <a:r>
              <a:rPr b="0" sz="1100" lang="ja-JP" altLang="en-US">
                <a:solidFill>
                  <a:srgbClr val="333333"/>
                </a:solidFill>
                <a:latin typeface="Meiryo UI"/>
                <a:ea typeface="Meiryo UI"/>
              </a:rPr>
              <a:t>・クラスタ9の99件・住友大阪セメントを起点ベンチマーク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4700" y="3127248"/>
            <a:ext cx="2674620" cy="45720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6140" y="3172968"/>
            <a:ext cx="2491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ctr"/>
            <a:r>
              <a:rPr sz="1400" b="1" lang="ja-JP" altLang="en-US">
                <a:solidFill>
                  <a:srgbClr val="FFFFFF"/>
                </a:solidFill>
                <a:latin typeface="Meiryo UI"/>
                <a:ea typeface="Meiryo UI"/>
              </a:rPr>
              <a:t>中期（2-3年）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4700" y="3584448"/>
            <a:ext cx="2674620" cy="2359152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6140" y="3675887"/>
            <a:ext cx="2491740" cy="21762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b="0" sz="1100" lang="ja-JP" altLang="en-US">
                <a:solidFill>
                  <a:srgbClr val="333333"/>
                </a:solidFill>
                <a:latin typeface="Meiryo UI"/>
                <a:ea typeface="Meiryo UI"/>
              </a:rPr>
              <a:t>・セメント・建設・大学との共同出願立ち上げ</a:t>
            </a:r>
          </a:p>
          <a:p>
            <a:pPr eaLnBrk="1" hangingPunct="1">
              <a:lnSpc>
                <a:spcPct val="130000"/>
              </a:lnSpc>
            </a:pPr>
            <a:r>
              <a:rPr b="0" sz="1100" lang="ja-JP" altLang="en-US">
                <a:solidFill>
                  <a:srgbClr val="333333"/>
                </a:solidFill>
                <a:latin typeface="Meiryo UI"/>
                <a:ea typeface="Meiryo UI"/>
              </a:rPr>
              <a:t>・CO₂由来カルシウムの高機能フィラー化(グリーンフィラー)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423160"/>
            <a:ext cx="267462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468880"/>
            <a:ext cx="2491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ctr"/>
            <a:r>
              <a:rPr sz="1400" b="1" lang="ja-JP" altLang="en-US">
                <a:solidFill>
                  <a:srgbClr val="FFFFFF"/>
                </a:solidFill>
                <a:latin typeface="Meiryo UI"/>
                <a:ea typeface="Meiryo UI"/>
              </a:rPr>
              <a:t>中期（2-3年）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880360"/>
            <a:ext cx="2674620" cy="3063239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971800"/>
            <a:ext cx="2491740" cy="288035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b="0" sz="1100" lang="ja-JP" altLang="en-US">
                <a:solidFill>
                  <a:srgbClr val="333333"/>
                </a:solidFill>
                <a:latin typeface="Meiryo UI"/>
                <a:ea typeface="Meiryo UI"/>
              </a:rPr>
              <a:t>・資源循環(鉄鋼スラグ・貝殻)×CO₂固定化の二重循環</a:t>
            </a:r>
          </a:p>
          <a:p>
            <a:pPr eaLnBrk="1" hangingPunct="1">
              <a:lnSpc>
                <a:spcPct val="130000"/>
              </a:lnSpc>
            </a:pPr>
            <a:r>
              <a:rPr b="0" sz="1100" lang="ja-JP" altLang="en-US">
                <a:solidFill>
                  <a:srgbClr val="333333"/>
                </a:solidFill>
                <a:latin typeface="Meiryo UI"/>
                <a:ea typeface="Meiryo UI"/>
              </a:rPr>
              <a:t>・産学連携(産学・業際的)で基礎技術を確保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29700" y="1719072"/>
            <a:ext cx="267462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21140" y="1764792"/>
            <a:ext cx="2491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ctr"/>
            <a:r>
              <a:rPr sz="1400" b="1" lang="ja-JP" altLang="en-US">
                <a:solidFill>
                  <a:srgbClr val="FFFFFF"/>
                </a:solidFill>
                <a:latin typeface="Meiryo UI"/>
                <a:ea typeface="Meiryo UI"/>
              </a:rPr>
              <a:t>長期（3-5年）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29700" y="2176272"/>
            <a:ext cx="2674620" cy="376732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21140" y="2267712"/>
            <a:ext cx="2491740" cy="35844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b="0" sz="1100" lang="ja-JP" altLang="en-US">
                <a:solidFill>
                  <a:srgbClr val="333333"/>
                </a:solidFill>
                <a:latin typeface="Meiryo UI"/>
                <a:ea typeface="Meiryo UI"/>
              </a:rPr>
              <a:t>・伝統用途のライセンス化と事業転換</a:t>
            </a:r>
          </a:p>
          <a:p>
            <a:pPr eaLnBrk="1" hangingPunct="1">
              <a:lnSpc>
                <a:spcPct val="130000"/>
              </a:lnSpc>
            </a:pPr>
            <a:r>
              <a:rPr b="0" sz="1100" lang="ja-JP" altLang="en-US">
                <a:solidFill>
                  <a:srgbClr val="333333"/>
                </a:solidFill>
                <a:latin typeface="Meiryo UI"/>
                <a:ea typeface="Meiryo UI"/>
              </a:rPr>
              <a:t>・蓄積した粒子制御技術をグリーンフィラーへ転用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/>
            <a:r>
              <a:rPr sz="9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（出所）戦略的提言（本分析の主要発見に基づく）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327648"/>
            <a:ext cx="12188952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6355080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APOLLO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r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| 21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b="1" sz="2400" lang="ja-JP" altLang="en-US">
                <a:solidFill>
                  <a:srgbClr val="1B2A4A"/>
                </a:solidFill>
                <a:latin typeface="Meiryo UI"/>
                <a:ea typeface="Meiryo UI"/>
              </a:rPr>
              <a:t>推奨アクション 5項目 ～優先度高で短期から実行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47120" cy="1270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50392"/>
            <a:ext cx="1124712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50392"/>
            <a:ext cx="36576" cy="502920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23544"/>
            <a:ext cx="10972800" cy="3566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sz="1600" b="1" lang="ja-JP" altLang="en-US">
                <a:solidFill>
                  <a:srgbClr val="1B2A4A"/>
                </a:solidFill>
                <a:latin typeface="Meiryo UI"/>
                <a:ea typeface="Meiryo UI"/>
              </a:rPr>
              <a:t>■ </a:t>
            </a:r>
            <a:r>
              <a:rPr sz="1600" lang="ja-JP" altLang="en-US">
                <a:solidFill>
                  <a:srgbClr val="333333"/>
                </a:solidFill>
                <a:latin typeface="Meiryo UI"/>
                <a:ea typeface="Meiryo UI"/>
              </a:rPr>
              <a:t>本分析の視座（注目領域＝CO₂固定化）から導出した具体的提言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44752"/>
            <a:ext cx="2066544" cy="411480"/>
          </a:xfrm>
          <a:prstGeom prst="round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883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ctr"/>
            <a:r>
              <a:rPr sz="1300" b="1" lang="ja-JP" altLang="en-US">
                <a:solidFill>
                  <a:srgbClr val="FFFFFF"/>
                </a:solidFill>
                <a:latin typeface="Meiryo UI"/>
                <a:ea typeface="Meiryo UI"/>
              </a:rPr>
              <a:t>[高] CO₂固定化出願集中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56232"/>
            <a:ext cx="2066544" cy="408736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947672"/>
            <a:ext cx="1847088" cy="390448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40000"/>
              </a:lnSpc>
            </a:pPr>
            <a:r>
              <a:rPr b="0" sz="1200" lang="ja-JP" altLang="en-US">
                <a:solidFill>
                  <a:srgbClr val="333333"/>
                </a:solidFill>
                <a:latin typeface="Meiryo UI"/>
                <a:ea typeface="Meiryo UI"/>
              </a:rPr>
              <a:t>B01D×C01F×C04B のクロス IPC で出願。短期1年以内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52344" y="1444752"/>
            <a:ext cx="2066544" cy="411480"/>
          </a:xfrm>
          <a:prstGeom prst="round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43784" y="1490472"/>
            <a:ext cx="1883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ctr"/>
            <a:r>
              <a:rPr sz="1300" b="1" lang="ja-JP" altLang="en-US">
                <a:solidFill>
                  <a:srgbClr val="FFFFFF"/>
                </a:solidFill>
                <a:latin typeface="Meiryo UI"/>
                <a:ea typeface="Meiryo UI"/>
              </a:rPr>
              <a:t>[高] 産学・業際連携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52344" y="1856232"/>
            <a:ext cx="2066544" cy="408736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62072" y="1947672"/>
            <a:ext cx="1847088" cy="390448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40000"/>
              </a:lnSpc>
            </a:pPr>
            <a:r>
              <a:rPr b="0" sz="1200" lang="ja-JP" altLang="en-US">
                <a:solidFill>
                  <a:srgbClr val="333333"/>
                </a:solidFill>
                <a:latin typeface="Meiryo UI"/>
                <a:ea typeface="Meiryo UI"/>
              </a:rPr>
              <a:t>セメント・鉄鋼・建設・大学との共同出願。短-中期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7488" y="1444752"/>
            <a:ext cx="2066544" cy="411480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8928" y="1490472"/>
            <a:ext cx="1883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ctr"/>
            <a:r>
              <a:rPr sz="1300" b="1" lang="ja-JP" altLang="en-US">
                <a:solidFill>
                  <a:srgbClr val="FFFFFF"/>
                </a:solidFill>
                <a:latin typeface="Meiryo UI"/>
                <a:ea typeface="Meiryo UI"/>
              </a:rPr>
              <a:t>[中] グリーンフィラー化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47488" y="1856232"/>
            <a:ext cx="2066544" cy="408736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57216" y="1947672"/>
            <a:ext cx="1847088" cy="390448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40000"/>
              </a:lnSpc>
            </a:pPr>
            <a:r>
              <a:rPr b="0" sz="1200" lang="ja-JP" altLang="en-US">
                <a:solidFill>
                  <a:srgbClr val="333333"/>
                </a:solidFill>
                <a:latin typeface="Meiryo UI"/>
                <a:ea typeface="Meiryo UI"/>
              </a:rPr>
              <a:t>CO₂由来CaCO₃を高機能フィラーへ統合設計。中期2-3年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42632" y="1444752"/>
            <a:ext cx="2066544" cy="411480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4072" y="1490472"/>
            <a:ext cx="1883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ctr"/>
            <a:r>
              <a:rPr sz="1300" b="1" lang="ja-JP" altLang="en-US">
                <a:solidFill>
                  <a:srgbClr val="FFFFFF"/>
                </a:solidFill>
                <a:latin typeface="Meiryo UI"/>
                <a:ea typeface="Meiryo UI"/>
              </a:rPr>
              <a:t>[中] 資源循環の結合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42632" y="1856232"/>
            <a:ext cx="2066544" cy="408736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1947672"/>
            <a:ext cx="1847088" cy="390448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40000"/>
              </a:lnSpc>
            </a:pPr>
            <a:r>
              <a:rPr b="0" sz="1200" lang="ja-JP" altLang="en-US">
                <a:solidFill>
                  <a:srgbClr val="333333"/>
                </a:solidFill>
                <a:latin typeface="Meiryo UI"/>
                <a:ea typeface="Meiryo UI"/>
              </a:rPr>
              <a:t>スラグ・貝殻×CO₂固定化の二重循環。中期2-3年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37776" y="1444752"/>
            <a:ext cx="2066544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9216" y="1490472"/>
            <a:ext cx="1883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ctr"/>
            <a:r>
              <a:rPr sz="1300" b="1" lang="ja-JP" altLang="en-US">
                <a:solidFill>
                  <a:srgbClr val="FFFFFF"/>
                </a:solidFill>
                <a:latin typeface="Meiryo UI"/>
                <a:ea typeface="Meiryo UI"/>
              </a:rPr>
              <a:t>[低] 伝統用途の選択撤退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37776" y="1856232"/>
            <a:ext cx="2066544" cy="408736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47504" y="1947672"/>
            <a:ext cx="1847088" cy="390448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lnSpc>
                <a:spcPct val="140000"/>
              </a:lnSpc>
            </a:pPr>
            <a:r>
              <a:rPr b="0" sz="1200" lang="ja-JP" altLang="en-US">
                <a:solidFill>
                  <a:srgbClr val="333333"/>
                </a:solidFill>
                <a:latin typeface="Meiryo UI"/>
                <a:ea typeface="Meiryo UI"/>
              </a:rPr>
              <a:t>填料・顔料の絞り込みとライセンス活用。長期3-5年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/>
            <a:r>
              <a:rPr sz="9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（出所）戦略的提言（5項目）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27648"/>
            <a:ext cx="12188952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6355080"/>
            <a:ext cx="1124712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APOLLO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r"/>
            <a:r>
              <a:rPr sz="800" b="0" lang="ja-JP" altLang="en-US">
                <a:solidFill>
                  <a:srgbClr val="666666"/>
                </a:solidFill>
                <a:latin typeface="Meiryo UI"/>
                <a:ea typeface="Meiryo UI"/>
              </a:rPr>
              <a:t>| 22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ctr"/>
            <a:r>
              <a:rPr sz="4800" b="1" lang="ja-JP" altLang="en-US">
                <a:solidFill>
                  <a:srgbClr val="FFFFFF"/>
                </a:solidFill>
                <a:latin typeface="Meiryo UI"/>
                <a:ea typeface="Meiryo U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ctr"/>
            <a:r>
              <a:rPr sz="1600" b="0" lang="ja-JP" altLang="en-US">
                <a:solidFill>
                  <a:srgbClr val="AABBDD"/>
                </a:solidFill>
                <a:latin typeface="Meiryo UI"/>
                <a:ea typeface="Meiryo UI"/>
              </a:rPr>
              <a:t>炭酸カルシウム技術動向分析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 algn="ctr"/>
            <a:r>
              <a:rPr sz="1200" b="0" lang="ja-JP" altLang="en-US">
                <a:solidFill>
                  <a:srgbClr val="8899BB"/>
                </a:solidFill>
                <a:latin typeface="Meiryo UI"/>
                <a:ea typeface="Meiryo UI"/>
              </a:rPr>
              <a:t>APOLLO Patent Analytics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3B7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OLLO CAPCOM">
  <a:themeElements>
    <a:clrScheme name="APOLLO CAPCOM">
      <a:dk1>
        <a:srgbClr val="1B2A4A"/>
      </a:dk1>
      <a:lt1>
        <a:srgbClr val="FFFFFF"/>
      </a:lt1>
      <a:dk2>
        <a:srgbClr val="333333"/>
      </a:dk2>
      <a:lt2>
        <a:srgbClr val="F5F5F5"/>
      </a:lt2>
      <a:accent1>
        <a:srgbClr val="3B7DD8"/>
      </a:accent1>
      <a:accent2>
        <a:srgbClr val="2E5090"/>
      </a:accent2>
      <a:accent3>
        <a:srgbClr val="2E8B57"/>
      </a:accent3>
      <a:accent4>
        <a:srgbClr val="D4A017"/>
      </a:accent4>
      <a:accent5>
        <a:srgbClr val="D64545"/>
      </a:accent5>
      <a:accent6>
        <a:srgbClr val="666666"/>
      </a:accent6>
      <a:hlink>
        <a:srgbClr val="3B7DD8"/>
      </a:hlink>
      <a:folHlink>
        <a:srgbClr val="666666"/>
      </a:folHlink>
    </a:clrScheme>
    <a:fontScheme name="APOLLO CAPCOM">
      <a:majorFont>
        <a:latin typeface="Hiragino Sans"/>
        <a:ea typeface="Hiragino Sans"/>
        <a:cs typeface=""/>
        <a:font script="Jpan" typeface="Hiragino Sans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iragino Sans"/>
        <a:ea typeface="Hiragino Sans"/>
        <a:cs typeface=""/>
        <a:font script="Jpan" typeface="Hiragino Sans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