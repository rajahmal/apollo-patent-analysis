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011"/>
        </a:solidFill>
        <a:effectLst/>
      </p:bgPr>
    </p:bg>
    <p:spTree>
      <p:nvGrpSpPr>
        <p:cNvPr id="1" name=""/>
        <p:cNvGrpSpPr/>
        <p:nvPr/>
      </p:nvGrpSpPr>
      <p:grpSpPr/>
      <p:sp>
        <p:nvSpPr>
          <p:cNvPr id="2" name="TextBox 1"/>
          <p:cNvSpPr txBox="1"/>
          <p:nvPr/>
        </p:nvSpPr>
        <p:spPr>
          <a:xfrm>
            <a:off x="640080" y="4160520"/>
            <a:ext cx="11887200" cy="2377440"/>
          </a:xfrm>
          <a:prstGeom prst="rect">
            <a:avLst/>
          </a:prstGeom>
          <a:noFill/>
          <a:effectLst/>
        </p:spPr>
        <p:txBody>
          <a:bodyPr wrap="none">
            <a:noAutofit/>
          </a:bodyPr>
          <a:lstStyle/>
          <a:p>
            <a:r>
              <a:rPr sz="15000" b="1" lang="ja-JP" altLang="en-US" spc="400">
                <a:solidFill>
                  <a:srgbClr val="1B1B1F"/>
                </a:solidFill>
                <a:latin typeface="Yu Mincho"/>
                <a:ea typeface="Yu Mincho"/>
              </a:rPr>
              <a:t>APOLLO</a:t>
            </a:r>
          </a:p>
        </p:txBody>
      </p:sp>
      <p:sp>
        <p:nvSpPr>
          <p:cNvPr id="3" name="Rectangle 2"/>
          <p:cNvSpPr/>
          <p:nvPr/>
        </p:nvSpPr>
        <p:spPr>
          <a:xfrm>
            <a:off x="0" y="0"/>
            <a:ext cx="274320" cy="685800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1051560" y="868680"/>
            <a:ext cx="10058400" cy="365760"/>
          </a:xfrm>
          <a:prstGeom prst="rect">
            <a:avLst/>
          </a:prstGeom>
          <a:noFill/>
          <a:effectLst/>
        </p:spPr>
        <p:txBody>
          <a:bodyPr wrap="square">
            <a:noAutofit/>
          </a:bodyPr>
          <a:lstStyle/>
          <a:p>
            <a:r>
              <a:rPr sz="1200" b="1" lang="ja-JP" altLang="en-US" spc="280">
                <a:solidFill>
                  <a:srgbClr val="FF7070"/>
                </a:solidFill>
                <a:latin typeface="Yu Mincho"/>
                <a:ea typeface="Yu Mincho"/>
              </a:rPr>
              <a:t>PATENT INTELLIGENCE REPORT — RECYCLED RESIN COMPOUND</a:t>
            </a:r>
          </a:p>
        </p:txBody>
      </p:sp>
      <p:sp>
        <p:nvSpPr>
          <p:cNvPr id="5" name="TextBox 4"/>
          <p:cNvSpPr txBox="1"/>
          <p:nvPr/>
        </p:nvSpPr>
        <p:spPr>
          <a:xfrm>
            <a:off x="1051560" y="1298448"/>
            <a:ext cx="7315200" cy="457200"/>
          </a:xfrm>
          <a:prstGeom prst="rect">
            <a:avLst/>
          </a:prstGeom>
          <a:noFill/>
          <a:effectLst/>
        </p:spPr>
        <p:txBody>
          <a:bodyPr wrap="square">
            <a:noAutofit/>
          </a:bodyPr>
          <a:lstStyle/>
          <a:p>
            <a:r>
              <a:rPr sz="2000" b="1" lang="ja-JP" altLang="en-US" spc="600">
                <a:solidFill>
                  <a:srgbClr val="FFFFFF"/>
                </a:solidFill>
                <a:latin typeface="Yu Mincho"/>
                <a:ea typeface="Yu Mincho"/>
              </a:rPr>
              <a:t>APOLLO</a:t>
            </a:r>
          </a:p>
        </p:txBody>
      </p:sp>
      <p:sp>
        <p:nvSpPr>
          <p:cNvPr id="6" name="Rectangle 5"/>
          <p:cNvSpPr/>
          <p:nvPr/>
        </p:nvSpPr>
        <p:spPr>
          <a:xfrm>
            <a:off x="1078992" y="2240280"/>
            <a:ext cx="3108960" cy="100584"/>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1051560" y="2606040"/>
            <a:ext cx="10424160" cy="2194560"/>
          </a:xfrm>
          <a:prstGeom prst="rect">
            <a:avLst/>
          </a:prstGeom>
          <a:noFill/>
          <a:effectLst/>
        </p:spPr>
        <p:txBody>
          <a:bodyPr wrap="square">
            <a:noAutofit/>
          </a:bodyPr>
          <a:lstStyle/>
          <a:p>
            <a:pPr eaLnBrk="1" hangingPunct="1">
              <a:lnSpc>
                <a:spcPct val="116000"/>
              </a:lnSpc>
            </a:pPr>
            <a:r>
              <a:rPr sz="4000" b="1" lang="ja-JP" altLang="en-US">
                <a:solidFill>
                  <a:srgbClr val="FFFFFF"/>
                </a:solidFill>
                <a:latin typeface="Yu Mincho"/>
                <a:ea typeface="Yu Mincho"/>
              </a:rPr>
              <a:t>再生材ペレット 特許動向分析 2026</a:t>
            </a:r>
          </a:p>
        </p:txBody>
      </p:sp>
      <p:sp>
        <p:nvSpPr>
          <p:cNvPr id="8" name="TextBox 7"/>
          <p:cNvSpPr txBox="1"/>
          <p:nvPr/>
        </p:nvSpPr>
        <p:spPr>
          <a:xfrm>
            <a:off x="1078992" y="5074920"/>
            <a:ext cx="10058400" cy="548640"/>
          </a:xfrm>
          <a:prstGeom prst="rect">
            <a:avLst/>
          </a:prstGeom>
          <a:noFill/>
          <a:effectLst/>
        </p:spPr>
        <p:txBody>
          <a:bodyPr wrap="square">
            <a:noAutofit/>
          </a:bodyPr>
          <a:lstStyle/>
          <a:p>
            <a:pPr eaLnBrk="1" hangingPunct="1"/>
            <a:r>
              <a:rPr sz="1500" b="0" lang="ja-JP" altLang="en-US">
                <a:solidFill>
                  <a:srgbClr val="C2C2C6"/>
                </a:solidFill>
                <a:latin typeface="Yu Mincho"/>
                <a:ea typeface="Yu Mincho"/>
              </a:rPr>
              <a:t>使用済みプラスチック由来 再生材・樹脂組成物 特許417件の競合・技術・動態分析（1996–2025）</a:t>
            </a:r>
          </a:p>
        </p:txBody>
      </p:sp>
      <p:sp>
        <p:nvSpPr>
          <p:cNvPr id="9" name="Rectangle 8"/>
          <p:cNvSpPr/>
          <p:nvPr/>
        </p:nvSpPr>
        <p:spPr>
          <a:xfrm>
            <a:off x="0" y="6199632"/>
            <a:ext cx="12188952" cy="420624"/>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1051560" y="6263640"/>
            <a:ext cx="10058400" cy="310896"/>
          </a:xfrm>
          <a:prstGeom prst="rect">
            <a:avLst/>
          </a:prstGeom>
          <a:noFill/>
          <a:effectLst/>
        </p:spPr>
        <p:txBody>
          <a:bodyPr wrap="square">
            <a:noAutofit/>
          </a:bodyPr>
          <a:lstStyle/>
          <a:p>
            <a:r>
              <a:rPr sz="1100" b="1" lang="ja-JP" altLang="en-US" spc="120">
                <a:solidFill>
                  <a:srgbClr val="FFFFFF"/>
                </a:solidFill>
                <a:latin typeface="Yu Mincho"/>
                <a:ea typeface="Yu Mincho"/>
              </a:rPr>
              <a:t>2026-06-14  ｜  APOLLO v8.0.0  ｜  対象417件</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22960" y="521208"/>
            <a:ext cx="365760" cy="1270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22960" y="630936"/>
            <a:ext cx="10725912" cy="841248"/>
          </a:xfrm>
          <a:prstGeom prst="rect">
            <a:avLst/>
          </a:prstGeom>
          <a:noFill/>
          <a:effectLst/>
        </p:spPr>
        <p:txBody>
          <a:bodyPr wrap="square">
            <a:noAutofit/>
          </a:bodyPr>
          <a:lstStyle/>
          <a:p>
            <a:pPr eaLnBrk="1" hangingPunct="1">
              <a:lnSpc>
                <a:spcPct val="118000"/>
              </a:lnSpc>
            </a:pPr>
            <a:r>
              <a:rPr b="1" sz="2300" lang="ja-JP" altLang="en-US">
                <a:solidFill>
                  <a:srgbClr val="111111"/>
                </a:solidFill>
                <a:latin typeface="Yu Mincho"/>
                <a:ea typeface="Yu Mincho"/>
              </a:rPr>
              <a:t>出願は2022年以降に急伸、担い手は世代交代 ～再生材は「組成物としての高機能化」段階へ</a:t>
            </a:r>
          </a:p>
        </p:txBody>
      </p:sp>
      <p:sp>
        <p:nvSpPr>
          <p:cNvPr id="4" name="Rectangle 3"/>
          <p:cNvSpPr/>
          <p:nvPr/>
        </p:nvSpPr>
        <p:spPr>
          <a:xfrm>
            <a:off x="822960" y="1527048"/>
            <a:ext cx="10725912" cy="822959"/>
          </a:xfrm>
          <a:prstGeom prst="rect">
            <a:avLst/>
          </a:prstGeom>
          <a:solidFill>
            <a:srgbClr val="F6F7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822960" y="1527048"/>
            <a:ext cx="36576" cy="822959"/>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60120" y="1600200"/>
            <a:ext cx="10451592" cy="676655"/>
          </a:xfrm>
          <a:prstGeom prst="rect">
            <a:avLst/>
          </a:prstGeom>
          <a:noFill/>
          <a:effectLst/>
        </p:spPr>
        <p:txBody>
          <a:bodyPr wrap="square">
            <a:noAutofit/>
          </a:bodyPr>
          <a:lstStyle/>
          <a:p>
            <a:pPr eaLnBrk="1" hangingPunct="1">
              <a:lnSpc>
                <a:spcPct val="150000"/>
              </a:lnSpc>
            </a:pPr>
            <a:r>
              <a:rPr sz="1500" b="1" lang="ja-JP" altLang="en-US">
                <a:solidFill>
                  <a:srgbClr val="C51212"/>
                </a:solidFill>
                <a:latin typeface="Century Gothic"/>
                <a:ea typeface="Yu Gothic"/>
              </a:rPr>
              <a:t>■ </a:t>
            </a:r>
            <a:r>
              <a:rPr b="1" sz="1500" lang="ja-JP" altLang="en-US">
                <a:solidFill>
                  <a:srgbClr val="111111"/>
                </a:solidFill>
                <a:latin typeface="Century Gothic"/>
                <a:ea typeface="Yu Gothic"/>
              </a:rPr>
              <a:t>本母集団417件</a:t>
            </a:r>
            <a:r>
              <a:rPr sz="1500" lang="ja-JP" altLang="en-US">
                <a:solidFill>
                  <a:srgbClr val="111111"/>
                </a:solidFill>
                <a:latin typeface="Century Gothic"/>
                <a:ea typeface="Yu Gothic"/>
              </a:rPr>
              <a:t>は2023年(51件)に過去最高。件数上位の顔ぶれと直近の担い手が入れ替わる</a:t>
            </a:r>
            <a:r>
              <a:rPr b="1" sz="1500" lang="ja-JP" altLang="en-US">
                <a:solidFill>
                  <a:srgbClr val="111111"/>
                </a:solidFill>
                <a:latin typeface="Century Gothic"/>
                <a:ea typeface="Yu Gothic"/>
              </a:rPr>
              <a:t>世代交代</a:t>
            </a:r>
            <a:r>
              <a:rPr sz="1500" lang="ja-JP" altLang="en-US">
                <a:solidFill>
                  <a:srgbClr val="111111"/>
                </a:solidFill>
                <a:latin typeface="Century Gothic"/>
                <a:ea typeface="Yu Gothic"/>
              </a:rPr>
              <a:t>が進行。</a:t>
            </a:r>
          </a:p>
        </p:txBody>
      </p:sp>
      <p:sp>
        <p:nvSpPr>
          <p:cNvPr id="7" name="Rectangle 6"/>
          <p:cNvSpPr/>
          <p:nvPr/>
        </p:nvSpPr>
        <p:spPr>
          <a:xfrm>
            <a:off x="822960" y="2441448"/>
            <a:ext cx="2491740" cy="2286000"/>
          </a:xfrm>
          <a:prstGeom prst="rect">
            <a:avLst/>
          </a:prstGeom>
          <a:solidFill>
            <a:srgbClr val="F1F2F3"/>
          </a:solidFill>
          <a:ln w="9525">
            <a:solidFill>
              <a:srgbClr val="D8DA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822960" y="2441448"/>
            <a:ext cx="36576" cy="228600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87552" y="2569464"/>
            <a:ext cx="2217420" cy="228600"/>
          </a:xfrm>
          <a:prstGeom prst="rect">
            <a:avLst/>
          </a:prstGeom>
          <a:noFill/>
          <a:effectLst/>
        </p:spPr>
        <p:txBody>
          <a:bodyPr wrap="none">
            <a:spAutoFit/>
          </a:bodyPr>
          <a:lstStyle/>
          <a:p>
            <a:pPr eaLnBrk="1" hangingPunct="1"/>
            <a:r>
              <a:rPr sz="1000" b="1" lang="ja-JP" altLang="en-US">
                <a:solidFill>
                  <a:srgbClr val="686868"/>
                </a:solidFill>
                <a:latin typeface="Century Gothic"/>
                <a:ea typeface="Yu Gothic"/>
              </a:rPr>
              <a:t>母集団特許件数</a:t>
            </a:r>
          </a:p>
        </p:txBody>
      </p:sp>
      <p:sp>
        <p:nvSpPr>
          <p:cNvPr id="10" name="TextBox 9"/>
          <p:cNvSpPr txBox="1"/>
          <p:nvPr/>
        </p:nvSpPr>
        <p:spPr>
          <a:xfrm>
            <a:off x="987552" y="2852928"/>
            <a:ext cx="2217420" cy="731520"/>
          </a:xfrm>
          <a:prstGeom prst="rect">
            <a:avLst/>
          </a:prstGeom>
          <a:noFill/>
          <a:effectLst/>
        </p:spPr>
        <p:txBody>
          <a:bodyPr wrap="none">
            <a:spAutoFit/>
          </a:bodyPr>
          <a:lstStyle/>
          <a:p>
            <a:r>
              <a:rPr sz="4000" b="1" lang="ja-JP" altLang="en-US">
                <a:solidFill>
                  <a:srgbClr val="C51212"/>
                </a:solidFill>
                <a:latin typeface="Century Gothic"/>
                <a:ea typeface="Yu Gothic"/>
              </a:rPr>
              <a:t>417</a:t>
            </a:r>
            <a:r>
              <a:rPr sz="1300" lang="ja-JP" altLang="en-US">
                <a:solidFill>
                  <a:srgbClr val="686868"/>
                </a:solidFill>
                <a:latin typeface="Century Gothic"/>
                <a:ea typeface="Yu Gothic"/>
              </a:rPr>
              <a:t> ↑</a:t>
            </a:r>
          </a:p>
        </p:txBody>
      </p:sp>
      <p:sp>
        <p:nvSpPr>
          <p:cNvPr id="11" name="TextBox 10"/>
          <p:cNvSpPr txBox="1"/>
          <p:nvPr/>
        </p:nvSpPr>
        <p:spPr>
          <a:xfrm>
            <a:off x="987552" y="4343400"/>
            <a:ext cx="2217420" cy="274320"/>
          </a:xfrm>
          <a:prstGeom prst="rect">
            <a:avLst/>
          </a:prstGeom>
          <a:noFill/>
          <a:effectLst/>
        </p:spPr>
        <p:txBody>
          <a:bodyPr wrap="none">
            <a:spAutoFit/>
          </a:bodyPr>
          <a:lstStyle/>
          <a:p>
            <a:pPr eaLnBrk="1" hangingPunct="1"/>
            <a:r>
              <a:rPr sz="900" b="0" lang="ja-JP" altLang="en-US">
                <a:solidFill>
                  <a:srgbClr val="686868"/>
                </a:solidFill>
                <a:latin typeface="Century Gothic"/>
                <a:ea typeface="Yu Gothic"/>
              </a:rPr>
              <a:t>件 (1996–2025)</a:t>
            </a:r>
          </a:p>
        </p:txBody>
      </p:sp>
      <p:sp>
        <p:nvSpPr>
          <p:cNvPr id="12" name="Rectangle 11"/>
          <p:cNvSpPr/>
          <p:nvPr/>
        </p:nvSpPr>
        <p:spPr>
          <a:xfrm>
            <a:off x="3497580" y="2441448"/>
            <a:ext cx="2491740" cy="2286000"/>
          </a:xfrm>
          <a:prstGeom prst="rect">
            <a:avLst/>
          </a:prstGeom>
          <a:solidFill>
            <a:srgbClr val="F1F2F3"/>
          </a:solidFill>
          <a:ln w="9525">
            <a:solidFill>
              <a:srgbClr val="D8DA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3497580" y="2441448"/>
            <a:ext cx="36576" cy="228600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3662172" y="2569464"/>
            <a:ext cx="2217420" cy="228600"/>
          </a:xfrm>
          <a:prstGeom prst="rect">
            <a:avLst/>
          </a:prstGeom>
          <a:noFill/>
          <a:effectLst/>
        </p:spPr>
        <p:txBody>
          <a:bodyPr wrap="none">
            <a:spAutoFit/>
          </a:bodyPr>
          <a:lstStyle/>
          <a:p>
            <a:pPr eaLnBrk="1" hangingPunct="1"/>
            <a:r>
              <a:rPr sz="1000" b="1" lang="ja-JP" altLang="en-US">
                <a:solidFill>
                  <a:srgbClr val="686868"/>
                </a:solidFill>
                <a:latin typeface="Century Gothic"/>
                <a:ea typeface="Yu Gothic"/>
              </a:rPr>
              <a:t>出願人数</a:t>
            </a:r>
          </a:p>
        </p:txBody>
      </p:sp>
      <p:sp>
        <p:nvSpPr>
          <p:cNvPr id="15" name="TextBox 14"/>
          <p:cNvSpPr txBox="1"/>
          <p:nvPr/>
        </p:nvSpPr>
        <p:spPr>
          <a:xfrm>
            <a:off x="3662172" y="2852928"/>
            <a:ext cx="2217420" cy="731520"/>
          </a:xfrm>
          <a:prstGeom prst="rect">
            <a:avLst/>
          </a:prstGeom>
          <a:noFill/>
          <a:effectLst/>
        </p:spPr>
        <p:txBody>
          <a:bodyPr wrap="none">
            <a:spAutoFit/>
          </a:bodyPr>
          <a:lstStyle/>
          <a:p>
            <a:r>
              <a:rPr sz="4000" b="1" lang="ja-JP" altLang="en-US">
                <a:solidFill>
                  <a:srgbClr val="111111"/>
                </a:solidFill>
                <a:latin typeface="Century Gothic"/>
                <a:ea typeface="Yu Gothic"/>
              </a:rPr>
              <a:t>30</a:t>
            </a:r>
          </a:p>
        </p:txBody>
      </p:sp>
      <p:sp>
        <p:nvSpPr>
          <p:cNvPr id="16" name="TextBox 15"/>
          <p:cNvSpPr txBox="1"/>
          <p:nvPr/>
        </p:nvSpPr>
        <p:spPr>
          <a:xfrm>
            <a:off x="3662172" y="4343400"/>
            <a:ext cx="2217420" cy="274320"/>
          </a:xfrm>
          <a:prstGeom prst="rect">
            <a:avLst/>
          </a:prstGeom>
          <a:noFill/>
          <a:effectLst/>
        </p:spPr>
        <p:txBody>
          <a:bodyPr wrap="none">
            <a:spAutoFit/>
          </a:bodyPr>
          <a:lstStyle/>
          <a:p>
            <a:pPr eaLnBrk="1" hangingPunct="1"/>
            <a:r>
              <a:rPr sz="900" b="0" lang="ja-JP" altLang="en-US">
                <a:solidFill>
                  <a:srgbClr val="686868"/>
                </a:solidFill>
                <a:latin typeface="Century Gothic"/>
                <a:ea typeface="Yu Gothic"/>
              </a:rPr>
              <a:t>主要出願人</a:t>
            </a:r>
          </a:p>
        </p:txBody>
      </p:sp>
      <p:sp>
        <p:nvSpPr>
          <p:cNvPr id="17" name="Rectangle 16"/>
          <p:cNvSpPr/>
          <p:nvPr/>
        </p:nvSpPr>
        <p:spPr>
          <a:xfrm>
            <a:off x="6172200" y="2441448"/>
            <a:ext cx="2491740" cy="2286000"/>
          </a:xfrm>
          <a:prstGeom prst="rect">
            <a:avLst/>
          </a:prstGeom>
          <a:solidFill>
            <a:srgbClr val="F1F2F3"/>
          </a:solidFill>
          <a:ln w="9525">
            <a:solidFill>
              <a:srgbClr val="D8DA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6172200" y="2441448"/>
            <a:ext cx="36576" cy="228600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336792" y="2569464"/>
            <a:ext cx="2217420" cy="228600"/>
          </a:xfrm>
          <a:prstGeom prst="rect">
            <a:avLst/>
          </a:prstGeom>
          <a:noFill/>
          <a:effectLst/>
        </p:spPr>
        <p:txBody>
          <a:bodyPr wrap="none">
            <a:spAutoFit/>
          </a:bodyPr>
          <a:lstStyle/>
          <a:p>
            <a:pPr eaLnBrk="1" hangingPunct="1"/>
            <a:r>
              <a:rPr sz="1000" b="1" lang="ja-JP" altLang="en-US">
                <a:solidFill>
                  <a:srgbClr val="686868"/>
                </a:solidFill>
                <a:latin typeface="Century Gothic"/>
                <a:ea typeface="Yu Gothic"/>
              </a:rPr>
              <a:t>ピーク年出願</a:t>
            </a:r>
          </a:p>
        </p:txBody>
      </p:sp>
      <p:sp>
        <p:nvSpPr>
          <p:cNvPr id="20" name="TextBox 19"/>
          <p:cNvSpPr txBox="1"/>
          <p:nvPr/>
        </p:nvSpPr>
        <p:spPr>
          <a:xfrm>
            <a:off x="6336792" y="2852928"/>
            <a:ext cx="2217420" cy="731520"/>
          </a:xfrm>
          <a:prstGeom prst="rect">
            <a:avLst/>
          </a:prstGeom>
          <a:noFill/>
          <a:effectLst/>
        </p:spPr>
        <p:txBody>
          <a:bodyPr wrap="none">
            <a:spAutoFit/>
          </a:bodyPr>
          <a:lstStyle/>
          <a:p>
            <a:r>
              <a:rPr sz="4000" b="1" lang="ja-JP" altLang="en-US">
                <a:solidFill>
                  <a:srgbClr val="111111"/>
                </a:solidFill>
                <a:latin typeface="Century Gothic"/>
                <a:ea typeface="Yu Gothic"/>
              </a:rPr>
              <a:t>51</a:t>
            </a:r>
            <a:r>
              <a:rPr sz="1300" lang="ja-JP" altLang="en-US">
                <a:solidFill>
                  <a:srgbClr val="686868"/>
                </a:solidFill>
                <a:latin typeface="Century Gothic"/>
                <a:ea typeface="Yu Gothic"/>
              </a:rPr>
              <a:t> ↑ 過去最高</a:t>
            </a:r>
          </a:p>
        </p:txBody>
      </p:sp>
      <p:sp>
        <p:nvSpPr>
          <p:cNvPr id="21" name="TextBox 20"/>
          <p:cNvSpPr txBox="1"/>
          <p:nvPr/>
        </p:nvSpPr>
        <p:spPr>
          <a:xfrm>
            <a:off x="6336792" y="4343400"/>
            <a:ext cx="2217420" cy="274320"/>
          </a:xfrm>
          <a:prstGeom prst="rect">
            <a:avLst/>
          </a:prstGeom>
          <a:noFill/>
          <a:effectLst/>
        </p:spPr>
        <p:txBody>
          <a:bodyPr wrap="none">
            <a:spAutoFit/>
          </a:bodyPr>
          <a:lstStyle/>
          <a:p>
            <a:pPr eaLnBrk="1" hangingPunct="1"/>
            <a:r>
              <a:rPr sz="900" b="0" lang="ja-JP" altLang="en-US">
                <a:solidFill>
                  <a:srgbClr val="686868"/>
                </a:solidFill>
                <a:latin typeface="Century Gothic"/>
                <a:ea typeface="Yu Gothic"/>
              </a:rPr>
              <a:t>件 (2023年)</a:t>
            </a:r>
          </a:p>
        </p:txBody>
      </p:sp>
      <p:sp>
        <p:nvSpPr>
          <p:cNvPr id="22" name="Rectangle 21"/>
          <p:cNvSpPr/>
          <p:nvPr/>
        </p:nvSpPr>
        <p:spPr>
          <a:xfrm>
            <a:off x="8846820" y="2441448"/>
            <a:ext cx="2491740" cy="2286000"/>
          </a:xfrm>
          <a:prstGeom prst="rect">
            <a:avLst/>
          </a:prstGeom>
          <a:solidFill>
            <a:srgbClr val="F1F2F3"/>
          </a:solidFill>
          <a:ln w="9525">
            <a:solidFill>
              <a:srgbClr val="D8DA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8846820" y="2441448"/>
            <a:ext cx="36576" cy="228600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9011412" y="2569464"/>
            <a:ext cx="2217420" cy="228600"/>
          </a:xfrm>
          <a:prstGeom prst="rect">
            <a:avLst/>
          </a:prstGeom>
          <a:noFill/>
          <a:effectLst/>
        </p:spPr>
        <p:txBody>
          <a:bodyPr wrap="none">
            <a:spAutoFit/>
          </a:bodyPr>
          <a:lstStyle/>
          <a:p>
            <a:pPr eaLnBrk="1" hangingPunct="1"/>
            <a:r>
              <a:rPr sz="1000" b="1" lang="ja-JP" altLang="en-US">
                <a:solidFill>
                  <a:srgbClr val="686868"/>
                </a:solidFill>
                <a:latin typeface="Century Gothic"/>
                <a:ea typeface="Yu Gothic"/>
              </a:rPr>
              <a:t>出願人HHI</a:t>
            </a:r>
          </a:p>
        </p:txBody>
      </p:sp>
      <p:sp>
        <p:nvSpPr>
          <p:cNvPr id="25" name="TextBox 24"/>
          <p:cNvSpPr txBox="1"/>
          <p:nvPr/>
        </p:nvSpPr>
        <p:spPr>
          <a:xfrm>
            <a:off x="9011412" y="2852928"/>
            <a:ext cx="2217420" cy="731520"/>
          </a:xfrm>
          <a:prstGeom prst="rect">
            <a:avLst/>
          </a:prstGeom>
          <a:noFill/>
          <a:effectLst/>
        </p:spPr>
        <p:txBody>
          <a:bodyPr wrap="none">
            <a:spAutoFit/>
          </a:bodyPr>
          <a:lstStyle/>
          <a:p>
            <a:r>
              <a:rPr sz="4000" b="1" lang="ja-JP" altLang="en-US">
                <a:solidFill>
                  <a:srgbClr val="111111"/>
                </a:solidFill>
                <a:latin typeface="Century Gothic"/>
                <a:ea typeface="Yu Gothic"/>
              </a:rPr>
              <a:t>0.042</a:t>
            </a:r>
          </a:p>
        </p:txBody>
      </p:sp>
      <p:sp>
        <p:nvSpPr>
          <p:cNvPr id="26" name="TextBox 25"/>
          <p:cNvSpPr txBox="1"/>
          <p:nvPr/>
        </p:nvSpPr>
        <p:spPr>
          <a:xfrm>
            <a:off x="9011412" y="4343400"/>
            <a:ext cx="2217420" cy="274320"/>
          </a:xfrm>
          <a:prstGeom prst="rect">
            <a:avLst/>
          </a:prstGeom>
          <a:noFill/>
          <a:effectLst/>
        </p:spPr>
        <p:txBody>
          <a:bodyPr wrap="none">
            <a:spAutoFit/>
          </a:bodyPr>
          <a:lstStyle/>
          <a:p>
            <a:pPr eaLnBrk="1" hangingPunct="1"/>
            <a:r>
              <a:rPr sz="900" b="0" lang="ja-JP" altLang="en-US">
                <a:solidFill>
                  <a:srgbClr val="686868"/>
                </a:solidFill>
                <a:latin typeface="Century Gothic"/>
                <a:ea typeface="Yu Gothic"/>
              </a:rPr>
              <a:t>競争的・分散</a:t>
            </a:r>
          </a:p>
        </p:txBody>
      </p:sp>
      <p:sp>
        <p:nvSpPr>
          <p:cNvPr id="27" name="TextBox 26"/>
          <p:cNvSpPr txBox="1"/>
          <p:nvPr/>
        </p:nvSpPr>
        <p:spPr>
          <a:xfrm>
            <a:off x="457200" y="6053328"/>
            <a:ext cx="11247120" cy="320040"/>
          </a:xfrm>
          <a:prstGeom prst="rect">
            <a:avLst/>
          </a:prstGeom>
          <a:noFill/>
          <a:effectLst/>
        </p:spPr>
        <p:txBody>
          <a:bodyPr wrap="square">
            <a:noAutofit/>
          </a:bodyPr>
          <a:lstStyle/>
          <a:p>
            <a:pPr eaLnBrk="1" hangingPunct="1"/>
            <a:r>
              <a:rPr sz="900" b="0" lang="ja-JP" altLang="en-US">
                <a:solidFill>
                  <a:srgbClr val="686868"/>
                </a:solidFill>
                <a:latin typeface="Century Gothic"/>
                <a:ea typeface="Yu Gothic"/>
              </a:rPr>
              <a:t>（出所）特許データベース Cyber patent desc（2026-06-14）</a:t>
            </a:r>
          </a:p>
        </p:txBody>
      </p:sp>
      <p:sp>
        <p:nvSpPr>
          <p:cNvPr id="28" name="TextBox 27"/>
          <p:cNvSpPr txBox="1"/>
          <p:nvPr/>
        </p:nvSpPr>
        <p:spPr>
          <a:xfrm>
            <a:off x="11384280" y="6419088"/>
            <a:ext cx="502920" cy="228600"/>
          </a:xfrm>
          <a:prstGeom prst="rect">
            <a:avLst/>
          </a:prstGeom>
          <a:noFill/>
          <a:effectLst/>
        </p:spPr>
        <p:txBody>
          <a:bodyPr wrap="none">
            <a:spAutoFit/>
          </a:bodyPr>
          <a:lstStyle/>
          <a:p>
            <a:pPr eaLnBrk="1" hangingPunct="1" algn="r"/>
            <a:r>
              <a:rPr sz="1000" b="0" lang="ja-JP" altLang="en-US">
                <a:solidFill>
                  <a:srgbClr val="686868"/>
                </a:solidFill>
                <a:latin typeface="Century Gothic"/>
                <a:ea typeface="Yu Gothic"/>
              </a:rPr>
              <a:t>2</a:t>
            </a:r>
          </a:p>
        </p:txBody>
      </p:sp>
      <p:sp>
        <p:nvSpPr>
          <p:cNvPr id="29" name="TextBox 28"/>
          <p:cNvSpPr txBox="1"/>
          <p:nvPr/>
        </p:nvSpPr>
        <p:spPr>
          <a:xfrm>
            <a:off x="7863840" y="3977639"/>
            <a:ext cx="4114800" cy="1463040"/>
          </a:xfrm>
          <a:prstGeom prst="rect">
            <a:avLst/>
          </a:prstGeom>
          <a:noFill/>
          <a:effectLst/>
        </p:spPr>
        <p:txBody>
          <a:bodyPr wrap="none">
            <a:spAutoFit/>
          </a:bodyPr>
          <a:lstStyle/>
          <a:p>
            <a:pPr algn="l"/>
            <a:r>
              <a:rPr sz="4400" b="1">
                <a:solidFill>
                  <a:srgbClr val="ECECEC"/>
                </a:solidFill>
                <a:latin typeface="Century Gothic"/>
              </a:rPr>
              <a:t>+750%</a:t>
            </a:r>
          </a:p>
        </p:txBody>
      </p:sp>
      <p:sp>
        <p:nvSpPr>
          <p:cNvPr id="30" name="TextBox 29"/>
          <p:cNvSpPr txBox="1"/>
          <p:nvPr/>
        </p:nvSpPr>
        <p:spPr>
          <a:xfrm>
            <a:off x="7909560" y="5303520"/>
            <a:ext cx="3657600" cy="320040"/>
          </a:xfrm>
          <a:prstGeom prst="rect">
            <a:avLst/>
          </a:prstGeom>
          <a:noFill/>
          <a:effectLst/>
        </p:spPr>
        <p:txBody>
          <a:bodyPr wrap="none">
            <a:spAutoFit/>
          </a:bodyPr>
          <a:lstStyle/>
          <a:p>
            <a:pPr algn="l"/>
            <a:r>
              <a:rPr sz="1000">
                <a:solidFill>
                  <a:srgbClr val="BDBDBD"/>
                </a:solidFill>
                <a:latin typeface="Yu Gothic"/>
              </a:rPr>
              <a:t>2018年→2023年 出願件数</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22960" y="521208"/>
            <a:ext cx="365760" cy="1270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22960" y="630936"/>
            <a:ext cx="10725912" cy="713232"/>
          </a:xfrm>
          <a:prstGeom prst="rect">
            <a:avLst/>
          </a:prstGeom>
          <a:noFill/>
          <a:effectLst/>
        </p:spPr>
        <p:txBody>
          <a:bodyPr wrap="square">
            <a:noAutofit/>
          </a:bodyPr>
          <a:lstStyle/>
          <a:p>
            <a:pPr eaLnBrk="1" hangingPunct="1">
              <a:lnSpc>
                <a:spcPct val="118000"/>
              </a:lnSpc>
            </a:pPr>
            <a:r>
              <a:rPr b="1" sz="2700" lang="ja-JP" altLang="en-US">
                <a:solidFill>
                  <a:srgbClr val="111111"/>
                </a:solidFill>
                <a:latin typeface="Yu Mincho"/>
                <a:ea typeface="Yu Mincho"/>
              </a:rPr>
              <a:t>本分析の3つの結論 ～「誰が」「何を」「次に何を」</a:t>
            </a:r>
          </a:p>
        </p:txBody>
      </p:sp>
      <p:sp>
        <p:nvSpPr>
          <p:cNvPr id="4" name="Rectangle 3"/>
          <p:cNvSpPr/>
          <p:nvPr/>
        </p:nvSpPr>
        <p:spPr>
          <a:xfrm>
            <a:off x="822960" y="1399032"/>
            <a:ext cx="10725912" cy="822959"/>
          </a:xfrm>
          <a:prstGeom prst="rect">
            <a:avLst/>
          </a:prstGeom>
          <a:solidFill>
            <a:srgbClr val="F6F7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822960" y="1399032"/>
            <a:ext cx="36576" cy="822959"/>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60120" y="1472184"/>
            <a:ext cx="10451592" cy="676655"/>
          </a:xfrm>
          <a:prstGeom prst="rect">
            <a:avLst/>
          </a:prstGeom>
          <a:noFill/>
          <a:effectLst/>
        </p:spPr>
        <p:txBody>
          <a:bodyPr wrap="square">
            <a:noAutofit/>
          </a:bodyPr>
          <a:lstStyle/>
          <a:p>
            <a:pPr eaLnBrk="1" hangingPunct="1">
              <a:lnSpc>
                <a:spcPct val="150000"/>
              </a:lnSpc>
            </a:pPr>
            <a:r>
              <a:rPr sz="1500" b="1" lang="ja-JP" altLang="en-US">
                <a:solidFill>
                  <a:srgbClr val="C51212"/>
                </a:solidFill>
                <a:latin typeface="Century Gothic"/>
                <a:ea typeface="Yu Gothic"/>
              </a:rPr>
              <a:t>■ </a:t>
            </a:r>
            <a:r>
              <a:rPr sz="1500" lang="ja-JP" altLang="en-US">
                <a:solidFill>
                  <a:srgbClr val="111111"/>
                </a:solidFill>
                <a:latin typeface="Century Gothic"/>
                <a:ea typeface="Yu Gothic"/>
              </a:rPr>
              <a:t>件数の俯瞰だけでは見えない</a:t>
            </a:r>
            <a:r>
              <a:rPr b="1" sz="1500" lang="ja-JP" altLang="en-US">
                <a:solidFill>
                  <a:srgbClr val="111111"/>
                </a:solidFill>
                <a:latin typeface="Century Gothic"/>
                <a:ea typeface="Yu Gothic"/>
              </a:rPr>
              <a:t>担い手の交代</a:t>
            </a:r>
            <a:r>
              <a:rPr sz="1500" lang="ja-JP" altLang="en-US">
                <a:solidFill>
                  <a:srgbClr val="111111"/>
                </a:solidFill>
                <a:latin typeface="Century Gothic"/>
                <a:ea typeface="Yu Gothic"/>
              </a:rPr>
              <a:t>と</a:t>
            </a:r>
            <a:r>
              <a:rPr b="1" sz="1500" lang="ja-JP" altLang="en-US">
                <a:solidFill>
                  <a:srgbClr val="111111"/>
                </a:solidFill>
                <a:latin typeface="Century Gothic"/>
                <a:ea typeface="Yu Gothic"/>
              </a:rPr>
              <a:t>技術の重心移動</a:t>
            </a:r>
            <a:r>
              <a:rPr sz="1500" lang="ja-JP" altLang="en-US">
                <a:solidFill>
                  <a:srgbClr val="111111"/>
                </a:solidFill>
                <a:latin typeface="Century Gothic"/>
                <a:ea typeface="Yu Gothic"/>
              </a:rPr>
              <a:t>が、本母集団の本質。</a:t>
            </a:r>
          </a:p>
        </p:txBody>
      </p:sp>
      <p:sp>
        <p:nvSpPr>
          <p:cNvPr id="7" name="Rounded Rectangle 6"/>
          <p:cNvSpPr/>
          <p:nvPr/>
        </p:nvSpPr>
        <p:spPr>
          <a:xfrm>
            <a:off x="457200" y="2313432"/>
            <a:ext cx="3596640" cy="457200"/>
          </a:xfrm>
          <a:prstGeom prst="round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548640" y="2386584"/>
            <a:ext cx="3413760" cy="347472"/>
          </a:xfrm>
          <a:prstGeom prst="rect">
            <a:avLst/>
          </a:prstGeom>
          <a:noFill/>
          <a:effectLst/>
        </p:spPr>
        <p:txBody>
          <a:bodyPr wrap="none">
            <a:spAutoFit/>
          </a:bodyPr>
          <a:lstStyle/>
          <a:p>
            <a:pPr eaLnBrk="1" hangingPunct="1" algn="ctr"/>
            <a:r>
              <a:rPr sz="1400" b="1" lang="ja-JP" altLang="en-US">
                <a:solidFill>
                  <a:srgbClr val="FFFFFF"/>
                </a:solidFill>
                <a:latin typeface="Century Gothic"/>
                <a:ea typeface="Yu Gothic"/>
              </a:rPr>
              <a:t>① 世代交代</a:t>
            </a:r>
          </a:p>
        </p:txBody>
      </p:sp>
      <p:sp>
        <p:nvSpPr>
          <p:cNvPr id="9" name="Rectangle 8"/>
          <p:cNvSpPr/>
          <p:nvPr/>
        </p:nvSpPr>
        <p:spPr>
          <a:xfrm>
            <a:off x="457200" y="2862072"/>
            <a:ext cx="3596640" cy="2990088"/>
          </a:xfrm>
          <a:prstGeom prst="rect">
            <a:avLst/>
          </a:prstGeom>
          <a:solidFill>
            <a:srgbClr val="F1F2F3"/>
          </a:solidFill>
          <a:ln w="9525">
            <a:solidFill>
              <a:srgbClr val="D8DA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585216" y="2971800"/>
            <a:ext cx="3340608" cy="2770632"/>
          </a:xfrm>
          <a:prstGeom prst="rect">
            <a:avLst/>
          </a:prstGeom>
          <a:noFill/>
          <a:effectLst/>
        </p:spPr>
        <p:txBody>
          <a:bodyPr wrap="square">
            <a:noAutofit/>
          </a:bodyPr>
          <a:lstStyle/>
          <a:p>
            <a:pPr eaLnBrk="1" hangingPunct="1">
              <a:lnSpc>
                <a:spcPct val="135000"/>
              </a:lnSpc>
              <a:spcAft>
                <a:spcPts val="400"/>
              </a:spcAft>
            </a:pPr>
            <a:r>
              <a:rPr b="0" sz="1200" lang="ja-JP" altLang="en-US">
                <a:solidFill>
                  <a:srgbClr val="111111"/>
                </a:solidFill>
                <a:latin typeface="Century Gothic"/>
                <a:ea typeface="Yu Gothic"/>
              </a:rPr>
              <a:t>・旧勢力(帝人化成・三菱電機・ソニー)は直近出願ゼロ＝撤退/休眠</a:t>
            </a:r>
          </a:p>
          <a:p>
            <a:pPr eaLnBrk="1" hangingPunct="1">
              <a:lnSpc>
                <a:spcPct val="135000"/>
              </a:lnSpc>
              <a:spcAft>
                <a:spcPts val="400"/>
              </a:spcAft>
            </a:pPr>
            <a:r>
              <a:rPr b="0" sz="1200" lang="ja-JP" altLang="en-US">
                <a:solidFill>
                  <a:srgbClr val="111111"/>
                </a:solidFill>
                <a:latin typeface="Century Gothic"/>
                <a:ea typeface="Yu Gothic"/>
              </a:rPr>
              <a:t>・東ソー・LG化学・旭化成・住友化学が直近に集中投下</a:t>
            </a:r>
          </a:p>
          <a:p>
            <a:pPr eaLnBrk="1" hangingPunct="1">
              <a:lnSpc>
                <a:spcPct val="135000"/>
              </a:lnSpc>
              <a:spcAft>
                <a:spcPts val="400"/>
              </a:spcAft>
            </a:pPr>
            <a:r>
              <a:rPr b="0" sz="1200" lang="ja-JP" altLang="en-US">
                <a:solidFill>
                  <a:srgbClr val="111111"/>
                </a:solidFill>
                <a:latin typeface="Century Gothic"/>
                <a:ea typeface="Yu Gothic"/>
              </a:rPr>
              <a:t>・東レのみ全期間継続＝本命プレイヤー</a:t>
            </a:r>
          </a:p>
        </p:txBody>
      </p:sp>
      <p:sp>
        <p:nvSpPr>
          <p:cNvPr id="11" name="Rounded Rectangle 10"/>
          <p:cNvSpPr/>
          <p:nvPr/>
        </p:nvSpPr>
        <p:spPr>
          <a:xfrm>
            <a:off x="4282440" y="2313432"/>
            <a:ext cx="3596640" cy="457200"/>
          </a:xfrm>
          <a:prstGeom prst="roundRect">
            <a:avLst/>
          </a:prstGeom>
          <a:solidFill>
            <a:srgbClr val="11111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4373880" y="2386584"/>
            <a:ext cx="3413760" cy="347472"/>
          </a:xfrm>
          <a:prstGeom prst="rect">
            <a:avLst/>
          </a:prstGeom>
          <a:noFill/>
          <a:effectLst/>
        </p:spPr>
        <p:txBody>
          <a:bodyPr wrap="none">
            <a:spAutoFit/>
          </a:bodyPr>
          <a:lstStyle/>
          <a:p>
            <a:pPr eaLnBrk="1" hangingPunct="1" algn="ctr"/>
            <a:r>
              <a:rPr sz="1400" b="1" lang="ja-JP" altLang="en-US">
                <a:solidFill>
                  <a:srgbClr val="FFFFFF"/>
                </a:solidFill>
                <a:latin typeface="Century Gothic"/>
                <a:ea typeface="Yu Gothic"/>
              </a:rPr>
              <a:t>② 技術の重心移動</a:t>
            </a:r>
          </a:p>
        </p:txBody>
      </p:sp>
      <p:sp>
        <p:nvSpPr>
          <p:cNvPr id="13" name="Rectangle 12"/>
          <p:cNvSpPr/>
          <p:nvPr/>
        </p:nvSpPr>
        <p:spPr>
          <a:xfrm>
            <a:off x="4282440" y="2862072"/>
            <a:ext cx="3596640" cy="2990088"/>
          </a:xfrm>
          <a:prstGeom prst="rect">
            <a:avLst/>
          </a:prstGeom>
          <a:solidFill>
            <a:srgbClr val="F1F2F3"/>
          </a:solidFill>
          <a:ln w="9525">
            <a:solidFill>
              <a:srgbClr val="D8DA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410456" y="2971800"/>
            <a:ext cx="3340608" cy="2770632"/>
          </a:xfrm>
          <a:prstGeom prst="rect">
            <a:avLst/>
          </a:prstGeom>
          <a:noFill/>
          <a:effectLst/>
        </p:spPr>
        <p:txBody>
          <a:bodyPr wrap="square">
            <a:noAutofit/>
          </a:bodyPr>
          <a:lstStyle/>
          <a:p>
            <a:pPr eaLnBrk="1" hangingPunct="1">
              <a:lnSpc>
                <a:spcPct val="135000"/>
              </a:lnSpc>
              <a:spcAft>
                <a:spcPts val="400"/>
              </a:spcAft>
            </a:pPr>
            <a:r>
              <a:rPr b="0" sz="1200" lang="ja-JP" altLang="en-US">
                <a:solidFill>
                  <a:srgbClr val="111111"/>
                </a:solidFill>
                <a:latin typeface="Century Gothic"/>
                <a:ea typeface="Yu Gothic"/>
              </a:rPr>
              <a:t>・「単一樹脂の再生」から「再生材を含む高機能組成物」へ</a:t>
            </a:r>
          </a:p>
          <a:p>
            <a:pPr eaLnBrk="1" hangingPunct="1">
              <a:lnSpc>
                <a:spcPct val="135000"/>
              </a:lnSpc>
              <a:spcAft>
                <a:spcPts val="400"/>
              </a:spcAft>
            </a:pPr>
            <a:r>
              <a:rPr b="0" sz="1200" lang="ja-JP" altLang="en-US">
                <a:solidFill>
                  <a:srgbClr val="111111"/>
                </a:solidFill>
                <a:latin typeface="Century Gothic"/>
                <a:ea typeface="Yu Gothic"/>
              </a:rPr>
              <a:t>・急上昇語=ペレット/由来/リサイクル材、急減語=芳香族PC/PET</a:t>
            </a:r>
          </a:p>
          <a:p>
            <a:pPr eaLnBrk="1" hangingPunct="1">
              <a:lnSpc>
                <a:spcPct val="135000"/>
              </a:lnSpc>
              <a:spcAft>
                <a:spcPts val="400"/>
              </a:spcAft>
            </a:pPr>
            <a:r>
              <a:rPr b="0" sz="1200" lang="ja-JP" altLang="en-US">
                <a:solidFill>
                  <a:srgbClr val="111111"/>
                </a:solidFill>
                <a:latin typeface="Century Gothic"/>
                <a:ea typeface="Yu Gothic"/>
              </a:rPr>
              <a:t>・課題の主訴求は環境対応＋機械特性/成形性の両立</a:t>
            </a:r>
          </a:p>
        </p:txBody>
      </p:sp>
      <p:sp>
        <p:nvSpPr>
          <p:cNvPr id="15" name="Rounded Rectangle 14"/>
          <p:cNvSpPr/>
          <p:nvPr/>
        </p:nvSpPr>
        <p:spPr>
          <a:xfrm>
            <a:off x="8107680" y="2313432"/>
            <a:ext cx="3596640" cy="457200"/>
          </a:xfrm>
          <a:prstGeom prst="roundRect">
            <a:avLst/>
          </a:prstGeom>
          <a:solidFill>
            <a:srgbClr val="68686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8199120" y="2386584"/>
            <a:ext cx="3413760" cy="347472"/>
          </a:xfrm>
          <a:prstGeom prst="rect">
            <a:avLst/>
          </a:prstGeom>
          <a:noFill/>
          <a:effectLst/>
        </p:spPr>
        <p:txBody>
          <a:bodyPr wrap="none">
            <a:spAutoFit/>
          </a:bodyPr>
          <a:lstStyle/>
          <a:p>
            <a:pPr eaLnBrk="1" hangingPunct="1" algn="ctr"/>
            <a:r>
              <a:rPr sz="1400" b="1" lang="ja-JP" altLang="en-US">
                <a:solidFill>
                  <a:srgbClr val="FFFFFF"/>
                </a:solidFill>
                <a:latin typeface="Century Gothic"/>
                <a:ea typeface="Yu Gothic"/>
              </a:rPr>
              <a:t>③ 次の主戦場</a:t>
            </a:r>
          </a:p>
        </p:txBody>
      </p:sp>
      <p:sp>
        <p:nvSpPr>
          <p:cNvPr id="17" name="Rectangle 16"/>
          <p:cNvSpPr/>
          <p:nvPr/>
        </p:nvSpPr>
        <p:spPr>
          <a:xfrm>
            <a:off x="8107680" y="2862072"/>
            <a:ext cx="3596640" cy="2990088"/>
          </a:xfrm>
          <a:prstGeom prst="rect">
            <a:avLst/>
          </a:prstGeom>
          <a:solidFill>
            <a:srgbClr val="F1F2F3"/>
          </a:solidFill>
          <a:ln w="9525">
            <a:solidFill>
              <a:srgbClr val="D8DA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235696" y="2971800"/>
            <a:ext cx="3340608" cy="2770632"/>
          </a:xfrm>
          <a:prstGeom prst="rect">
            <a:avLst/>
          </a:prstGeom>
          <a:noFill/>
          <a:effectLst/>
        </p:spPr>
        <p:txBody>
          <a:bodyPr wrap="square">
            <a:noAutofit/>
          </a:bodyPr>
          <a:lstStyle/>
          <a:p>
            <a:pPr eaLnBrk="1" hangingPunct="1">
              <a:lnSpc>
                <a:spcPct val="135000"/>
              </a:lnSpc>
              <a:spcAft>
                <a:spcPts val="400"/>
              </a:spcAft>
            </a:pPr>
            <a:r>
              <a:rPr b="0" sz="1200" lang="ja-JP" altLang="en-US">
                <a:solidFill>
                  <a:srgbClr val="111111"/>
                </a:solidFill>
                <a:latin typeface="Century Gothic"/>
                <a:ea typeface="Yu Gothic"/>
              </a:rPr>
              <a:t>・化学的リサイクル(解重合)が東レを起点に萌芽</a:t>
            </a:r>
          </a:p>
          <a:p>
            <a:pPr eaLnBrk="1" hangingPunct="1">
              <a:lnSpc>
                <a:spcPct val="135000"/>
              </a:lnSpc>
              <a:spcAft>
                <a:spcPts val="400"/>
              </a:spcAft>
            </a:pPr>
            <a:r>
              <a:rPr b="0" sz="1200" lang="ja-JP" altLang="en-US">
                <a:solidFill>
                  <a:srgbClr val="111111"/>
                </a:solidFill>
                <a:latin typeface="Century Gothic"/>
                <a:ea typeface="Yu Gothic"/>
              </a:rPr>
              <a:t>・PETクラスタは小さく衰退、PO系組成物が量の中心</a:t>
            </a:r>
          </a:p>
          <a:p>
            <a:pPr eaLnBrk="1" hangingPunct="1">
              <a:lnSpc>
                <a:spcPct val="135000"/>
              </a:lnSpc>
              <a:spcAft>
                <a:spcPts val="400"/>
              </a:spcAft>
            </a:pPr>
            <a:r>
              <a:rPr b="0" sz="1200" lang="ja-JP" altLang="en-US">
                <a:solidFill>
                  <a:srgbClr val="111111"/>
                </a:solidFill>
                <a:latin typeface="Century Gothic"/>
                <a:ea typeface="Yu Gothic"/>
              </a:rPr>
              <a:t>・相溶化・異物除去・品質安定化が参入の技術的難所</a:t>
            </a:r>
          </a:p>
        </p:txBody>
      </p:sp>
      <p:sp>
        <p:nvSpPr>
          <p:cNvPr id="19" name="TextBox 18"/>
          <p:cNvSpPr txBox="1"/>
          <p:nvPr/>
        </p:nvSpPr>
        <p:spPr>
          <a:xfrm>
            <a:off x="457200" y="6053328"/>
            <a:ext cx="11247120" cy="320040"/>
          </a:xfrm>
          <a:prstGeom prst="rect">
            <a:avLst/>
          </a:prstGeom>
          <a:noFill/>
          <a:effectLst/>
        </p:spPr>
        <p:txBody>
          <a:bodyPr wrap="square">
            <a:noAutofit/>
          </a:bodyPr>
          <a:lstStyle/>
          <a:p>
            <a:pPr eaLnBrk="1" hangingPunct="1"/>
            <a:r>
              <a:rPr sz="900" b="0" lang="ja-JP" altLang="en-US">
                <a:solidFill>
                  <a:srgbClr val="686868"/>
                </a:solidFill>
                <a:latin typeface="Century Gothic"/>
                <a:ea typeface="Yu Gothic"/>
              </a:rPr>
              <a:t>（出所）特許データベース Cyber patent desc（2026-06-14）</a:t>
            </a:r>
          </a:p>
        </p:txBody>
      </p:sp>
      <p:sp>
        <p:nvSpPr>
          <p:cNvPr id="20" name="TextBox 19"/>
          <p:cNvSpPr txBox="1"/>
          <p:nvPr/>
        </p:nvSpPr>
        <p:spPr>
          <a:xfrm>
            <a:off x="11384280" y="6419088"/>
            <a:ext cx="502920" cy="228600"/>
          </a:xfrm>
          <a:prstGeom prst="rect">
            <a:avLst/>
          </a:prstGeom>
          <a:noFill/>
          <a:effectLst/>
        </p:spPr>
        <p:txBody>
          <a:bodyPr wrap="none">
            <a:spAutoFit/>
          </a:bodyPr>
          <a:lstStyle/>
          <a:p>
            <a:pPr eaLnBrk="1" hangingPunct="1" algn="r"/>
            <a:r>
              <a:rPr sz="1000" b="0" lang="ja-JP" altLang="en-US">
                <a:solidFill>
                  <a:srgbClr val="686868"/>
                </a:solidFill>
                <a:latin typeface="Century Gothic"/>
                <a:ea typeface="Yu Gothic"/>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22960" y="521208"/>
            <a:ext cx="365760" cy="1270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22960" y="630936"/>
            <a:ext cx="10725912" cy="640080"/>
          </a:xfrm>
          <a:prstGeom prst="rect">
            <a:avLst/>
          </a:prstGeom>
          <a:noFill/>
          <a:effectLst/>
        </p:spPr>
        <p:txBody>
          <a:bodyPr wrap="square">
            <a:noAutofit/>
          </a:bodyPr>
          <a:lstStyle/>
          <a:p>
            <a:pPr eaLnBrk="1" hangingPunct="1">
              <a:lnSpc>
                <a:spcPct val="118000"/>
              </a:lnSpc>
            </a:pPr>
            <a:r>
              <a:rPr b="1" sz="3000" lang="ja-JP" altLang="en-US">
                <a:solidFill>
                  <a:srgbClr val="111111"/>
                </a:solidFill>
                <a:latin typeface="Yu Mincho"/>
                <a:ea typeface="Yu Mincho"/>
              </a:rPr>
              <a:t>目次</a:t>
            </a:r>
          </a:p>
        </p:txBody>
      </p:sp>
      <p:sp>
        <p:nvSpPr>
          <p:cNvPr id="4" name="Rectangle 3"/>
          <p:cNvSpPr/>
          <p:nvPr/>
        </p:nvSpPr>
        <p:spPr>
          <a:xfrm>
            <a:off x="1371600" y="1463040"/>
            <a:ext cx="9418320" cy="438912"/>
          </a:xfrm>
          <a:prstGeom prst="rect">
            <a:avLst/>
          </a:prstGeom>
          <a:solidFill>
            <a:srgbClr val="F1F2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1554480" y="1508760"/>
            <a:ext cx="731520" cy="347472"/>
          </a:xfrm>
          <a:prstGeom prst="rect">
            <a:avLst/>
          </a:prstGeom>
          <a:noFill/>
          <a:effectLst/>
        </p:spPr>
        <p:txBody>
          <a:bodyPr wrap="none">
            <a:spAutoFit/>
          </a:bodyPr>
          <a:lstStyle/>
          <a:p>
            <a:pPr eaLnBrk="1" hangingPunct="1"/>
            <a:r>
              <a:rPr sz="1400" b="1" lang="ja-JP" altLang="en-US">
                <a:solidFill>
                  <a:srgbClr val="111111"/>
                </a:solidFill>
                <a:latin typeface="Century Gothic"/>
                <a:ea typeface="Yu Gothic"/>
              </a:rPr>
              <a:t>1.</a:t>
            </a:r>
          </a:p>
        </p:txBody>
      </p:sp>
      <p:sp>
        <p:nvSpPr>
          <p:cNvPr id="6" name="TextBox 5"/>
          <p:cNvSpPr txBox="1"/>
          <p:nvPr/>
        </p:nvSpPr>
        <p:spPr>
          <a:xfrm>
            <a:off x="2468880" y="1508760"/>
            <a:ext cx="6400800" cy="347472"/>
          </a:xfrm>
          <a:prstGeom prst="rect">
            <a:avLst/>
          </a:prstGeom>
          <a:noFill/>
          <a:effectLst/>
        </p:spPr>
        <p:txBody>
          <a:bodyPr wrap="none">
            <a:spAutoFit/>
          </a:bodyPr>
          <a:lstStyle/>
          <a:p>
            <a:pPr eaLnBrk="1" hangingPunct="1"/>
            <a:r>
              <a:rPr sz="1400" b="1" lang="ja-JP" altLang="en-US">
                <a:solidFill>
                  <a:srgbClr val="111111"/>
                </a:solidFill>
                <a:latin typeface="Century Gothic"/>
                <a:ea typeface="Yu Gothic"/>
              </a:rPr>
              <a:t>本分析の前提（母集団設計と視座）</a:t>
            </a:r>
          </a:p>
        </p:txBody>
      </p:sp>
      <p:sp>
        <p:nvSpPr>
          <p:cNvPr id="7" name="TextBox 6"/>
          <p:cNvSpPr txBox="1"/>
          <p:nvPr/>
        </p:nvSpPr>
        <p:spPr>
          <a:xfrm>
            <a:off x="9144000" y="1508760"/>
            <a:ext cx="1371600" cy="347472"/>
          </a:xfrm>
          <a:prstGeom prst="rect">
            <a:avLst/>
          </a:prstGeom>
          <a:noFill/>
          <a:effectLst/>
        </p:spPr>
        <p:txBody>
          <a:bodyPr wrap="none">
            <a:spAutoFit/>
          </a:bodyPr>
          <a:lstStyle/>
          <a:p>
            <a:pPr eaLnBrk="1" hangingPunct="1" algn="r"/>
            <a:r>
              <a:rPr sz="1400" b="0" lang="ja-JP" altLang="en-US">
                <a:solidFill>
                  <a:srgbClr val="686868"/>
                </a:solidFill>
                <a:latin typeface="Century Gothic"/>
                <a:ea typeface="Yu Gothic"/>
              </a:rPr>
              <a:t>P5</a:t>
            </a:r>
          </a:p>
        </p:txBody>
      </p:sp>
      <p:sp>
        <p:nvSpPr>
          <p:cNvPr id="8" name="TextBox 7"/>
          <p:cNvSpPr txBox="1"/>
          <p:nvPr/>
        </p:nvSpPr>
        <p:spPr>
          <a:xfrm>
            <a:off x="1554480" y="1947672"/>
            <a:ext cx="731520" cy="347472"/>
          </a:xfrm>
          <a:prstGeom prst="rect">
            <a:avLst/>
          </a:prstGeom>
          <a:noFill/>
          <a:effectLst/>
        </p:spPr>
        <p:txBody>
          <a:bodyPr wrap="none">
            <a:spAutoFit/>
          </a:bodyPr>
          <a:lstStyle/>
          <a:p>
            <a:pPr eaLnBrk="1" hangingPunct="1"/>
            <a:r>
              <a:rPr sz="1400" b="1" lang="ja-JP" altLang="en-US">
                <a:solidFill>
                  <a:srgbClr val="111111"/>
                </a:solidFill>
                <a:latin typeface="Century Gothic"/>
                <a:ea typeface="Yu Gothic"/>
              </a:rPr>
              <a:t>2.</a:t>
            </a:r>
          </a:p>
        </p:txBody>
      </p:sp>
      <p:sp>
        <p:nvSpPr>
          <p:cNvPr id="9" name="TextBox 8"/>
          <p:cNvSpPr txBox="1"/>
          <p:nvPr/>
        </p:nvSpPr>
        <p:spPr>
          <a:xfrm>
            <a:off x="2468880" y="1947672"/>
            <a:ext cx="6400800" cy="347472"/>
          </a:xfrm>
          <a:prstGeom prst="rect">
            <a:avLst/>
          </a:prstGeom>
          <a:noFill/>
          <a:effectLst/>
        </p:spPr>
        <p:txBody>
          <a:bodyPr wrap="none">
            <a:spAutoFit/>
          </a:bodyPr>
          <a:lstStyle/>
          <a:p>
            <a:pPr eaLnBrk="1" hangingPunct="1"/>
            <a:r>
              <a:rPr sz="1400" b="1" lang="ja-JP" altLang="en-US">
                <a:solidFill>
                  <a:srgbClr val="111111"/>
                </a:solidFill>
                <a:latin typeface="Century Gothic"/>
                <a:ea typeface="Yu Gothic"/>
              </a:rPr>
              <a:t>市場俯瞰 — 出願トレンドと担い手の世代交代</a:t>
            </a:r>
          </a:p>
        </p:txBody>
      </p:sp>
      <p:sp>
        <p:nvSpPr>
          <p:cNvPr id="10" name="TextBox 9"/>
          <p:cNvSpPr txBox="1"/>
          <p:nvPr/>
        </p:nvSpPr>
        <p:spPr>
          <a:xfrm>
            <a:off x="9144000" y="1947672"/>
            <a:ext cx="1371600" cy="347472"/>
          </a:xfrm>
          <a:prstGeom prst="rect">
            <a:avLst/>
          </a:prstGeom>
          <a:noFill/>
          <a:effectLst/>
        </p:spPr>
        <p:txBody>
          <a:bodyPr wrap="none">
            <a:spAutoFit/>
          </a:bodyPr>
          <a:lstStyle/>
          <a:p>
            <a:pPr eaLnBrk="1" hangingPunct="1" algn="r"/>
            <a:r>
              <a:rPr sz="1400" b="0" lang="ja-JP" altLang="en-US">
                <a:solidFill>
                  <a:srgbClr val="686868"/>
                </a:solidFill>
                <a:latin typeface="Century Gothic"/>
                <a:ea typeface="Yu Gothic"/>
              </a:rPr>
              <a:t>P8</a:t>
            </a:r>
          </a:p>
        </p:txBody>
      </p:sp>
      <p:sp>
        <p:nvSpPr>
          <p:cNvPr id="11" name="Rectangle 10"/>
          <p:cNvSpPr/>
          <p:nvPr/>
        </p:nvSpPr>
        <p:spPr>
          <a:xfrm>
            <a:off x="1371600" y="2340864"/>
            <a:ext cx="9418320" cy="438912"/>
          </a:xfrm>
          <a:prstGeom prst="rect">
            <a:avLst/>
          </a:prstGeom>
          <a:solidFill>
            <a:srgbClr val="F1F2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554480" y="2386584"/>
            <a:ext cx="731520" cy="347472"/>
          </a:xfrm>
          <a:prstGeom prst="rect">
            <a:avLst/>
          </a:prstGeom>
          <a:noFill/>
          <a:effectLst/>
        </p:spPr>
        <p:txBody>
          <a:bodyPr wrap="none">
            <a:spAutoFit/>
          </a:bodyPr>
          <a:lstStyle/>
          <a:p>
            <a:pPr eaLnBrk="1" hangingPunct="1"/>
            <a:r>
              <a:rPr sz="1400" b="1" lang="ja-JP" altLang="en-US">
                <a:solidFill>
                  <a:srgbClr val="111111"/>
                </a:solidFill>
                <a:latin typeface="Century Gothic"/>
                <a:ea typeface="Yu Gothic"/>
              </a:rPr>
              <a:t>3.</a:t>
            </a:r>
          </a:p>
        </p:txBody>
      </p:sp>
      <p:sp>
        <p:nvSpPr>
          <p:cNvPr id="13" name="TextBox 12"/>
          <p:cNvSpPr txBox="1"/>
          <p:nvPr/>
        </p:nvSpPr>
        <p:spPr>
          <a:xfrm>
            <a:off x="2468880" y="2386584"/>
            <a:ext cx="6400800" cy="347472"/>
          </a:xfrm>
          <a:prstGeom prst="rect">
            <a:avLst/>
          </a:prstGeom>
          <a:noFill/>
          <a:effectLst/>
        </p:spPr>
        <p:txBody>
          <a:bodyPr wrap="none">
            <a:spAutoFit/>
          </a:bodyPr>
          <a:lstStyle/>
          <a:p>
            <a:pPr eaLnBrk="1" hangingPunct="1"/>
            <a:r>
              <a:rPr sz="1400" b="1" lang="ja-JP" altLang="en-US">
                <a:solidFill>
                  <a:srgbClr val="111111"/>
                </a:solidFill>
                <a:latin typeface="Century Gothic"/>
                <a:ea typeface="Yu Gothic"/>
              </a:rPr>
              <a:t>技術構造 — 課題・解決手段・樹脂分類</a:t>
            </a:r>
          </a:p>
        </p:txBody>
      </p:sp>
      <p:sp>
        <p:nvSpPr>
          <p:cNvPr id="14" name="TextBox 13"/>
          <p:cNvSpPr txBox="1"/>
          <p:nvPr/>
        </p:nvSpPr>
        <p:spPr>
          <a:xfrm>
            <a:off x="9144000" y="2386584"/>
            <a:ext cx="1371600" cy="347472"/>
          </a:xfrm>
          <a:prstGeom prst="rect">
            <a:avLst/>
          </a:prstGeom>
          <a:noFill/>
          <a:effectLst/>
        </p:spPr>
        <p:txBody>
          <a:bodyPr wrap="none">
            <a:spAutoFit/>
          </a:bodyPr>
          <a:lstStyle/>
          <a:p>
            <a:pPr eaLnBrk="1" hangingPunct="1" algn="r"/>
            <a:r>
              <a:rPr sz="1400" b="0" lang="ja-JP" altLang="en-US">
                <a:solidFill>
                  <a:srgbClr val="686868"/>
                </a:solidFill>
                <a:latin typeface="Century Gothic"/>
                <a:ea typeface="Yu Gothic"/>
              </a:rPr>
              <a:t>P16</a:t>
            </a:r>
          </a:p>
        </p:txBody>
      </p:sp>
      <p:sp>
        <p:nvSpPr>
          <p:cNvPr id="15" name="TextBox 14"/>
          <p:cNvSpPr txBox="1"/>
          <p:nvPr/>
        </p:nvSpPr>
        <p:spPr>
          <a:xfrm>
            <a:off x="1554480" y="2825496"/>
            <a:ext cx="731520" cy="347472"/>
          </a:xfrm>
          <a:prstGeom prst="rect">
            <a:avLst/>
          </a:prstGeom>
          <a:noFill/>
          <a:effectLst/>
        </p:spPr>
        <p:txBody>
          <a:bodyPr wrap="none">
            <a:spAutoFit/>
          </a:bodyPr>
          <a:lstStyle/>
          <a:p>
            <a:pPr eaLnBrk="1" hangingPunct="1"/>
            <a:r>
              <a:rPr sz="1400" b="1" lang="ja-JP" altLang="en-US">
                <a:solidFill>
                  <a:srgbClr val="111111"/>
                </a:solidFill>
                <a:latin typeface="Century Gothic"/>
                <a:ea typeface="Yu Gothic"/>
              </a:rPr>
              <a:t>4.</a:t>
            </a:r>
          </a:p>
        </p:txBody>
      </p:sp>
      <p:sp>
        <p:nvSpPr>
          <p:cNvPr id="16" name="TextBox 15"/>
          <p:cNvSpPr txBox="1"/>
          <p:nvPr/>
        </p:nvSpPr>
        <p:spPr>
          <a:xfrm>
            <a:off x="2468880" y="2825496"/>
            <a:ext cx="6400800" cy="347472"/>
          </a:xfrm>
          <a:prstGeom prst="rect">
            <a:avLst/>
          </a:prstGeom>
          <a:noFill/>
          <a:effectLst/>
        </p:spPr>
        <p:txBody>
          <a:bodyPr wrap="none">
            <a:spAutoFit/>
          </a:bodyPr>
          <a:lstStyle/>
          <a:p>
            <a:pPr eaLnBrk="1" hangingPunct="1"/>
            <a:r>
              <a:rPr sz="1400" b="1" lang="ja-JP" altLang="en-US">
                <a:solidFill>
                  <a:srgbClr val="111111"/>
                </a:solidFill>
                <a:latin typeface="Century Gothic"/>
                <a:ea typeface="Yu Gothic"/>
              </a:rPr>
              <a:t>技術ランドスケープ — クラスタと代表特許</a:t>
            </a:r>
          </a:p>
        </p:txBody>
      </p:sp>
      <p:sp>
        <p:nvSpPr>
          <p:cNvPr id="17" name="TextBox 16"/>
          <p:cNvSpPr txBox="1"/>
          <p:nvPr/>
        </p:nvSpPr>
        <p:spPr>
          <a:xfrm>
            <a:off x="9144000" y="2825496"/>
            <a:ext cx="1371600" cy="347472"/>
          </a:xfrm>
          <a:prstGeom prst="rect">
            <a:avLst/>
          </a:prstGeom>
          <a:noFill/>
          <a:effectLst/>
        </p:spPr>
        <p:txBody>
          <a:bodyPr wrap="none">
            <a:spAutoFit/>
          </a:bodyPr>
          <a:lstStyle/>
          <a:p>
            <a:pPr eaLnBrk="1" hangingPunct="1" algn="r"/>
            <a:r>
              <a:rPr sz="1400" b="0" lang="ja-JP" altLang="en-US">
                <a:solidFill>
                  <a:srgbClr val="686868"/>
                </a:solidFill>
                <a:latin typeface="Century Gothic"/>
                <a:ea typeface="Yu Gothic"/>
              </a:rPr>
              <a:t>P20</a:t>
            </a:r>
          </a:p>
        </p:txBody>
      </p:sp>
      <p:sp>
        <p:nvSpPr>
          <p:cNvPr id="18" name="Rectangle 17"/>
          <p:cNvSpPr/>
          <p:nvPr/>
        </p:nvSpPr>
        <p:spPr>
          <a:xfrm>
            <a:off x="1371600" y="3218688"/>
            <a:ext cx="9418320" cy="438912"/>
          </a:xfrm>
          <a:prstGeom prst="rect">
            <a:avLst/>
          </a:prstGeom>
          <a:solidFill>
            <a:srgbClr val="F1F2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1554480" y="3264408"/>
            <a:ext cx="731520" cy="347472"/>
          </a:xfrm>
          <a:prstGeom prst="rect">
            <a:avLst/>
          </a:prstGeom>
          <a:noFill/>
          <a:effectLst/>
        </p:spPr>
        <p:txBody>
          <a:bodyPr wrap="none">
            <a:spAutoFit/>
          </a:bodyPr>
          <a:lstStyle/>
          <a:p>
            <a:pPr eaLnBrk="1" hangingPunct="1"/>
            <a:r>
              <a:rPr sz="1400" b="1" lang="ja-JP" altLang="en-US">
                <a:solidFill>
                  <a:srgbClr val="111111"/>
                </a:solidFill>
                <a:latin typeface="Century Gothic"/>
                <a:ea typeface="Yu Gothic"/>
              </a:rPr>
              <a:t>5.</a:t>
            </a:r>
          </a:p>
        </p:txBody>
      </p:sp>
      <p:sp>
        <p:nvSpPr>
          <p:cNvPr id="20" name="TextBox 19"/>
          <p:cNvSpPr txBox="1"/>
          <p:nvPr/>
        </p:nvSpPr>
        <p:spPr>
          <a:xfrm>
            <a:off x="2468880" y="3264408"/>
            <a:ext cx="6400800" cy="347472"/>
          </a:xfrm>
          <a:prstGeom prst="rect">
            <a:avLst/>
          </a:prstGeom>
          <a:noFill/>
          <a:effectLst/>
        </p:spPr>
        <p:txBody>
          <a:bodyPr wrap="none">
            <a:spAutoFit/>
          </a:bodyPr>
          <a:lstStyle/>
          <a:p>
            <a:pPr eaLnBrk="1" hangingPunct="1"/>
            <a:r>
              <a:rPr sz="1400" b="1" lang="ja-JP" altLang="en-US">
                <a:solidFill>
                  <a:srgbClr val="111111"/>
                </a:solidFill>
                <a:latin typeface="Century Gothic"/>
                <a:ea typeface="Yu Gothic"/>
              </a:rPr>
              <a:t>動態分析 — 件数と勢いの乖離</a:t>
            </a:r>
          </a:p>
        </p:txBody>
      </p:sp>
      <p:sp>
        <p:nvSpPr>
          <p:cNvPr id="21" name="TextBox 20"/>
          <p:cNvSpPr txBox="1"/>
          <p:nvPr/>
        </p:nvSpPr>
        <p:spPr>
          <a:xfrm>
            <a:off x="9144000" y="3264408"/>
            <a:ext cx="1371600" cy="347472"/>
          </a:xfrm>
          <a:prstGeom prst="rect">
            <a:avLst/>
          </a:prstGeom>
          <a:noFill/>
          <a:effectLst/>
        </p:spPr>
        <p:txBody>
          <a:bodyPr wrap="none">
            <a:spAutoFit/>
          </a:bodyPr>
          <a:lstStyle/>
          <a:p>
            <a:pPr eaLnBrk="1" hangingPunct="1" algn="r"/>
            <a:r>
              <a:rPr sz="1400" b="0" lang="ja-JP" altLang="en-US">
                <a:solidFill>
                  <a:srgbClr val="686868"/>
                </a:solidFill>
                <a:latin typeface="Century Gothic"/>
                <a:ea typeface="Yu Gothic"/>
              </a:rPr>
              <a:t>P28</a:t>
            </a:r>
          </a:p>
        </p:txBody>
      </p:sp>
      <p:sp>
        <p:nvSpPr>
          <p:cNvPr id="22" name="TextBox 21"/>
          <p:cNvSpPr txBox="1"/>
          <p:nvPr/>
        </p:nvSpPr>
        <p:spPr>
          <a:xfrm>
            <a:off x="1554480" y="3703320"/>
            <a:ext cx="731520" cy="347472"/>
          </a:xfrm>
          <a:prstGeom prst="rect">
            <a:avLst/>
          </a:prstGeom>
          <a:noFill/>
          <a:effectLst/>
        </p:spPr>
        <p:txBody>
          <a:bodyPr wrap="none">
            <a:spAutoFit/>
          </a:bodyPr>
          <a:lstStyle/>
          <a:p>
            <a:pPr eaLnBrk="1" hangingPunct="1"/>
            <a:r>
              <a:rPr sz="1400" b="1" lang="ja-JP" altLang="en-US">
                <a:solidFill>
                  <a:srgbClr val="111111"/>
                </a:solidFill>
                <a:latin typeface="Century Gothic"/>
                <a:ea typeface="Yu Gothic"/>
              </a:rPr>
              <a:t>6.</a:t>
            </a:r>
          </a:p>
        </p:txBody>
      </p:sp>
      <p:sp>
        <p:nvSpPr>
          <p:cNvPr id="23" name="TextBox 22"/>
          <p:cNvSpPr txBox="1"/>
          <p:nvPr/>
        </p:nvSpPr>
        <p:spPr>
          <a:xfrm>
            <a:off x="2468880" y="3703320"/>
            <a:ext cx="6400800" cy="347472"/>
          </a:xfrm>
          <a:prstGeom prst="rect">
            <a:avLst/>
          </a:prstGeom>
          <a:noFill/>
          <a:effectLst/>
        </p:spPr>
        <p:txBody>
          <a:bodyPr wrap="none">
            <a:spAutoFit/>
          </a:bodyPr>
          <a:lstStyle/>
          <a:p>
            <a:pPr eaLnBrk="1" hangingPunct="1"/>
            <a:r>
              <a:rPr sz="1400" b="1" lang="ja-JP" altLang="en-US">
                <a:solidFill>
                  <a:srgbClr val="111111"/>
                </a:solidFill>
                <a:latin typeface="Century Gothic"/>
                <a:ea typeface="Yu Gothic"/>
              </a:rPr>
              <a:t>キーワード新陳代謝 — 語彙の世代交代</a:t>
            </a:r>
          </a:p>
        </p:txBody>
      </p:sp>
      <p:sp>
        <p:nvSpPr>
          <p:cNvPr id="24" name="TextBox 23"/>
          <p:cNvSpPr txBox="1"/>
          <p:nvPr/>
        </p:nvSpPr>
        <p:spPr>
          <a:xfrm>
            <a:off x="9144000" y="3703320"/>
            <a:ext cx="1371600" cy="347472"/>
          </a:xfrm>
          <a:prstGeom prst="rect">
            <a:avLst/>
          </a:prstGeom>
          <a:noFill/>
          <a:effectLst/>
        </p:spPr>
        <p:txBody>
          <a:bodyPr wrap="none">
            <a:spAutoFit/>
          </a:bodyPr>
          <a:lstStyle/>
          <a:p>
            <a:pPr eaLnBrk="1" hangingPunct="1" algn="r"/>
            <a:r>
              <a:rPr sz="1400" b="0" lang="ja-JP" altLang="en-US">
                <a:solidFill>
                  <a:srgbClr val="686868"/>
                </a:solidFill>
                <a:latin typeface="Century Gothic"/>
                <a:ea typeface="Yu Gothic"/>
              </a:rPr>
              <a:t>P31</a:t>
            </a:r>
          </a:p>
        </p:txBody>
      </p:sp>
      <p:sp>
        <p:nvSpPr>
          <p:cNvPr id="25" name="Rectangle 24"/>
          <p:cNvSpPr/>
          <p:nvPr/>
        </p:nvSpPr>
        <p:spPr>
          <a:xfrm>
            <a:off x="1371600" y="4096512"/>
            <a:ext cx="9418320" cy="438912"/>
          </a:xfrm>
          <a:prstGeom prst="rect">
            <a:avLst/>
          </a:prstGeom>
          <a:solidFill>
            <a:srgbClr val="F1F2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1554480" y="4142232"/>
            <a:ext cx="731520" cy="347472"/>
          </a:xfrm>
          <a:prstGeom prst="rect">
            <a:avLst/>
          </a:prstGeom>
          <a:noFill/>
          <a:effectLst/>
        </p:spPr>
        <p:txBody>
          <a:bodyPr wrap="none">
            <a:spAutoFit/>
          </a:bodyPr>
          <a:lstStyle/>
          <a:p>
            <a:pPr eaLnBrk="1" hangingPunct="1"/>
            <a:r>
              <a:rPr sz="1400" b="1" lang="ja-JP" altLang="en-US">
                <a:solidFill>
                  <a:srgbClr val="111111"/>
                </a:solidFill>
                <a:latin typeface="Century Gothic"/>
                <a:ea typeface="Yu Gothic"/>
              </a:rPr>
              <a:t>7.</a:t>
            </a:r>
          </a:p>
        </p:txBody>
      </p:sp>
      <p:sp>
        <p:nvSpPr>
          <p:cNvPr id="27" name="TextBox 26"/>
          <p:cNvSpPr txBox="1"/>
          <p:nvPr/>
        </p:nvSpPr>
        <p:spPr>
          <a:xfrm>
            <a:off x="2468880" y="4142232"/>
            <a:ext cx="6400800" cy="347472"/>
          </a:xfrm>
          <a:prstGeom prst="rect">
            <a:avLst/>
          </a:prstGeom>
          <a:noFill/>
          <a:effectLst/>
        </p:spPr>
        <p:txBody>
          <a:bodyPr wrap="none">
            <a:spAutoFit/>
          </a:bodyPr>
          <a:lstStyle/>
          <a:p>
            <a:pPr eaLnBrk="1" hangingPunct="1"/>
            <a:r>
              <a:rPr sz="1400" b="1" lang="ja-JP" altLang="en-US">
                <a:solidFill>
                  <a:srgbClr val="111111"/>
                </a:solidFill>
                <a:latin typeface="Century Gothic"/>
                <a:ea typeface="Yu Gothic"/>
              </a:rPr>
              <a:t>統合・クロス分析と仮説検証</a:t>
            </a:r>
          </a:p>
        </p:txBody>
      </p:sp>
      <p:sp>
        <p:nvSpPr>
          <p:cNvPr id="28" name="TextBox 27"/>
          <p:cNvSpPr txBox="1"/>
          <p:nvPr/>
        </p:nvSpPr>
        <p:spPr>
          <a:xfrm>
            <a:off x="9144000" y="4142232"/>
            <a:ext cx="1371600" cy="347472"/>
          </a:xfrm>
          <a:prstGeom prst="rect">
            <a:avLst/>
          </a:prstGeom>
          <a:noFill/>
          <a:effectLst/>
        </p:spPr>
        <p:txBody>
          <a:bodyPr wrap="none">
            <a:spAutoFit/>
          </a:bodyPr>
          <a:lstStyle/>
          <a:p>
            <a:pPr eaLnBrk="1" hangingPunct="1" algn="r"/>
            <a:r>
              <a:rPr sz="1400" b="0" lang="ja-JP" altLang="en-US">
                <a:solidFill>
                  <a:srgbClr val="686868"/>
                </a:solidFill>
                <a:latin typeface="Century Gothic"/>
                <a:ea typeface="Yu Gothic"/>
              </a:rPr>
              <a:t>P34</a:t>
            </a:r>
          </a:p>
        </p:txBody>
      </p:sp>
      <p:sp>
        <p:nvSpPr>
          <p:cNvPr id="29" name="TextBox 28"/>
          <p:cNvSpPr txBox="1"/>
          <p:nvPr/>
        </p:nvSpPr>
        <p:spPr>
          <a:xfrm>
            <a:off x="1554480" y="4581144"/>
            <a:ext cx="731520" cy="347472"/>
          </a:xfrm>
          <a:prstGeom prst="rect">
            <a:avLst/>
          </a:prstGeom>
          <a:noFill/>
          <a:effectLst/>
        </p:spPr>
        <p:txBody>
          <a:bodyPr wrap="none">
            <a:spAutoFit/>
          </a:bodyPr>
          <a:lstStyle/>
          <a:p>
            <a:pPr eaLnBrk="1" hangingPunct="1"/>
            <a:r>
              <a:rPr sz="1400" b="1" lang="ja-JP" altLang="en-US">
                <a:solidFill>
                  <a:srgbClr val="111111"/>
                </a:solidFill>
                <a:latin typeface="Century Gothic"/>
                <a:ea typeface="Yu Gothic"/>
              </a:rPr>
              <a:t>8.</a:t>
            </a:r>
          </a:p>
        </p:txBody>
      </p:sp>
      <p:sp>
        <p:nvSpPr>
          <p:cNvPr id="30" name="TextBox 29"/>
          <p:cNvSpPr txBox="1"/>
          <p:nvPr/>
        </p:nvSpPr>
        <p:spPr>
          <a:xfrm>
            <a:off x="2468880" y="4581144"/>
            <a:ext cx="6400800" cy="347472"/>
          </a:xfrm>
          <a:prstGeom prst="rect">
            <a:avLst/>
          </a:prstGeom>
          <a:noFill/>
          <a:effectLst/>
        </p:spPr>
        <p:txBody>
          <a:bodyPr wrap="none">
            <a:spAutoFit/>
          </a:bodyPr>
          <a:lstStyle/>
          <a:p>
            <a:pPr eaLnBrk="1" hangingPunct="1"/>
            <a:r>
              <a:rPr sz="1400" b="1" lang="ja-JP" altLang="en-US">
                <a:solidFill>
                  <a:srgbClr val="111111"/>
                </a:solidFill>
                <a:latin typeface="Century Gothic"/>
                <a:ea typeface="Yu Gothic"/>
              </a:rPr>
              <a:t>戦略提言</a:t>
            </a:r>
          </a:p>
        </p:txBody>
      </p:sp>
      <p:sp>
        <p:nvSpPr>
          <p:cNvPr id="31" name="TextBox 30"/>
          <p:cNvSpPr txBox="1"/>
          <p:nvPr/>
        </p:nvSpPr>
        <p:spPr>
          <a:xfrm>
            <a:off x="9144000" y="4581144"/>
            <a:ext cx="1371600" cy="347472"/>
          </a:xfrm>
          <a:prstGeom prst="rect">
            <a:avLst/>
          </a:prstGeom>
          <a:noFill/>
          <a:effectLst/>
        </p:spPr>
        <p:txBody>
          <a:bodyPr wrap="none">
            <a:spAutoFit/>
          </a:bodyPr>
          <a:lstStyle/>
          <a:p>
            <a:pPr eaLnBrk="1" hangingPunct="1" algn="r"/>
            <a:r>
              <a:rPr sz="1400" b="0" lang="ja-JP" altLang="en-US">
                <a:solidFill>
                  <a:srgbClr val="686868"/>
                </a:solidFill>
                <a:latin typeface="Century Gothic"/>
                <a:ea typeface="Yu Gothic"/>
              </a:rPr>
              <a:t>P38</a:t>
            </a:r>
          </a:p>
        </p:txBody>
      </p:sp>
      <p:sp>
        <p:nvSpPr>
          <p:cNvPr id="32" name="Rectangle 31"/>
          <p:cNvSpPr/>
          <p:nvPr/>
        </p:nvSpPr>
        <p:spPr>
          <a:xfrm>
            <a:off x="1371600" y="4974336"/>
            <a:ext cx="9418320" cy="438912"/>
          </a:xfrm>
          <a:prstGeom prst="rect">
            <a:avLst/>
          </a:prstGeom>
          <a:solidFill>
            <a:srgbClr val="F1F2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1554480" y="5020056"/>
            <a:ext cx="731520" cy="347472"/>
          </a:xfrm>
          <a:prstGeom prst="rect">
            <a:avLst/>
          </a:prstGeom>
          <a:noFill/>
          <a:effectLst/>
        </p:spPr>
        <p:txBody>
          <a:bodyPr wrap="none">
            <a:spAutoFit/>
          </a:bodyPr>
          <a:lstStyle/>
          <a:p>
            <a:pPr eaLnBrk="1" hangingPunct="1"/>
            <a:r>
              <a:rPr sz="1400" b="1" lang="ja-JP" altLang="en-US">
                <a:solidFill>
                  <a:srgbClr val="111111"/>
                </a:solidFill>
                <a:latin typeface="Century Gothic"/>
                <a:ea typeface="Yu Gothic"/>
              </a:rPr>
              <a:t>9.</a:t>
            </a:r>
          </a:p>
        </p:txBody>
      </p:sp>
      <p:sp>
        <p:nvSpPr>
          <p:cNvPr id="34" name="TextBox 33"/>
          <p:cNvSpPr txBox="1"/>
          <p:nvPr/>
        </p:nvSpPr>
        <p:spPr>
          <a:xfrm>
            <a:off x="2468880" y="5020056"/>
            <a:ext cx="6400800" cy="347472"/>
          </a:xfrm>
          <a:prstGeom prst="rect">
            <a:avLst/>
          </a:prstGeom>
          <a:noFill/>
          <a:effectLst/>
        </p:spPr>
        <p:txBody>
          <a:bodyPr wrap="none">
            <a:spAutoFit/>
          </a:bodyPr>
          <a:lstStyle/>
          <a:p>
            <a:pPr eaLnBrk="1" hangingPunct="1"/>
            <a:r>
              <a:rPr sz="1400" b="1" lang="ja-JP" altLang="en-US">
                <a:solidFill>
                  <a:srgbClr val="111111"/>
                </a:solidFill>
                <a:latin typeface="Century Gothic"/>
                <a:ea typeface="Yu Gothic"/>
              </a:rPr>
              <a:t>総括</a:t>
            </a:r>
          </a:p>
        </p:txBody>
      </p:sp>
      <p:sp>
        <p:nvSpPr>
          <p:cNvPr id="35" name="TextBox 34"/>
          <p:cNvSpPr txBox="1"/>
          <p:nvPr/>
        </p:nvSpPr>
        <p:spPr>
          <a:xfrm>
            <a:off x="9144000" y="5020056"/>
            <a:ext cx="1371600" cy="347472"/>
          </a:xfrm>
          <a:prstGeom prst="rect">
            <a:avLst/>
          </a:prstGeom>
          <a:noFill/>
          <a:effectLst/>
        </p:spPr>
        <p:txBody>
          <a:bodyPr wrap="none">
            <a:spAutoFit/>
          </a:bodyPr>
          <a:lstStyle/>
          <a:p>
            <a:pPr eaLnBrk="1" hangingPunct="1" algn="r"/>
            <a:r>
              <a:rPr sz="1400" b="0" lang="ja-JP" altLang="en-US">
                <a:solidFill>
                  <a:srgbClr val="686868"/>
                </a:solidFill>
                <a:latin typeface="Century Gothic"/>
                <a:ea typeface="Yu Gothic"/>
              </a:rPr>
              <a:t>P41</a:t>
            </a:r>
          </a:p>
        </p:txBody>
      </p:sp>
      <p:sp>
        <p:nvSpPr>
          <p:cNvPr id="36" name="TextBox 35"/>
          <p:cNvSpPr txBox="1"/>
          <p:nvPr/>
        </p:nvSpPr>
        <p:spPr>
          <a:xfrm>
            <a:off x="1554480" y="5458968"/>
            <a:ext cx="731520" cy="347472"/>
          </a:xfrm>
          <a:prstGeom prst="rect">
            <a:avLst/>
          </a:prstGeom>
          <a:noFill/>
          <a:effectLst/>
        </p:spPr>
        <p:txBody>
          <a:bodyPr wrap="none">
            <a:spAutoFit/>
          </a:bodyPr>
          <a:lstStyle/>
          <a:p>
            <a:pPr eaLnBrk="1" hangingPunct="1"/>
            <a:r>
              <a:rPr sz="1400" b="1" lang="ja-JP" altLang="en-US">
                <a:solidFill>
                  <a:srgbClr val="111111"/>
                </a:solidFill>
                <a:latin typeface="Century Gothic"/>
                <a:ea typeface="Yu Gothic"/>
              </a:rPr>
              <a:t>10.</a:t>
            </a:r>
          </a:p>
        </p:txBody>
      </p:sp>
      <p:sp>
        <p:nvSpPr>
          <p:cNvPr id="37" name="TextBox 36"/>
          <p:cNvSpPr txBox="1"/>
          <p:nvPr/>
        </p:nvSpPr>
        <p:spPr>
          <a:xfrm>
            <a:off x="2468880" y="5458968"/>
            <a:ext cx="6400800" cy="347472"/>
          </a:xfrm>
          <a:prstGeom prst="rect">
            <a:avLst/>
          </a:prstGeom>
          <a:noFill/>
          <a:effectLst/>
        </p:spPr>
        <p:txBody>
          <a:bodyPr wrap="none">
            <a:spAutoFit/>
          </a:bodyPr>
          <a:lstStyle/>
          <a:p>
            <a:pPr eaLnBrk="1" hangingPunct="1"/>
            <a:r>
              <a:rPr sz="1400" b="1" lang="ja-JP" altLang="en-US">
                <a:solidFill>
                  <a:srgbClr val="111111"/>
                </a:solidFill>
                <a:latin typeface="Century Gothic"/>
                <a:ea typeface="Yu Gothic"/>
              </a:rPr>
              <a:t>付録 — 母集団・検索式・分析パラメータ</a:t>
            </a:r>
          </a:p>
        </p:txBody>
      </p:sp>
      <p:sp>
        <p:nvSpPr>
          <p:cNvPr id="38" name="TextBox 37"/>
          <p:cNvSpPr txBox="1"/>
          <p:nvPr/>
        </p:nvSpPr>
        <p:spPr>
          <a:xfrm>
            <a:off x="9144000" y="5458968"/>
            <a:ext cx="1371600" cy="347472"/>
          </a:xfrm>
          <a:prstGeom prst="rect">
            <a:avLst/>
          </a:prstGeom>
          <a:noFill/>
          <a:effectLst/>
        </p:spPr>
        <p:txBody>
          <a:bodyPr wrap="none">
            <a:spAutoFit/>
          </a:bodyPr>
          <a:lstStyle/>
          <a:p>
            <a:pPr eaLnBrk="1" hangingPunct="1" algn="r"/>
            <a:r>
              <a:rPr sz="1400" b="0" lang="ja-JP" altLang="en-US">
                <a:solidFill>
                  <a:srgbClr val="686868"/>
                </a:solidFill>
                <a:latin typeface="Century Gothic"/>
                <a:ea typeface="Yu Gothic"/>
              </a:rPr>
              <a:t>P43</a:t>
            </a:r>
          </a:p>
        </p:txBody>
      </p:sp>
      <p:sp>
        <p:nvSpPr>
          <p:cNvPr id="39" name="TextBox 38"/>
          <p:cNvSpPr txBox="1"/>
          <p:nvPr/>
        </p:nvSpPr>
        <p:spPr>
          <a:xfrm>
            <a:off x="11384280" y="6419088"/>
            <a:ext cx="502920" cy="228600"/>
          </a:xfrm>
          <a:prstGeom prst="rect">
            <a:avLst/>
          </a:prstGeom>
          <a:noFill/>
          <a:effectLst/>
        </p:spPr>
        <p:txBody>
          <a:bodyPr wrap="none">
            <a:spAutoFit/>
          </a:bodyPr>
          <a:lstStyle/>
          <a:p>
            <a:pPr eaLnBrk="1" hangingPunct="1" algn="r"/>
            <a:r>
              <a:rPr sz="1000" b="0" lang="ja-JP" altLang="en-US">
                <a:solidFill>
                  <a:srgbClr val="686868"/>
                </a:solidFill>
                <a:latin typeface="Century Gothic"/>
                <a:ea typeface="Yu Gothic"/>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01011"/>
        </a:solidFill>
        <a:effectLst/>
      </p:bgPr>
    </p:bg>
    <p:spTree>
      <p:nvGrpSpPr>
        <p:cNvPr id="1" name=""/>
        <p:cNvGrpSpPr/>
        <p:nvPr/>
      </p:nvGrpSpPr>
      <p:grpSpPr/>
      <p:sp>
        <p:nvSpPr>
          <p:cNvPr id="2" name="TextBox 1"/>
          <p:cNvSpPr txBox="1"/>
          <p:nvPr/>
        </p:nvSpPr>
        <p:spPr>
          <a:xfrm>
            <a:off x="4754880" y="960120"/>
            <a:ext cx="6949440" cy="4937760"/>
          </a:xfrm>
          <a:prstGeom prst="rect">
            <a:avLst/>
          </a:prstGeom>
          <a:noFill/>
          <a:effectLst/>
        </p:spPr>
        <p:txBody>
          <a:bodyPr wrap="none">
            <a:noAutofit/>
          </a:bodyPr>
          <a:lstStyle/>
          <a:p>
            <a:pPr algn="r"/>
            <a:r>
              <a:rPr sz="30000" b="1" lang="ja-JP" altLang="en-US">
                <a:solidFill>
                  <a:srgbClr val="4A4A52"/>
                </a:solidFill>
                <a:latin typeface="Yu Mincho"/>
                <a:ea typeface="Yu Mincho"/>
              </a:rPr>
              <a:t>01</a:t>
            </a:r>
          </a:p>
        </p:txBody>
      </p:sp>
      <p:sp>
        <p:nvSpPr>
          <p:cNvPr id="3" name="Rectangle 2"/>
          <p:cNvSpPr/>
          <p:nvPr/>
        </p:nvSpPr>
        <p:spPr>
          <a:xfrm>
            <a:off x="0" y="0"/>
            <a:ext cx="274320" cy="685800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1051560" y="2514600"/>
            <a:ext cx="5486400" cy="365760"/>
          </a:xfrm>
          <a:prstGeom prst="rect">
            <a:avLst/>
          </a:prstGeom>
          <a:noFill/>
          <a:effectLst/>
        </p:spPr>
        <p:txBody>
          <a:bodyPr wrap="square">
            <a:noAutofit/>
          </a:bodyPr>
          <a:lstStyle/>
          <a:p>
            <a:r>
              <a:rPr sz="1500" b="1" lang="ja-JP" altLang="en-US" spc="260">
                <a:solidFill>
                  <a:srgbClr val="FF7070"/>
                </a:solidFill>
                <a:latin typeface="Yu Mincho"/>
                <a:ea typeface="Yu Mincho"/>
              </a:rPr>
              <a:t>SECTION 01</a:t>
            </a:r>
          </a:p>
        </p:txBody>
      </p:sp>
      <p:sp>
        <p:nvSpPr>
          <p:cNvPr id="5" name="Rectangle 4"/>
          <p:cNvSpPr/>
          <p:nvPr/>
        </p:nvSpPr>
        <p:spPr>
          <a:xfrm>
            <a:off x="1078992" y="3035808"/>
            <a:ext cx="2560320" cy="9144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1051560" y="3246120"/>
            <a:ext cx="7315200" cy="1554480"/>
          </a:xfrm>
          <a:prstGeom prst="rect">
            <a:avLst/>
          </a:prstGeom>
          <a:noFill/>
          <a:effectLst/>
        </p:spPr>
        <p:txBody>
          <a:bodyPr wrap="square">
            <a:noAutofit/>
          </a:bodyPr>
          <a:lstStyle/>
          <a:p>
            <a:pPr eaLnBrk="1" hangingPunct="1">
              <a:lnSpc>
                <a:spcPct val="115000"/>
              </a:lnSpc>
            </a:pPr>
            <a:r>
              <a:rPr sz="4000" b="1" lang="ja-JP" altLang="en-US">
                <a:solidFill>
                  <a:srgbClr val="FFFFFF"/>
                </a:solidFill>
                <a:latin typeface="Yu Mincho"/>
                <a:ea typeface="Yu Mincho"/>
              </a:rPr>
              <a:t>本分析の前提</a:t>
            </a:r>
          </a:p>
        </p:txBody>
      </p:sp>
      <p:sp>
        <p:nvSpPr>
          <p:cNvPr id="7" name="TextBox 6"/>
          <p:cNvSpPr txBox="1"/>
          <p:nvPr/>
        </p:nvSpPr>
        <p:spPr>
          <a:xfrm>
            <a:off x="1078992" y="4892040"/>
            <a:ext cx="6949440" cy="731520"/>
          </a:xfrm>
          <a:prstGeom prst="rect">
            <a:avLst/>
          </a:prstGeom>
          <a:noFill/>
          <a:effectLst/>
        </p:spPr>
        <p:txBody>
          <a:bodyPr wrap="square">
            <a:noAutofit/>
          </a:bodyPr>
          <a:lstStyle/>
          <a:p>
            <a:pPr eaLnBrk="1" hangingPunct="1"/>
            <a:r>
              <a:rPr sz="1500" b="0" lang="ja-JP" altLang="en-US">
                <a:solidFill>
                  <a:srgbClr val="C2C2C6"/>
                </a:solidFill>
                <a:latin typeface="Yu Mincho"/>
                <a:ea typeface="Yu Mincho"/>
              </a:rPr>
              <a:t>母集団の設計意図と、本レポートを読むための視座</a:t>
            </a:r>
          </a:p>
        </p:txBody>
      </p:sp>
      <p:sp>
        <p:nvSpPr>
          <p:cNvPr id="8" name="Rectangle 7"/>
          <p:cNvSpPr/>
          <p:nvPr/>
        </p:nvSpPr>
        <p:spPr>
          <a:xfrm>
            <a:off x="0" y="6492240"/>
            <a:ext cx="12188952" cy="27432"/>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22960" y="1952243"/>
            <a:ext cx="45720" cy="2496312"/>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1024128" y="1906524"/>
            <a:ext cx="4206240" cy="320040"/>
          </a:xfrm>
          <a:prstGeom prst="rect">
            <a:avLst/>
          </a:prstGeom>
          <a:noFill/>
          <a:effectLst/>
        </p:spPr>
        <p:txBody>
          <a:bodyPr wrap="square">
            <a:noAutofit/>
          </a:bodyPr>
          <a:lstStyle/>
          <a:p>
            <a:pPr eaLnBrk="1" hangingPunct="1"/>
            <a:r>
              <a:rPr sz="1100" b="1" lang="ja-JP" altLang="en-US">
                <a:solidFill>
                  <a:srgbClr val="C51212"/>
                </a:solidFill>
                <a:latin typeface="Yu Mincho"/>
                <a:ea typeface="Yu Mincho"/>
              </a:rPr>
              <a:t>SECTION 01 / 本分析の前提</a:t>
            </a:r>
          </a:p>
        </p:txBody>
      </p:sp>
      <p:sp>
        <p:nvSpPr>
          <p:cNvPr id="4" name="TextBox 3"/>
          <p:cNvSpPr txBox="1"/>
          <p:nvPr/>
        </p:nvSpPr>
        <p:spPr>
          <a:xfrm>
            <a:off x="1024128" y="2290572"/>
            <a:ext cx="4206240" cy="2203704"/>
          </a:xfrm>
          <a:prstGeom prst="rect">
            <a:avLst/>
          </a:prstGeom>
          <a:noFill/>
          <a:effectLst/>
        </p:spPr>
        <p:txBody>
          <a:bodyPr wrap="square">
            <a:noAutofit/>
          </a:bodyPr>
          <a:lstStyle/>
          <a:p>
            <a:pPr eaLnBrk="1" hangingPunct="1">
              <a:lnSpc>
                <a:spcPct val="122000"/>
              </a:lnSpc>
            </a:pPr>
            <a:r>
              <a:rPr sz="2400" b="1" lang="ja-JP" altLang="en-US">
                <a:solidFill>
                  <a:srgbClr val="111111"/>
                </a:solidFill>
                <a:latin typeface="Yu Mincho"/>
                <a:ea typeface="Yu Mincho"/>
              </a:rPr>
              <a:t>この章で何を・なぜ見るか</a:t>
            </a:r>
          </a:p>
        </p:txBody>
      </p:sp>
      <p:sp>
        <p:nvSpPr>
          <p:cNvPr id="5" name="TextBox 4"/>
          <p:cNvSpPr txBox="1"/>
          <p:nvPr/>
        </p:nvSpPr>
        <p:spPr>
          <a:xfrm>
            <a:off x="5577840" y="1906524"/>
            <a:ext cx="5971032" cy="2587752"/>
          </a:xfrm>
          <a:prstGeom prst="rect">
            <a:avLst/>
          </a:prstGeom>
          <a:noFill/>
          <a:effectLst/>
        </p:spPr>
        <p:txBody>
          <a:bodyPr wrap="square">
            <a:noAutofit/>
          </a:bodyPr>
          <a:lstStyle/>
          <a:p>
            <a:pPr eaLnBrk="1" hangingPunct="1">
              <a:lnSpc>
                <a:spcPct val="140000"/>
              </a:lnSpc>
              <a:spcAft>
                <a:spcPts val="800"/>
              </a:spcAft>
            </a:pPr>
            <a:r>
              <a:rPr b="1" sz="1400" lang="ja-JP" altLang="en-US">
                <a:solidFill>
                  <a:srgbClr val="111111"/>
                </a:solidFill>
                <a:latin typeface="Century Gothic"/>
                <a:ea typeface="Yu Gothic"/>
              </a:rPr>
              <a:t>何を</a:t>
            </a:r>
            <a:r>
              <a:rPr b="0" sz="1400" lang="ja-JP" altLang="en-US">
                <a:solidFill>
                  <a:srgbClr val="111111"/>
                </a:solidFill>
                <a:latin typeface="Century Gothic"/>
                <a:ea typeface="Yu Gothic"/>
              </a:rPr>
              <a:t>: 母集団がどんな技術群を抽出しているか、その輪郭を確認する</a:t>
            </a:r>
          </a:p>
          <a:p>
            <a:pPr eaLnBrk="1" hangingPunct="1">
              <a:lnSpc>
                <a:spcPct val="140000"/>
              </a:lnSpc>
              <a:spcAft>
                <a:spcPts val="800"/>
              </a:spcAft>
            </a:pPr>
            <a:r>
              <a:rPr b="1" sz="1400" lang="ja-JP" altLang="en-US">
                <a:solidFill>
                  <a:srgbClr val="111111"/>
                </a:solidFill>
                <a:latin typeface="Century Gothic"/>
                <a:ea typeface="Yu Gothic"/>
              </a:rPr>
              <a:t>なぜ</a:t>
            </a:r>
            <a:r>
              <a:rPr b="0" sz="1400" lang="ja-JP" altLang="en-US">
                <a:solidFill>
                  <a:srgbClr val="111111"/>
                </a:solidFill>
                <a:latin typeface="Century Gothic"/>
                <a:ea typeface="Yu Gothic"/>
              </a:rPr>
              <a:t>: プラリサイクル全般ではなく「使用済み材を原料とする再生材・樹脂組成物」に限定した母集団だから</a:t>
            </a:r>
          </a:p>
          <a:p>
            <a:pPr eaLnBrk="1" hangingPunct="1">
              <a:lnSpc>
                <a:spcPct val="140000"/>
              </a:lnSpc>
              <a:spcAft>
                <a:spcPts val="800"/>
              </a:spcAft>
            </a:pPr>
            <a:r>
              <a:rPr b="1" sz="1400" lang="ja-JP" altLang="en-US">
                <a:solidFill>
                  <a:srgbClr val="111111"/>
                </a:solidFill>
                <a:latin typeface="Century Gothic"/>
                <a:ea typeface="Yu Gothic"/>
              </a:rPr>
              <a:t>視座</a:t>
            </a:r>
            <a:r>
              <a:rPr b="0" sz="1400" lang="ja-JP" altLang="en-US">
                <a:solidFill>
                  <a:srgbClr val="111111"/>
                </a:solidFill>
                <a:latin typeface="Century Gothic"/>
                <a:ea typeface="Yu Gothic"/>
              </a:rPr>
              <a:t>: 単なる再生材利用ではなく、物性・機能・加工性を高めた</a:t>
            </a:r>
            <a:r>
              <a:rPr b="1" sz="1400" lang="ja-JP" altLang="en-US">
                <a:solidFill>
                  <a:srgbClr val="111111"/>
                </a:solidFill>
                <a:latin typeface="Century Gothic"/>
                <a:ea typeface="Yu Gothic"/>
              </a:rPr>
              <a:t>組成物</a:t>
            </a:r>
            <a:r>
              <a:rPr b="0" sz="1400" lang="ja-JP" altLang="en-US">
                <a:solidFill>
                  <a:srgbClr val="111111"/>
                </a:solidFill>
                <a:latin typeface="Century Gothic"/>
                <a:ea typeface="Yu Gothic"/>
              </a:rPr>
              <a:t>としての技術に注目する</a:t>
            </a:r>
          </a:p>
          <a:p>
            <a:pPr eaLnBrk="1" hangingPunct="1">
              <a:lnSpc>
                <a:spcPct val="140000"/>
              </a:lnSpc>
              <a:spcAft>
                <a:spcPts val="800"/>
              </a:spcAft>
            </a:pPr>
            <a:r>
              <a:rPr b="1" sz="1400" lang="ja-JP" altLang="en-US">
                <a:solidFill>
                  <a:srgbClr val="111111"/>
                </a:solidFill>
                <a:latin typeface="Century Gothic"/>
                <a:ea typeface="Yu Gothic"/>
              </a:rPr>
              <a:t>留意</a:t>
            </a:r>
            <a:r>
              <a:rPr b="0" sz="1400" lang="ja-JP" altLang="en-US">
                <a:solidFill>
                  <a:srgbClr val="111111"/>
                </a:solidFill>
                <a:latin typeface="Century Gothic"/>
                <a:ea typeface="Yu Gothic"/>
              </a:rPr>
              <a:t>: 本母集団417件内の観察であり、業界全体の市場規模・シェアの断定はしない</a:t>
            </a:r>
          </a:p>
        </p:txBody>
      </p:sp>
      <p:sp>
        <p:nvSpPr>
          <p:cNvPr id="6" name="TextBox 5"/>
          <p:cNvSpPr txBox="1"/>
          <p:nvPr/>
        </p:nvSpPr>
        <p:spPr>
          <a:xfrm>
            <a:off x="11384280" y="6419088"/>
            <a:ext cx="502920" cy="228600"/>
          </a:xfrm>
          <a:prstGeom prst="rect">
            <a:avLst/>
          </a:prstGeom>
          <a:noFill/>
          <a:effectLst/>
        </p:spPr>
        <p:txBody>
          <a:bodyPr wrap="none">
            <a:spAutoFit/>
          </a:bodyPr>
          <a:lstStyle/>
          <a:p>
            <a:pPr eaLnBrk="1" hangingPunct="1" algn="r"/>
            <a:r>
              <a:rPr sz="1000" b="0" lang="ja-JP" altLang="en-US">
                <a:solidFill>
                  <a:srgbClr val="686868"/>
                </a:solidFill>
                <a:latin typeface="Century Gothic"/>
                <a:ea typeface="Yu Gothic"/>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22960" y="521208"/>
            <a:ext cx="365760" cy="1270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22960" y="630936"/>
            <a:ext cx="10725912" cy="256032"/>
          </a:xfrm>
          <a:prstGeom prst="rect">
            <a:avLst/>
          </a:prstGeom>
          <a:noFill/>
          <a:effectLst/>
        </p:spPr>
        <p:txBody>
          <a:bodyPr wrap="none">
            <a:spAutoFit/>
          </a:bodyPr>
          <a:lstStyle/>
          <a:p>
            <a:pPr eaLnBrk="1" hangingPunct="1"/>
            <a:r>
              <a:rPr sz="1000" b="1" lang="ja-JP" altLang="en-US">
                <a:solidFill>
                  <a:srgbClr val="C51212"/>
                </a:solidFill>
                <a:latin typeface="Yu Mincho"/>
                <a:ea typeface="Yu Mincho"/>
              </a:rPr>
              <a:t>本分析の視座</a:t>
            </a:r>
          </a:p>
        </p:txBody>
      </p:sp>
      <p:sp>
        <p:nvSpPr>
          <p:cNvPr id="4" name="TextBox 3"/>
          <p:cNvSpPr txBox="1"/>
          <p:nvPr/>
        </p:nvSpPr>
        <p:spPr>
          <a:xfrm>
            <a:off x="822960" y="905256"/>
            <a:ext cx="10725912" cy="841248"/>
          </a:xfrm>
          <a:prstGeom prst="rect">
            <a:avLst/>
          </a:prstGeom>
          <a:noFill/>
          <a:effectLst/>
        </p:spPr>
        <p:txBody>
          <a:bodyPr wrap="square">
            <a:noAutofit/>
          </a:bodyPr>
          <a:lstStyle/>
          <a:p>
            <a:pPr eaLnBrk="1" hangingPunct="1">
              <a:lnSpc>
                <a:spcPct val="118000"/>
              </a:lnSpc>
            </a:pPr>
            <a:r>
              <a:rPr b="1" sz="2300" lang="ja-JP" altLang="en-US">
                <a:solidFill>
                  <a:srgbClr val="111111"/>
                </a:solidFill>
                <a:latin typeface="Yu Mincho"/>
                <a:ea typeface="Yu Mincho"/>
              </a:rPr>
              <a:t>母集団は「使用済み材 × 樹脂組成物」の交差点に設計されている</a:t>
            </a:r>
          </a:p>
        </p:txBody>
      </p:sp>
      <p:sp>
        <p:nvSpPr>
          <p:cNvPr id="5" name="Rectangle 4"/>
          <p:cNvSpPr/>
          <p:nvPr/>
        </p:nvSpPr>
        <p:spPr>
          <a:xfrm>
            <a:off x="822960" y="1801368"/>
            <a:ext cx="10725912" cy="822959"/>
          </a:xfrm>
          <a:prstGeom prst="rect">
            <a:avLst/>
          </a:prstGeom>
          <a:solidFill>
            <a:srgbClr val="F6F7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822960" y="1801368"/>
            <a:ext cx="36576" cy="822959"/>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960120" y="1874520"/>
            <a:ext cx="10451592" cy="676655"/>
          </a:xfrm>
          <a:prstGeom prst="rect">
            <a:avLst/>
          </a:prstGeom>
          <a:noFill/>
          <a:effectLst/>
        </p:spPr>
        <p:txBody>
          <a:bodyPr wrap="square">
            <a:noAutofit/>
          </a:bodyPr>
          <a:lstStyle/>
          <a:p>
            <a:pPr eaLnBrk="1" hangingPunct="1">
              <a:lnSpc>
                <a:spcPct val="150000"/>
              </a:lnSpc>
            </a:pPr>
            <a:r>
              <a:rPr sz="1500" b="1" lang="ja-JP" altLang="en-US">
                <a:solidFill>
                  <a:srgbClr val="C51212"/>
                </a:solidFill>
                <a:latin typeface="Century Gothic"/>
                <a:ea typeface="Yu Gothic"/>
              </a:rPr>
              <a:t>■ </a:t>
            </a:r>
            <a:r>
              <a:rPr sz="1500" lang="ja-JP" altLang="en-US">
                <a:solidFill>
                  <a:srgbClr val="111111"/>
                </a:solidFill>
                <a:latin typeface="Century Gothic"/>
                <a:ea typeface="Yu Gothic"/>
              </a:rPr>
              <a:t>検索式は『使用済み/PCR/再生材』×『樹脂』×『組成物・コンパウンド』の積で構成され、高機能化技術を狙い撃つ。</a:t>
            </a:r>
          </a:p>
        </p:txBody>
      </p:sp>
      <p:sp>
        <p:nvSpPr>
          <p:cNvPr id="8" name="Rectangle 7"/>
          <p:cNvSpPr/>
          <p:nvPr/>
        </p:nvSpPr>
        <p:spPr>
          <a:xfrm>
            <a:off x="822960" y="2715768"/>
            <a:ext cx="36576" cy="729234"/>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87552" y="2715768"/>
            <a:ext cx="2194560" cy="274320"/>
          </a:xfrm>
          <a:prstGeom prst="rect">
            <a:avLst/>
          </a:prstGeom>
          <a:noFill/>
          <a:effectLst/>
        </p:spPr>
        <p:txBody>
          <a:bodyPr wrap="none">
            <a:spAutoFit/>
          </a:bodyPr>
          <a:lstStyle/>
          <a:p>
            <a:pPr eaLnBrk="1" hangingPunct="1"/>
            <a:r>
              <a:rPr sz="1100" b="1" lang="ja-JP" altLang="en-US">
                <a:solidFill>
                  <a:srgbClr val="C51212"/>
                </a:solidFill>
                <a:latin typeface="Century Gothic"/>
                <a:ea typeface="Yu Gothic"/>
              </a:rPr>
              <a:t>分析目的</a:t>
            </a:r>
          </a:p>
        </p:txBody>
      </p:sp>
      <p:sp>
        <p:nvSpPr>
          <p:cNvPr id="10" name="TextBox 9"/>
          <p:cNvSpPr txBox="1"/>
          <p:nvPr/>
        </p:nvSpPr>
        <p:spPr>
          <a:xfrm>
            <a:off x="987552" y="2990088"/>
            <a:ext cx="10561320" cy="436626"/>
          </a:xfrm>
          <a:prstGeom prst="rect">
            <a:avLst/>
          </a:prstGeom>
          <a:noFill/>
          <a:effectLst/>
        </p:spPr>
        <p:txBody>
          <a:bodyPr wrap="square">
            <a:noAutofit/>
          </a:bodyPr>
          <a:lstStyle/>
          <a:p>
            <a:pPr eaLnBrk="1" hangingPunct="1">
              <a:lnSpc>
                <a:spcPct val="140000"/>
              </a:lnSpc>
            </a:pPr>
            <a:r>
              <a:rPr b="0" sz="1300" lang="ja-JP" altLang="en-US">
                <a:solidFill>
                  <a:srgbClr val="111111"/>
                </a:solidFill>
                <a:latin typeface="Century Gothic"/>
                <a:ea typeface="Yu Gothic"/>
              </a:rPr>
              <a:t>品質ばらつき・性能懸念から用途が限られてきた再生材ペレットについて、近年どのような高機能化（樹脂設計・添加剤・コンパウンド・相溶化・品質安定化）が進み、どの用途・市場へ展開されつつあるかを明らかにする。</a:t>
            </a:r>
          </a:p>
        </p:txBody>
      </p:sp>
      <p:sp>
        <p:nvSpPr>
          <p:cNvPr id="11" name="Rectangle 10"/>
          <p:cNvSpPr/>
          <p:nvPr/>
        </p:nvSpPr>
        <p:spPr>
          <a:xfrm>
            <a:off x="822960" y="3609594"/>
            <a:ext cx="36576" cy="729234"/>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987552" y="3609594"/>
            <a:ext cx="2194560" cy="274320"/>
          </a:xfrm>
          <a:prstGeom prst="rect">
            <a:avLst/>
          </a:prstGeom>
          <a:noFill/>
          <a:effectLst/>
        </p:spPr>
        <p:txBody>
          <a:bodyPr wrap="none">
            <a:spAutoFit/>
          </a:bodyPr>
          <a:lstStyle/>
          <a:p>
            <a:pPr eaLnBrk="1" hangingPunct="1"/>
            <a:r>
              <a:rPr sz="1100" b="1" lang="ja-JP" altLang="en-US">
                <a:solidFill>
                  <a:srgbClr val="C51212"/>
                </a:solidFill>
                <a:latin typeface="Century Gothic"/>
                <a:ea typeface="Yu Gothic"/>
              </a:rPr>
              <a:t>母集団の輪郭</a:t>
            </a:r>
          </a:p>
        </p:txBody>
      </p:sp>
      <p:sp>
        <p:nvSpPr>
          <p:cNvPr id="13" name="TextBox 12"/>
          <p:cNvSpPr txBox="1"/>
          <p:nvPr/>
        </p:nvSpPr>
        <p:spPr>
          <a:xfrm>
            <a:off x="987552" y="3883914"/>
            <a:ext cx="10561320" cy="436626"/>
          </a:xfrm>
          <a:prstGeom prst="rect">
            <a:avLst/>
          </a:prstGeom>
          <a:noFill/>
          <a:effectLst/>
        </p:spPr>
        <p:txBody>
          <a:bodyPr wrap="square">
            <a:noAutofit/>
          </a:bodyPr>
          <a:lstStyle/>
          <a:p>
            <a:pPr eaLnBrk="1" hangingPunct="1">
              <a:lnSpc>
                <a:spcPct val="140000"/>
              </a:lnSpc>
            </a:pPr>
            <a:r>
              <a:rPr b="0" sz="1300" lang="ja-JP" altLang="en-US">
                <a:solidFill>
                  <a:srgbClr val="111111"/>
                </a:solidFill>
                <a:latin typeface="Century Gothic"/>
                <a:ea typeface="Yu Gothic"/>
              </a:rPr>
              <a:t>含める=PCR/使用済み/廃プラ由来の再生材を原料とし、再生材ペレットまたは再生材を含む樹脂組成物として利用する技術。除外=リサイクル一般の網羅収集。</a:t>
            </a:r>
            <a:r>
              <a:rPr b="1" sz="1300" lang="ja-JP" altLang="en-US">
                <a:solidFill>
                  <a:srgbClr val="111111"/>
                </a:solidFill>
                <a:latin typeface="Century Gothic"/>
                <a:ea typeface="Yu Gothic"/>
              </a:rPr>
              <a:t>樹脂組成物・コンパウンド</a:t>
            </a:r>
            <a:r>
              <a:rPr b="0" sz="1300" lang="ja-JP" altLang="en-US">
                <a:solidFill>
                  <a:srgbClr val="111111"/>
                </a:solidFill>
                <a:latin typeface="Century Gothic"/>
                <a:ea typeface="Yu Gothic"/>
              </a:rPr>
              <a:t>を名称条件に置くことで、素材化された応用技術へ絞り込んでいる。</a:t>
            </a:r>
          </a:p>
        </p:txBody>
      </p:sp>
      <p:sp>
        <p:nvSpPr>
          <p:cNvPr id="14" name="Rectangle 13"/>
          <p:cNvSpPr/>
          <p:nvPr/>
        </p:nvSpPr>
        <p:spPr>
          <a:xfrm>
            <a:off x="822960" y="4503420"/>
            <a:ext cx="36576" cy="729234"/>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987552" y="4503420"/>
            <a:ext cx="2194560" cy="274320"/>
          </a:xfrm>
          <a:prstGeom prst="rect">
            <a:avLst/>
          </a:prstGeom>
          <a:noFill/>
          <a:effectLst/>
        </p:spPr>
        <p:txBody>
          <a:bodyPr wrap="none">
            <a:spAutoFit/>
          </a:bodyPr>
          <a:lstStyle/>
          <a:p>
            <a:pPr eaLnBrk="1" hangingPunct="1"/>
            <a:r>
              <a:rPr sz="1100" b="1" lang="ja-JP" altLang="en-US">
                <a:solidFill>
                  <a:srgbClr val="C51212"/>
                </a:solidFill>
                <a:latin typeface="Century Gothic"/>
                <a:ea typeface="Yu Gothic"/>
              </a:rPr>
              <a:t>重視する切り口</a:t>
            </a:r>
          </a:p>
        </p:txBody>
      </p:sp>
      <p:sp>
        <p:nvSpPr>
          <p:cNvPr id="16" name="TextBox 15"/>
          <p:cNvSpPr txBox="1"/>
          <p:nvPr/>
        </p:nvSpPr>
        <p:spPr>
          <a:xfrm>
            <a:off x="987552" y="4777740"/>
            <a:ext cx="10561320" cy="436626"/>
          </a:xfrm>
          <a:prstGeom prst="rect">
            <a:avLst/>
          </a:prstGeom>
          <a:noFill/>
          <a:effectLst/>
        </p:spPr>
        <p:txBody>
          <a:bodyPr wrap="square">
            <a:noAutofit/>
          </a:bodyPr>
          <a:lstStyle/>
          <a:p>
            <a:pPr eaLnBrk="1" hangingPunct="1">
              <a:lnSpc>
                <a:spcPct val="140000"/>
              </a:lnSpc>
            </a:pPr>
            <a:r>
              <a:rPr b="0" sz="1300" lang="ja-JP" altLang="en-US">
                <a:solidFill>
                  <a:srgbClr val="111111"/>
                </a:solidFill>
                <a:latin typeface="Century Gothic"/>
                <a:ea typeface="Yu Gothic"/>
              </a:rPr>
              <a:t>①継続的・重点的に取り組む企業の見極め（単発開発の排除）、②再生材が『どんな処理・改質・配合を経て高機能組成物になるか』の技術内容、③量の主役と意味的に外れた萌芽領域の対比。</a:t>
            </a:r>
          </a:p>
        </p:txBody>
      </p:sp>
      <p:sp>
        <p:nvSpPr>
          <p:cNvPr id="17" name="Rectangle 16"/>
          <p:cNvSpPr/>
          <p:nvPr/>
        </p:nvSpPr>
        <p:spPr>
          <a:xfrm>
            <a:off x="822960" y="5397246"/>
            <a:ext cx="36576" cy="729234"/>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987552" y="5397246"/>
            <a:ext cx="2194560" cy="274320"/>
          </a:xfrm>
          <a:prstGeom prst="rect">
            <a:avLst/>
          </a:prstGeom>
          <a:noFill/>
          <a:effectLst/>
        </p:spPr>
        <p:txBody>
          <a:bodyPr wrap="none">
            <a:spAutoFit/>
          </a:bodyPr>
          <a:lstStyle/>
          <a:p>
            <a:pPr eaLnBrk="1" hangingPunct="1"/>
            <a:r>
              <a:rPr sz="1100" b="1" lang="ja-JP" altLang="en-US">
                <a:solidFill>
                  <a:srgbClr val="C51212"/>
                </a:solidFill>
                <a:latin typeface="Century Gothic"/>
                <a:ea typeface="Yu Gothic"/>
              </a:rPr>
              <a:t>限界と留意</a:t>
            </a:r>
          </a:p>
        </p:txBody>
      </p:sp>
      <p:sp>
        <p:nvSpPr>
          <p:cNvPr id="19" name="TextBox 18"/>
          <p:cNvSpPr txBox="1"/>
          <p:nvPr/>
        </p:nvSpPr>
        <p:spPr>
          <a:xfrm>
            <a:off x="987552" y="5671566"/>
            <a:ext cx="10561320" cy="436626"/>
          </a:xfrm>
          <a:prstGeom prst="rect">
            <a:avLst/>
          </a:prstGeom>
          <a:noFill/>
          <a:effectLst/>
        </p:spPr>
        <p:txBody>
          <a:bodyPr wrap="square">
            <a:noAutofit/>
          </a:bodyPr>
          <a:lstStyle/>
          <a:p>
            <a:pPr eaLnBrk="1" hangingPunct="1">
              <a:lnSpc>
                <a:spcPct val="140000"/>
              </a:lnSpc>
            </a:pPr>
            <a:r>
              <a:rPr b="0" sz="1300" lang="ja-JP" altLang="en-US">
                <a:solidFill>
                  <a:srgbClr val="111111"/>
                </a:solidFill>
                <a:latin typeface="Century Gothic"/>
                <a:ea typeface="Yu Gothic"/>
              </a:rPr>
              <a:t>DBは Cyber patent desc、対象417件。NEBULA(非特許文献)は本セッションで学術・ニュース系が未収集のため、外部環境は特許情報からの推察に留める。市場シェア等の断定は行わず『本母集団では』と限定する。</a:t>
            </a:r>
          </a:p>
        </p:txBody>
      </p:sp>
      <p:sp>
        <p:nvSpPr>
          <p:cNvPr id="20" name="TextBox 19"/>
          <p:cNvSpPr txBox="1"/>
          <p:nvPr/>
        </p:nvSpPr>
        <p:spPr>
          <a:xfrm>
            <a:off x="457200" y="6053328"/>
            <a:ext cx="11247120" cy="320040"/>
          </a:xfrm>
          <a:prstGeom prst="rect">
            <a:avLst/>
          </a:prstGeom>
          <a:noFill/>
          <a:effectLst/>
        </p:spPr>
        <p:txBody>
          <a:bodyPr wrap="square">
            <a:noAutofit/>
          </a:bodyPr>
          <a:lstStyle/>
          <a:p>
            <a:pPr eaLnBrk="1" hangingPunct="1"/>
            <a:r>
              <a:rPr sz="900" b="0" lang="ja-JP" altLang="en-US">
                <a:solidFill>
                  <a:srgbClr val="686868"/>
                </a:solidFill>
                <a:latin typeface="Century Gothic"/>
                <a:ea typeface="Yu Gothic"/>
              </a:rPr>
              <a:t>（出所）特許データベース Cyber patent desc（2026-06-14）</a:t>
            </a:r>
          </a:p>
        </p:txBody>
      </p:sp>
      <p:sp>
        <p:nvSpPr>
          <p:cNvPr id="21" name="TextBox 20"/>
          <p:cNvSpPr txBox="1"/>
          <p:nvPr/>
        </p:nvSpPr>
        <p:spPr>
          <a:xfrm>
            <a:off x="11384280" y="6419088"/>
            <a:ext cx="502920" cy="228600"/>
          </a:xfrm>
          <a:prstGeom prst="rect">
            <a:avLst/>
          </a:prstGeom>
          <a:noFill/>
          <a:effectLst/>
        </p:spPr>
        <p:txBody>
          <a:bodyPr wrap="none">
            <a:spAutoFit/>
          </a:bodyPr>
          <a:lstStyle/>
          <a:p>
            <a:pPr eaLnBrk="1" hangingPunct="1" algn="r"/>
            <a:r>
              <a:rPr sz="1000" b="0" lang="ja-JP" altLang="en-US">
                <a:solidFill>
                  <a:srgbClr val="686868"/>
                </a:solidFill>
                <a:latin typeface="Century Gothic"/>
                <a:ea typeface="Yu Gothic"/>
              </a:rPr>
              <a:t>6</a:t>
            </a:r>
          </a:p>
        </p:txBody>
      </p:sp>
      <p:cxnSp>
        <p:nvCxnSpPr>
          <p:cNvPr id="22" name="Connector 21"/>
          <p:cNvCxnSpPr/>
          <p:nvPr/>
        </p:nvCxnSpPr>
        <p:spPr>
          <a:xfrm>
            <a:off x="11859767" y="128016"/>
            <a:ext cx="201169" cy="0"/>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a:off x="12060936" y="128016"/>
            <a:ext cx="0" cy="201168"/>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a:off x="128016" y="6729984"/>
            <a:ext cx="201168" cy="0"/>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25" name="Connector 24"/>
          <p:cNvCxnSpPr/>
          <p:nvPr/>
        </p:nvCxnSpPr>
        <p:spPr>
          <a:xfrm>
            <a:off x="128016" y="6528816"/>
            <a:ext cx="0" cy="201168"/>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01011"/>
        </a:solidFill>
        <a:effectLst/>
      </p:bgPr>
    </p:bg>
    <p:spTree>
      <p:nvGrpSpPr>
        <p:cNvPr id="1" name=""/>
        <p:cNvGrpSpPr/>
        <p:nvPr/>
      </p:nvGrpSpPr>
      <p:grpSpPr/>
      <p:sp>
        <p:nvSpPr>
          <p:cNvPr id="2" name="TextBox 1"/>
          <p:cNvSpPr txBox="1"/>
          <p:nvPr/>
        </p:nvSpPr>
        <p:spPr>
          <a:xfrm>
            <a:off x="4754880" y="960120"/>
            <a:ext cx="6949440" cy="4937760"/>
          </a:xfrm>
          <a:prstGeom prst="rect">
            <a:avLst/>
          </a:prstGeom>
          <a:noFill/>
          <a:effectLst/>
        </p:spPr>
        <p:txBody>
          <a:bodyPr wrap="none">
            <a:noAutofit/>
          </a:bodyPr>
          <a:lstStyle/>
          <a:p>
            <a:pPr algn="r"/>
            <a:r>
              <a:rPr sz="30000" b="1" lang="ja-JP" altLang="en-US">
                <a:solidFill>
                  <a:srgbClr val="4A4A52"/>
                </a:solidFill>
                <a:latin typeface="Yu Mincho"/>
                <a:ea typeface="Yu Mincho"/>
              </a:rPr>
              <a:t>02</a:t>
            </a:r>
          </a:p>
        </p:txBody>
      </p:sp>
      <p:sp>
        <p:nvSpPr>
          <p:cNvPr id="3" name="Rectangle 2"/>
          <p:cNvSpPr/>
          <p:nvPr/>
        </p:nvSpPr>
        <p:spPr>
          <a:xfrm>
            <a:off x="0" y="0"/>
            <a:ext cx="274320" cy="685800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1051560" y="2514600"/>
            <a:ext cx="5486400" cy="365760"/>
          </a:xfrm>
          <a:prstGeom prst="rect">
            <a:avLst/>
          </a:prstGeom>
          <a:noFill/>
          <a:effectLst/>
        </p:spPr>
        <p:txBody>
          <a:bodyPr wrap="square">
            <a:noAutofit/>
          </a:bodyPr>
          <a:lstStyle/>
          <a:p>
            <a:r>
              <a:rPr sz="1500" b="1" lang="ja-JP" altLang="en-US" spc="260">
                <a:solidFill>
                  <a:srgbClr val="FF7070"/>
                </a:solidFill>
                <a:latin typeface="Yu Mincho"/>
                <a:ea typeface="Yu Mincho"/>
              </a:rPr>
              <a:t>SECTION 02</a:t>
            </a:r>
          </a:p>
        </p:txBody>
      </p:sp>
      <p:sp>
        <p:nvSpPr>
          <p:cNvPr id="5" name="Rectangle 4"/>
          <p:cNvSpPr/>
          <p:nvPr/>
        </p:nvSpPr>
        <p:spPr>
          <a:xfrm>
            <a:off x="1078992" y="3035808"/>
            <a:ext cx="2560320" cy="9144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1051560" y="3246120"/>
            <a:ext cx="7315200" cy="1554480"/>
          </a:xfrm>
          <a:prstGeom prst="rect">
            <a:avLst/>
          </a:prstGeom>
          <a:noFill/>
          <a:effectLst/>
        </p:spPr>
        <p:txBody>
          <a:bodyPr wrap="square">
            <a:noAutofit/>
          </a:bodyPr>
          <a:lstStyle/>
          <a:p>
            <a:pPr eaLnBrk="1" hangingPunct="1">
              <a:lnSpc>
                <a:spcPct val="115000"/>
              </a:lnSpc>
            </a:pPr>
            <a:r>
              <a:rPr sz="4000" b="1" lang="ja-JP" altLang="en-US">
                <a:solidFill>
                  <a:srgbClr val="FFFFFF"/>
                </a:solidFill>
                <a:latin typeface="Yu Mincho"/>
                <a:ea typeface="Yu Mincho"/>
              </a:rPr>
              <a:t>市場俯瞰</a:t>
            </a:r>
          </a:p>
        </p:txBody>
      </p:sp>
      <p:sp>
        <p:nvSpPr>
          <p:cNvPr id="7" name="TextBox 6"/>
          <p:cNvSpPr txBox="1"/>
          <p:nvPr/>
        </p:nvSpPr>
        <p:spPr>
          <a:xfrm>
            <a:off x="1078992" y="4892040"/>
            <a:ext cx="6949440" cy="731520"/>
          </a:xfrm>
          <a:prstGeom prst="rect">
            <a:avLst/>
          </a:prstGeom>
          <a:noFill/>
          <a:effectLst/>
        </p:spPr>
        <p:txBody>
          <a:bodyPr wrap="square">
            <a:noAutofit/>
          </a:bodyPr>
          <a:lstStyle/>
          <a:p>
            <a:pPr eaLnBrk="1" hangingPunct="1"/>
            <a:r>
              <a:rPr sz="1500" b="0" lang="ja-JP" altLang="en-US">
                <a:solidFill>
                  <a:srgbClr val="C2C2C6"/>
                </a:solidFill>
                <a:latin typeface="Yu Mincho"/>
                <a:ea typeface="Yu Mincho"/>
              </a:rPr>
              <a:t>出願トレンド・担い手・多様性 — 世代交代の発見</a:t>
            </a:r>
          </a:p>
        </p:txBody>
      </p:sp>
      <p:sp>
        <p:nvSpPr>
          <p:cNvPr id="8" name="Rectangle 7"/>
          <p:cNvSpPr/>
          <p:nvPr/>
        </p:nvSpPr>
        <p:spPr>
          <a:xfrm>
            <a:off x="0" y="6492240"/>
            <a:ext cx="12188952" cy="27432"/>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22960" y="1952243"/>
            <a:ext cx="45720" cy="2496312"/>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1024128" y="1906524"/>
            <a:ext cx="4206240" cy="320040"/>
          </a:xfrm>
          <a:prstGeom prst="rect">
            <a:avLst/>
          </a:prstGeom>
          <a:noFill/>
          <a:effectLst/>
        </p:spPr>
        <p:txBody>
          <a:bodyPr wrap="square">
            <a:noAutofit/>
          </a:bodyPr>
          <a:lstStyle/>
          <a:p>
            <a:pPr eaLnBrk="1" hangingPunct="1"/>
            <a:r>
              <a:rPr sz="1100" b="1" lang="ja-JP" altLang="en-US">
                <a:solidFill>
                  <a:srgbClr val="C51212"/>
                </a:solidFill>
                <a:latin typeface="Yu Mincho"/>
                <a:ea typeface="Yu Mincho"/>
              </a:rPr>
              <a:t>SECTION 02 / 市場俯瞰</a:t>
            </a:r>
          </a:p>
        </p:txBody>
      </p:sp>
      <p:sp>
        <p:nvSpPr>
          <p:cNvPr id="4" name="TextBox 3"/>
          <p:cNvSpPr txBox="1"/>
          <p:nvPr/>
        </p:nvSpPr>
        <p:spPr>
          <a:xfrm>
            <a:off x="1024128" y="2290572"/>
            <a:ext cx="4206240" cy="2203704"/>
          </a:xfrm>
          <a:prstGeom prst="rect">
            <a:avLst/>
          </a:prstGeom>
          <a:noFill/>
          <a:effectLst/>
        </p:spPr>
        <p:txBody>
          <a:bodyPr wrap="square">
            <a:noAutofit/>
          </a:bodyPr>
          <a:lstStyle/>
          <a:p>
            <a:pPr eaLnBrk="1" hangingPunct="1">
              <a:lnSpc>
                <a:spcPct val="122000"/>
              </a:lnSpc>
            </a:pPr>
            <a:r>
              <a:rPr sz="2400" b="1" lang="ja-JP" altLang="en-US">
                <a:solidFill>
                  <a:srgbClr val="111111"/>
                </a:solidFill>
                <a:latin typeface="Yu Mincho"/>
                <a:ea typeface="Yu Mincho"/>
              </a:rPr>
              <a:t>件数の山だけでなく『誰が積んだ山か』を見る</a:t>
            </a:r>
          </a:p>
        </p:txBody>
      </p:sp>
      <p:sp>
        <p:nvSpPr>
          <p:cNvPr id="5" name="TextBox 4"/>
          <p:cNvSpPr txBox="1"/>
          <p:nvPr/>
        </p:nvSpPr>
        <p:spPr>
          <a:xfrm>
            <a:off x="5577840" y="1906524"/>
            <a:ext cx="5971032" cy="2587752"/>
          </a:xfrm>
          <a:prstGeom prst="rect">
            <a:avLst/>
          </a:prstGeom>
          <a:noFill/>
          <a:effectLst/>
        </p:spPr>
        <p:txBody>
          <a:bodyPr wrap="square">
            <a:noAutofit/>
          </a:bodyPr>
          <a:lstStyle/>
          <a:p>
            <a:pPr eaLnBrk="1" hangingPunct="1">
              <a:lnSpc>
                <a:spcPct val="140000"/>
              </a:lnSpc>
              <a:spcAft>
                <a:spcPts val="800"/>
              </a:spcAft>
            </a:pPr>
            <a:r>
              <a:rPr b="1" sz="1400" lang="ja-JP" altLang="en-US">
                <a:solidFill>
                  <a:srgbClr val="111111"/>
                </a:solidFill>
                <a:latin typeface="Century Gothic"/>
                <a:ea typeface="Yu Gothic"/>
              </a:rPr>
              <a:t>何を</a:t>
            </a:r>
            <a:r>
              <a:rPr b="0" sz="1400" lang="ja-JP" altLang="en-US">
                <a:solidFill>
                  <a:srgbClr val="111111"/>
                </a:solidFill>
                <a:latin typeface="Century Gothic"/>
                <a:ea typeface="Yu Gothic"/>
              </a:rPr>
              <a:t>: 出願件数の時系列、出願人ランキング、多様性指標、法的ステータスを俯瞰する</a:t>
            </a:r>
          </a:p>
          <a:p>
            <a:pPr eaLnBrk="1" hangingPunct="1">
              <a:lnSpc>
                <a:spcPct val="140000"/>
              </a:lnSpc>
              <a:spcAft>
                <a:spcPts val="800"/>
              </a:spcAft>
            </a:pPr>
            <a:r>
              <a:rPr b="1" sz="1400" lang="ja-JP" altLang="en-US">
                <a:solidFill>
                  <a:srgbClr val="111111"/>
                </a:solidFill>
                <a:latin typeface="Century Gothic"/>
                <a:ea typeface="Yu Gothic"/>
              </a:rPr>
              <a:t>なぜ</a:t>
            </a:r>
            <a:r>
              <a:rPr b="0" sz="1400" lang="ja-JP" altLang="en-US">
                <a:solidFill>
                  <a:srgbClr val="111111"/>
                </a:solidFill>
                <a:latin typeface="Century Gothic"/>
                <a:ea typeface="Yu Gothic"/>
              </a:rPr>
              <a:t>: 件数ランキング1位＝現在の主役、とは限らない。年代別に分解すると担い手が入れ替わっている</a:t>
            </a:r>
          </a:p>
          <a:p>
            <a:pPr eaLnBrk="1" hangingPunct="1">
              <a:lnSpc>
                <a:spcPct val="140000"/>
              </a:lnSpc>
              <a:spcAft>
                <a:spcPts val="800"/>
              </a:spcAft>
            </a:pPr>
            <a:r>
              <a:rPr b="1" sz="1400" lang="ja-JP" altLang="en-US">
                <a:solidFill>
                  <a:srgbClr val="111111"/>
                </a:solidFill>
                <a:latin typeface="Century Gothic"/>
                <a:ea typeface="Yu Gothic"/>
              </a:rPr>
              <a:t>着眼</a:t>
            </a:r>
            <a:r>
              <a:rPr b="0" sz="1400" lang="ja-JP" altLang="en-US">
                <a:solidFill>
                  <a:srgbClr val="111111"/>
                </a:solidFill>
                <a:latin typeface="Century Gothic"/>
                <a:ea typeface="Yu Gothic"/>
              </a:rPr>
              <a:t>: 直近5年の活動に絞ると、上位の顔ぶれが大きく変わる『世代交代』が浮かぶ</a:t>
            </a:r>
          </a:p>
          <a:p>
            <a:pPr eaLnBrk="1" hangingPunct="1">
              <a:lnSpc>
                <a:spcPct val="140000"/>
              </a:lnSpc>
              <a:spcAft>
                <a:spcPts val="800"/>
              </a:spcAft>
            </a:pPr>
            <a:r>
              <a:rPr b="1" sz="1400" lang="ja-JP" altLang="en-US">
                <a:solidFill>
                  <a:srgbClr val="111111"/>
                </a:solidFill>
                <a:latin typeface="Century Gothic"/>
                <a:ea typeface="Yu Gothic"/>
              </a:rPr>
              <a:t>裏取り</a:t>
            </a:r>
            <a:r>
              <a:rPr b="0" sz="1400" lang="ja-JP" altLang="en-US">
                <a:solidFill>
                  <a:srgbClr val="111111"/>
                </a:solidFill>
                <a:latin typeface="Century Gothic"/>
                <a:ea typeface="Yu Gothic"/>
              </a:rPr>
              <a:t>: ランキングを出願人×出願年で割り、休眠/現役/撤退を判別する</a:t>
            </a:r>
          </a:p>
        </p:txBody>
      </p:sp>
      <p:sp>
        <p:nvSpPr>
          <p:cNvPr id="6" name="TextBox 5"/>
          <p:cNvSpPr txBox="1"/>
          <p:nvPr/>
        </p:nvSpPr>
        <p:spPr>
          <a:xfrm>
            <a:off x="11384280" y="6419088"/>
            <a:ext cx="502920" cy="228600"/>
          </a:xfrm>
          <a:prstGeom prst="rect">
            <a:avLst/>
          </a:prstGeom>
          <a:noFill/>
          <a:effectLst/>
        </p:spPr>
        <p:txBody>
          <a:bodyPr wrap="none">
            <a:spAutoFit/>
          </a:bodyPr>
          <a:lstStyle/>
          <a:p>
            <a:pPr eaLnBrk="1" hangingPunct="1" algn="r"/>
            <a:r>
              <a:rPr sz="1000" b="0" lang="ja-JP" altLang="en-US">
                <a:solidFill>
                  <a:srgbClr val="686868"/>
                </a:solidFill>
                <a:latin typeface="Century Gothic"/>
                <a:ea typeface="Yu Gothic"/>
              </a:rPr>
              <a:t>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22960" y="521208"/>
            <a:ext cx="365760" cy="1270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22960" y="630936"/>
            <a:ext cx="10725912" cy="841248"/>
          </a:xfrm>
          <a:prstGeom prst="rect">
            <a:avLst/>
          </a:prstGeom>
          <a:noFill/>
          <a:effectLst/>
        </p:spPr>
        <p:txBody>
          <a:bodyPr wrap="square">
            <a:noAutofit/>
          </a:bodyPr>
          <a:lstStyle/>
          <a:p>
            <a:pPr eaLnBrk="1" hangingPunct="1">
              <a:lnSpc>
                <a:spcPct val="118000"/>
              </a:lnSpc>
            </a:pPr>
            <a:r>
              <a:rPr b="1" sz="2300" lang="ja-JP" altLang="en-US">
                <a:solidFill>
                  <a:srgbClr val="111111"/>
                </a:solidFill>
                <a:latin typeface="Yu Mincho"/>
                <a:ea typeface="Yu Mincho"/>
              </a:rPr>
              <a:t>出願は長い停滞を経て2022年から急伸、2023年に過去最高51件</a:t>
            </a:r>
          </a:p>
        </p:txBody>
      </p:sp>
      <p:sp>
        <p:nvSpPr>
          <p:cNvPr id="4" name="Rectangle 3"/>
          <p:cNvSpPr/>
          <p:nvPr/>
        </p:nvSpPr>
        <p:spPr>
          <a:xfrm>
            <a:off x="822960" y="1527048"/>
            <a:ext cx="10725912" cy="822959"/>
          </a:xfrm>
          <a:prstGeom prst="rect">
            <a:avLst/>
          </a:prstGeom>
          <a:solidFill>
            <a:srgbClr val="F6F7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822960" y="1527048"/>
            <a:ext cx="36576" cy="822959"/>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60120" y="1600200"/>
            <a:ext cx="10451592" cy="676655"/>
          </a:xfrm>
          <a:prstGeom prst="rect">
            <a:avLst/>
          </a:prstGeom>
          <a:noFill/>
          <a:effectLst/>
        </p:spPr>
        <p:txBody>
          <a:bodyPr wrap="square">
            <a:noAutofit/>
          </a:bodyPr>
          <a:lstStyle/>
          <a:p>
            <a:pPr eaLnBrk="1" hangingPunct="1">
              <a:lnSpc>
                <a:spcPct val="150000"/>
              </a:lnSpc>
            </a:pPr>
            <a:r>
              <a:rPr sz="1500" b="1" lang="ja-JP" altLang="en-US">
                <a:solidFill>
                  <a:srgbClr val="C51212"/>
                </a:solidFill>
                <a:latin typeface="Century Gothic"/>
                <a:ea typeface="Yu Gothic"/>
              </a:rPr>
              <a:t>■ </a:t>
            </a:r>
            <a:r>
              <a:rPr sz="1500" lang="ja-JP" altLang="en-US">
                <a:solidFill>
                  <a:srgbClr val="111111"/>
                </a:solidFill>
                <a:latin typeface="Century Gothic"/>
                <a:ea typeface="Yu Gothic"/>
              </a:rPr>
              <a:t>2008年(1件)の底から2023年(51件)へ。直近の山は脱炭素・資源循環の社会要請を背景にした再加速。</a:t>
            </a:r>
          </a:p>
        </p:txBody>
      </p:sp>
      <p:sp>
        <p:nvSpPr>
          <p:cNvPr id="7" name="TextBox 6"/>
          <p:cNvSpPr txBox="1"/>
          <p:nvPr/>
        </p:nvSpPr>
        <p:spPr>
          <a:xfrm>
            <a:off x="822960" y="2441448"/>
            <a:ext cx="7266553" cy="320040"/>
          </a:xfrm>
          <a:prstGeom prst="rect">
            <a:avLst/>
          </a:prstGeom>
          <a:noFill/>
          <a:effectLst/>
        </p:spPr>
        <p:txBody>
          <a:bodyPr wrap="none">
            <a:spAutoFit/>
          </a:bodyPr>
          <a:lstStyle/>
          <a:p>
            <a:pPr eaLnBrk="1" hangingPunct="1"/>
            <a:r>
              <a:rPr sz="1400" b="1" lang="ja-JP" altLang="en-US">
                <a:solidFill>
                  <a:srgbClr val="111111"/>
                </a:solidFill>
                <a:latin typeface="Yu Mincho"/>
                <a:ea typeface="Yu Mincho"/>
              </a:rPr>
              <a:t>出願件数推移（1996–2025）</a:t>
            </a:r>
          </a:p>
        </p:txBody>
      </p:sp>
      <p:pic>
        <p:nvPicPr>
          <p:cNvPr id="8" name="Picture 7" descr="atlas_trend_snap.png"/>
          <p:cNvPicPr>
            <a:picLocks noChangeAspect="1"/>
          </p:cNvPicPr>
          <p:nvPr/>
        </p:nvPicPr>
        <p:blipFill>
          <a:blip r:embed="rId2"/>
          <a:stretch>
            <a:fillRect/>
          </a:stretch>
        </p:blipFill>
        <p:spPr>
          <a:xfrm>
            <a:off x="1830892" y="2761488"/>
            <a:ext cx="5250687" cy="2953511"/>
          </a:xfrm>
          <a:prstGeom prst="rect">
            <a:avLst/>
          </a:prstGeom>
          <a:effectLst/>
        </p:spPr>
      </p:pic>
      <p:sp>
        <p:nvSpPr>
          <p:cNvPr id="9" name="TextBox 8"/>
          <p:cNvSpPr txBox="1"/>
          <p:nvPr/>
        </p:nvSpPr>
        <p:spPr>
          <a:xfrm>
            <a:off x="822960" y="5788152"/>
            <a:ext cx="7266553" cy="228600"/>
          </a:xfrm>
          <a:prstGeom prst="rect">
            <a:avLst/>
          </a:prstGeom>
          <a:noFill/>
          <a:effectLst/>
        </p:spPr>
        <p:txBody>
          <a:bodyPr wrap="none">
            <a:spAutoFit/>
          </a:bodyPr>
          <a:lstStyle/>
          <a:p>
            <a:pPr eaLnBrk="1" hangingPunct="1" algn="ctr"/>
            <a:r>
              <a:rPr sz="1000" b="0" lang="ja-JP" altLang="en-US">
                <a:solidFill>
                  <a:srgbClr val="686868"/>
                </a:solidFill>
                <a:latin typeface="Century Gothic"/>
                <a:ea typeface="Yu Gothic"/>
              </a:rPr>
              <a:t>本母集団417件の出願年分布</a:t>
            </a:r>
          </a:p>
        </p:txBody>
      </p:sp>
      <p:sp>
        <p:nvSpPr>
          <p:cNvPr id="10" name="TextBox 9"/>
          <p:cNvSpPr txBox="1"/>
          <p:nvPr/>
        </p:nvSpPr>
        <p:spPr>
          <a:xfrm>
            <a:off x="8427841" y="2514600"/>
            <a:ext cx="3468502" cy="3218687"/>
          </a:xfrm>
          <a:prstGeom prst="rect">
            <a:avLst/>
          </a:prstGeom>
          <a:noFill/>
          <a:effectLst/>
        </p:spPr>
        <p:txBody>
          <a:bodyPr wrap="square">
            <a:noAutofit/>
          </a:bodyPr>
          <a:lstStyle/>
          <a:p>
            <a:pPr eaLnBrk="1" hangingPunct="1">
              <a:lnSpc>
                <a:spcPct val="145000"/>
              </a:lnSpc>
              <a:spcAft>
                <a:spcPts val="600"/>
              </a:spcAft>
            </a:pPr>
            <a:r>
              <a:rPr sz="1400" lang="ja-JP" altLang="en-US">
                <a:solidFill>
                  <a:srgbClr val="111111"/>
                </a:solidFill>
                <a:latin typeface="Century Gothic"/>
                <a:ea typeface="Yu Gothic"/>
              </a:rPr>
              <a:t>■ </a:t>
            </a:r>
            <a:r>
              <a:rPr b="1" sz="1400" lang="ja-JP" altLang="en-US">
                <a:solidFill>
                  <a:srgbClr val="111111"/>
                </a:solidFill>
                <a:latin typeface="Century Gothic"/>
                <a:ea typeface="Yu Gothic"/>
              </a:rPr>
              <a:t>2000–2005年に第1の山</a:t>
            </a:r>
            <a:r>
              <a:rPr sz="1400" lang="ja-JP" altLang="en-US">
                <a:solidFill>
                  <a:srgbClr val="111111"/>
                </a:solidFill>
                <a:latin typeface="Century Gothic"/>
                <a:ea typeface="Yu Gothic"/>
              </a:rPr>
              <a:t>（2005年28件）。OA機器筐体など耐久財の再生樹脂が牽引した初期ピーク</a:t>
            </a:r>
          </a:p>
          <a:p>
            <a:pPr eaLnBrk="1" hangingPunct="1">
              <a:lnSpc>
                <a:spcPct val="145000"/>
              </a:lnSpc>
              <a:spcAft>
                <a:spcPts val="600"/>
              </a:spcAft>
            </a:pPr>
            <a:r>
              <a:rPr sz="1400" lang="ja-JP" altLang="en-US">
                <a:solidFill>
                  <a:srgbClr val="111111"/>
                </a:solidFill>
                <a:latin typeface="Century Gothic"/>
                <a:ea typeface="Yu Gothic"/>
              </a:rPr>
              <a:t>■ </a:t>
            </a:r>
            <a:r>
              <a:rPr b="1" sz="1400" lang="ja-JP" altLang="en-US">
                <a:solidFill>
                  <a:srgbClr val="111111"/>
                </a:solidFill>
                <a:latin typeface="Century Gothic"/>
                <a:ea typeface="Yu Gothic"/>
              </a:rPr>
              <a:t>2008–2018年は長期停滞</a:t>
            </a:r>
            <a:r>
              <a:rPr sz="1400" lang="ja-JP" altLang="en-US">
                <a:solidFill>
                  <a:srgbClr val="111111"/>
                </a:solidFill>
                <a:latin typeface="Century Gothic"/>
                <a:ea typeface="Yu Gothic"/>
              </a:rPr>
              <a:t>。年10件前後で推移し、技術・市場とも踊り場</a:t>
            </a:r>
          </a:p>
          <a:p>
            <a:pPr eaLnBrk="1" hangingPunct="1">
              <a:lnSpc>
                <a:spcPct val="145000"/>
              </a:lnSpc>
              <a:spcAft>
                <a:spcPts val="600"/>
              </a:spcAft>
            </a:pPr>
            <a:r>
              <a:rPr sz="1400" lang="ja-JP" altLang="en-US">
                <a:solidFill>
                  <a:srgbClr val="111111"/>
                </a:solidFill>
                <a:latin typeface="Century Gothic"/>
                <a:ea typeface="Yu Gothic"/>
              </a:rPr>
              <a:t>■ </a:t>
            </a:r>
            <a:r>
              <a:rPr b="1" sz="1400" lang="ja-JP" altLang="en-US">
                <a:solidFill>
                  <a:srgbClr val="111111"/>
                </a:solidFill>
                <a:latin typeface="Century Gothic"/>
                <a:ea typeface="Yu Gothic"/>
              </a:rPr>
              <a:t>2022年以降に第2の急伸</a:t>
            </a:r>
            <a:r>
              <a:rPr sz="1400" lang="ja-JP" altLang="en-US">
                <a:solidFill>
                  <a:srgbClr val="111111"/>
                </a:solidFill>
                <a:latin typeface="Century Gothic"/>
                <a:ea typeface="Yu Gothic"/>
              </a:rPr>
              <a:t>：30→</a:t>
            </a:r>
            <a:r>
              <a:rPr b="1" sz="1400" lang="ja-JP" altLang="en-US">
                <a:solidFill>
                  <a:srgbClr val="111111"/>
                </a:solidFill>
                <a:latin typeface="Century Gothic"/>
                <a:ea typeface="Yu Gothic"/>
              </a:rPr>
              <a:t>51</a:t>
            </a:r>
            <a:r>
              <a:rPr sz="1400" lang="ja-JP" altLang="en-US">
                <a:solidFill>
                  <a:srgbClr val="111111"/>
                </a:solidFill>
                <a:latin typeface="Century Gothic"/>
                <a:ea typeface="Yu Gothic"/>
              </a:rPr>
              <a:t>→45件。本母集団のCAGRは通期3.9%だが、直近は別次元の伸び</a:t>
            </a:r>
          </a:p>
          <a:p>
            <a:pPr eaLnBrk="1" hangingPunct="1">
              <a:lnSpc>
                <a:spcPct val="145000"/>
              </a:lnSpc>
              <a:spcAft>
                <a:spcPts val="600"/>
              </a:spcAft>
            </a:pPr>
            <a:r>
              <a:rPr sz="1400" lang="ja-JP" altLang="en-US">
                <a:solidFill>
                  <a:srgbClr val="111111"/>
                </a:solidFill>
                <a:latin typeface="Century Gothic"/>
                <a:ea typeface="Yu Gothic"/>
              </a:rPr>
              <a:t>■ </a:t>
            </a:r>
            <a:r>
              <a:rPr sz="1400" lang="ja-JP" altLang="en-US">
                <a:solidFill>
                  <a:srgbClr val="111111"/>
                </a:solidFill>
                <a:latin typeface="Century Gothic"/>
                <a:ea typeface="Yu Gothic"/>
              </a:rPr>
              <a:t>直近の山は『再生材利用の義務化・自主目標』という外部圧力と同期した構造的なもの</a:t>
            </a:r>
          </a:p>
        </p:txBody>
      </p:sp>
      <p:sp>
        <p:nvSpPr>
          <p:cNvPr id="11" name="TextBox 10"/>
          <p:cNvSpPr txBox="1"/>
          <p:nvPr/>
        </p:nvSpPr>
        <p:spPr>
          <a:xfrm>
            <a:off x="457200" y="6053328"/>
            <a:ext cx="11247120" cy="320040"/>
          </a:xfrm>
          <a:prstGeom prst="rect">
            <a:avLst/>
          </a:prstGeom>
          <a:noFill/>
          <a:effectLst/>
        </p:spPr>
        <p:txBody>
          <a:bodyPr wrap="square">
            <a:noAutofit/>
          </a:bodyPr>
          <a:lstStyle/>
          <a:p>
            <a:pPr eaLnBrk="1" hangingPunct="1"/>
            <a:r>
              <a:rPr sz="900" b="0" lang="ja-JP" altLang="en-US">
                <a:solidFill>
                  <a:srgbClr val="686868"/>
                </a:solidFill>
                <a:latin typeface="Century Gothic"/>
                <a:ea typeface="Yu Gothic"/>
              </a:rPr>
              <a:t>（出所）特許データベース Cyber patent desc（2026-06-14）</a:t>
            </a:r>
          </a:p>
        </p:txBody>
      </p:sp>
      <p:sp>
        <p:nvSpPr>
          <p:cNvPr id="12" name="TextBox 11"/>
          <p:cNvSpPr txBox="1"/>
          <p:nvPr/>
        </p:nvSpPr>
        <p:spPr>
          <a:xfrm>
            <a:off x="11384280" y="6419088"/>
            <a:ext cx="502920" cy="228600"/>
          </a:xfrm>
          <a:prstGeom prst="rect">
            <a:avLst/>
          </a:prstGeom>
          <a:noFill/>
          <a:effectLst/>
        </p:spPr>
        <p:txBody>
          <a:bodyPr wrap="none">
            <a:spAutoFit/>
          </a:bodyPr>
          <a:lstStyle/>
          <a:p>
            <a:pPr eaLnBrk="1" hangingPunct="1" algn="r"/>
            <a:r>
              <a:rPr sz="1000" b="0" lang="ja-JP" altLang="en-US">
                <a:solidFill>
                  <a:srgbClr val="686868"/>
                </a:solidFill>
                <a:latin typeface="Century Gothic"/>
                <a:ea typeface="Yu Gothic"/>
              </a:rPr>
              <a:t>8</a:t>
            </a:r>
          </a:p>
        </p:txBody>
      </p:sp>
      <p:cxnSp>
        <p:nvCxnSpPr>
          <p:cNvPr id="13" name="Connector 12"/>
          <p:cNvCxnSpPr/>
          <p:nvPr/>
        </p:nvCxnSpPr>
        <p:spPr>
          <a:xfrm>
            <a:off x="11859767" y="128016"/>
            <a:ext cx="201169" cy="0"/>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14" name="Connector 13"/>
          <p:cNvCxnSpPr/>
          <p:nvPr/>
        </p:nvCxnSpPr>
        <p:spPr>
          <a:xfrm>
            <a:off x="12060936" y="128016"/>
            <a:ext cx="0" cy="201168"/>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15" name="Connector 14"/>
          <p:cNvCxnSpPr/>
          <p:nvPr/>
        </p:nvCxnSpPr>
        <p:spPr>
          <a:xfrm>
            <a:off x="128016" y="6729984"/>
            <a:ext cx="201168" cy="0"/>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a:off x="128016" y="6528816"/>
            <a:ext cx="0" cy="201168"/>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22960" y="521208"/>
            <a:ext cx="365760" cy="1270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22960" y="630936"/>
            <a:ext cx="10725912" cy="713232"/>
          </a:xfrm>
          <a:prstGeom prst="rect">
            <a:avLst/>
          </a:prstGeom>
          <a:noFill/>
          <a:effectLst/>
        </p:spPr>
        <p:txBody>
          <a:bodyPr wrap="square">
            <a:noAutofit/>
          </a:bodyPr>
          <a:lstStyle/>
          <a:p>
            <a:pPr eaLnBrk="1" hangingPunct="1">
              <a:lnSpc>
                <a:spcPct val="118000"/>
              </a:lnSpc>
            </a:pPr>
            <a:r>
              <a:rPr b="1" sz="2700" lang="ja-JP" altLang="en-US">
                <a:solidFill>
                  <a:srgbClr val="111111"/>
                </a:solidFill>
                <a:latin typeface="Yu Mincho"/>
                <a:ea typeface="Yu Mincho"/>
              </a:rPr>
              <a:t>出願人は分散的（HHI 0.042）、特定企業の寡占はない</a:t>
            </a:r>
          </a:p>
        </p:txBody>
      </p:sp>
      <p:sp>
        <p:nvSpPr>
          <p:cNvPr id="4" name="Rectangle 3"/>
          <p:cNvSpPr/>
          <p:nvPr/>
        </p:nvSpPr>
        <p:spPr>
          <a:xfrm>
            <a:off x="822960" y="1399032"/>
            <a:ext cx="10725912" cy="822959"/>
          </a:xfrm>
          <a:prstGeom prst="rect">
            <a:avLst/>
          </a:prstGeom>
          <a:solidFill>
            <a:srgbClr val="F6F7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822960" y="1399032"/>
            <a:ext cx="36576" cy="822959"/>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60120" y="1472184"/>
            <a:ext cx="10451592" cy="676655"/>
          </a:xfrm>
          <a:prstGeom prst="rect">
            <a:avLst/>
          </a:prstGeom>
          <a:noFill/>
          <a:effectLst/>
        </p:spPr>
        <p:txBody>
          <a:bodyPr wrap="square">
            <a:noAutofit/>
          </a:bodyPr>
          <a:lstStyle/>
          <a:p>
            <a:pPr eaLnBrk="1" hangingPunct="1">
              <a:lnSpc>
                <a:spcPct val="150000"/>
              </a:lnSpc>
            </a:pPr>
            <a:r>
              <a:rPr sz="1500" b="1" lang="ja-JP" altLang="en-US">
                <a:solidFill>
                  <a:srgbClr val="C51212"/>
                </a:solidFill>
                <a:latin typeface="Century Gothic"/>
                <a:ea typeface="Yu Gothic"/>
              </a:rPr>
              <a:t>■ </a:t>
            </a:r>
            <a:r>
              <a:rPr sz="1500" lang="ja-JP" altLang="en-US">
                <a:solidFill>
                  <a:srgbClr val="111111"/>
                </a:solidFill>
                <a:latin typeface="Century Gothic"/>
                <a:ea typeface="Yu Gothic"/>
              </a:rPr>
              <a:t>上位でも東レ・東ソー各19件で全体の約5%。</a:t>
            </a:r>
            <a:r>
              <a:rPr b="1" sz="1500" lang="ja-JP" altLang="en-US">
                <a:solidFill>
                  <a:srgbClr val="111111"/>
                </a:solidFill>
                <a:latin typeface="Century Gothic"/>
                <a:ea typeface="Yu Gothic"/>
              </a:rPr>
              <a:t>本母集団では</a:t>
            </a:r>
            <a:r>
              <a:rPr sz="1500" lang="ja-JP" altLang="en-US">
                <a:solidFill>
                  <a:srgbClr val="111111"/>
                </a:solidFill>
                <a:latin typeface="Century Gothic"/>
                <a:ea typeface="Yu Gothic"/>
              </a:rPr>
              <a:t>多数の素材/化学メーカーが横並びで参入。</a:t>
            </a:r>
          </a:p>
        </p:txBody>
      </p:sp>
      <p:sp>
        <p:nvSpPr>
          <p:cNvPr id="7" name="TextBox 6"/>
          <p:cNvSpPr txBox="1"/>
          <p:nvPr/>
        </p:nvSpPr>
        <p:spPr>
          <a:xfrm>
            <a:off x="822960" y="2313432"/>
            <a:ext cx="7266553" cy="320040"/>
          </a:xfrm>
          <a:prstGeom prst="rect">
            <a:avLst/>
          </a:prstGeom>
          <a:noFill/>
          <a:effectLst/>
        </p:spPr>
        <p:txBody>
          <a:bodyPr wrap="none">
            <a:spAutoFit/>
          </a:bodyPr>
          <a:lstStyle/>
          <a:p>
            <a:pPr eaLnBrk="1" hangingPunct="1"/>
            <a:r>
              <a:rPr sz="1400" b="1" lang="ja-JP" altLang="en-US">
                <a:solidFill>
                  <a:srgbClr val="111111"/>
                </a:solidFill>
                <a:latin typeface="Yu Mincho"/>
                <a:ea typeface="Yu Mincho"/>
              </a:rPr>
              <a:t>主要出願人ランキング</a:t>
            </a:r>
          </a:p>
        </p:txBody>
      </p:sp>
      <p:pic>
        <p:nvPicPr>
          <p:cNvPr id="8" name="Picture 7" descr="atlas_applicant_snap.png"/>
          <p:cNvPicPr>
            <a:picLocks noChangeAspect="1"/>
          </p:cNvPicPr>
          <p:nvPr/>
        </p:nvPicPr>
        <p:blipFill>
          <a:blip r:embed="rId2"/>
          <a:stretch>
            <a:fillRect/>
          </a:stretch>
        </p:blipFill>
        <p:spPr>
          <a:xfrm>
            <a:off x="1717100" y="2633472"/>
            <a:ext cx="5478272" cy="3081527"/>
          </a:xfrm>
          <a:prstGeom prst="rect">
            <a:avLst/>
          </a:prstGeom>
          <a:effectLst/>
        </p:spPr>
      </p:pic>
      <p:sp>
        <p:nvSpPr>
          <p:cNvPr id="9" name="TextBox 8"/>
          <p:cNvSpPr txBox="1"/>
          <p:nvPr/>
        </p:nvSpPr>
        <p:spPr>
          <a:xfrm>
            <a:off x="822960" y="5788152"/>
            <a:ext cx="7266553" cy="228600"/>
          </a:xfrm>
          <a:prstGeom prst="rect">
            <a:avLst/>
          </a:prstGeom>
          <a:noFill/>
          <a:effectLst/>
        </p:spPr>
        <p:txBody>
          <a:bodyPr wrap="none">
            <a:spAutoFit/>
          </a:bodyPr>
          <a:lstStyle/>
          <a:p>
            <a:pPr eaLnBrk="1" hangingPunct="1" algn="ctr"/>
            <a:r>
              <a:rPr sz="1000" b="0" lang="ja-JP" altLang="en-US">
                <a:solidFill>
                  <a:srgbClr val="686868"/>
                </a:solidFill>
                <a:latin typeface="Century Gothic"/>
                <a:ea typeface="Yu Gothic"/>
              </a:rPr>
              <a:t>上位出願人の累積件数</a:t>
            </a:r>
          </a:p>
        </p:txBody>
      </p:sp>
      <p:sp>
        <p:nvSpPr>
          <p:cNvPr id="10" name="TextBox 9"/>
          <p:cNvSpPr txBox="1"/>
          <p:nvPr/>
        </p:nvSpPr>
        <p:spPr>
          <a:xfrm>
            <a:off x="8427841" y="2386584"/>
            <a:ext cx="3468502" cy="3346703"/>
          </a:xfrm>
          <a:prstGeom prst="rect">
            <a:avLst/>
          </a:prstGeom>
          <a:noFill/>
          <a:effectLst/>
        </p:spPr>
        <p:txBody>
          <a:bodyPr wrap="square">
            <a:noAutofit/>
          </a:bodyPr>
          <a:lstStyle/>
          <a:p>
            <a:pPr eaLnBrk="1" hangingPunct="1">
              <a:lnSpc>
                <a:spcPct val="145000"/>
              </a:lnSpc>
              <a:spcAft>
                <a:spcPts val="600"/>
              </a:spcAft>
            </a:pPr>
            <a:r>
              <a:rPr sz="1400" lang="ja-JP" altLang="en-US">
                <a:solidFill>
                  <a:srgbClr val="111111"/>
                </a:solidFill>
                <a:latin typeface="Century Gothic"/>
                <a:ea typeface="Yu Gothic"/>
              </a:rPr>
              <a:t>■ </a:t>
            </a:r>
            <a:r>
              <a:rPr b="1" sz="1400" lang="ja-JP" altLang="en-US">
                <a:solidFill>
                  <a:srgbClr val="111111"/>
                </a:solidFill>
                <a:latin typeface="Century Gothic"/>
                <a:ea typeface="Yu Gothic"/>
              </a:rPr>
              <a:t>HHI 0.042＝競争的・分散型</a:t>
            </a:r>
            <a:r>
              <a:rPr sz="1400" lang="ja-JP" altLang="en-US">
                <a:solidFill>
                  <a:srgbClr val="111111"/>
                </a:solidFill>
                <a:latin typeface="Century Gothic"/>
                <a:ea typeface="Yu Gothic"/>
              </a:rPr>
              <a:t>。上位1社シェアは5%未満で寡占構造ではない</a:t>
            </a:r>
          </a:p>
          <a:p>
            <a:pPr eaLnBrk="1" hangingPunct="1">
              <a:lnSpc>
                <a:spcPct val="145000"/>
              </a:lnSpc>
              <a:spcAft>
                <a:spcPts val="600"/>
              </a:spcAft>
            </a:pPr>
            <a:r>
              <a:rPr sz="1400" lang="ja-JP" altLang="en-US">
                <a:solidFill>
                  <a:srgbClr val="111111"/>
                </a:solidFill>
                <a:latin typeface="Century Gothic"/>
                <a:ea typeface="Yu Gothic"/>
              </a:rPr>
              <a:t>■ </a:t>
            </a:r>
            <a:r>
              <a:rPr sz="1400" lang="ja-JP" altLang="en-US">
                <a:solidFill>
                  <a:srgbClr val="111111"/>
                </a:solidFill>
                <a:latin typeface="Century Gothic"/>
                <a:ea typeface="Yu Gothic"/>
              </a:rPr>
              <a:t>Entropy 4.75 / Gini 0.26 も分散を裏づけ。技術が特定企業に囲い込まれていない開放局面</a:t>
            </a:r>
          </a:p>
          <a:p>
            <a:pPr eaLnBrk="1" hangingPunct="1">
              <a:lnSpc>
                <a:spcPct val="145000"/>
              </a:lnSpc>
              <a:spcAft>
                <a:spcPts val="600"/>
              </a:spcAft>
            </a:pPr>
            <a:r>
              <a:rPr sz="1400" lang="ja-JP" altLang="en-US">
                <a:solidFill>
                  <a:srgbClr val="111111"/>
                </a:solidFill>
                <a:latin typeface="Century Gothic"/>
                <a:ea typeface="Yu Gothic"/>
              </a:rPr>
              <a:t>■ </a:t>
            </a:r>
            <a:r>
              <a:rPr sz="1400" lang="ja-JP" altLang="en-US">
                <a:solidFill>
                  <a:srgbClr val="111111"/>
                </a:solidFill>
                <a:latin typeface="Century Gothic"/>
                <a:ea typeface="Yu Gothic"/>
              </a:rPr>
              <a:t>上位=東レ19・東ソー19・LG化学18・三菱電機14・旭化成11・帝人化成11</a:t>
            </a:r>
          </a:p>
          <a:p>
            <a:pPr eaLnBrk="1" hangingPunct="1">
              <a:lnSpc>
                <a:spcPct val="145000"/>
              </a:lnSpc>
              <a:spcAft>
                <a:spcPts val="600"/>
              </a:spcAft>
            </a:pPr>
            <a:r>
              <a:rPr sz="1400" lang="ja-JP" altLang="en-US">
                <a:solidFill>
                  <a:srgbClr val="111111"/>
                </a:solidFill>
                <a:latin typeface="Century Gothic"/>
                <a:ea typeface="Yu Gothic"/>
              </a:rPr>
              <a:t>■ </a:t>
            </a:r>
            <a:r>
              <a:rPr sz="1400" lang="ja-JP" altLang="en-US">
                <a:solidFill>
                  <a:srgbClr val="111111"/>
                </a:solidFill>
                <a:latin typeface="Century Gothic"/>
                <a:ea typeface="Yu Gothic"/>
              </a:rPr>
              <a:t>ただし</a:t>
            </a:r>
            <a:r>
              <a:rPr b="1" sz="1400" lang="ja-JP" altLang="en-US">
                <a:solidFill>
                  <a:srgbClr val="111111"/>
                </a:solidFill>
                <a:latin typeface="Century Gothic"/>
                <a:ea typeface="Yu Gothic"/>
              </a:rPr>
              <a:t>この総件数ランキングは年代を混ぜており、現在の担い手を誤読させる</a:t>
            </a:r>
            <a:r>
              <a:rPr sz="1400" lang="ja-JP" altLang="en-US">
                <a:solidFill>
                  <a:srgbClr val="111111"/>
                </a:solidFill>
                <a:latin typeface="Century Gothic"/>
                <a:ea typeface="Yu Gothic"/>
              </a:rPr>
              <a:t>（次頁で分解）</a:t>
            </a:r>
          </a:p>
        </p:txBody>
      </p:sp>
      <p:sp>
        <p:nvSpPr>
          <p:cNvPr id="11" name="TextBox 10"/>
          <p:cNvSpPr txBox="1"/>
          <p:nvPr/>
        </p:nvSpPr>
        <p:spPr>
          <a:xfrm>
            <a:off x="457200" y="6053328"/>
            <a:ext cx="11247120" cy="320040"/>
          </a:xfrm>
          <a:prstGeom prst="rect">
            <a:avLst/>
          </a:prstGeom>
          <a:noFill/>
          <a:effectLst/>
        </p:spPr>
        <p:txBody>
          <a:bodyPr wrap="square">
            <a:noAutofit/>
          </a:bodyPr>
          <a:lstStyle/>
          <a:p>
            <a:pPr eaLnBrk="1" hangingPunct="1"/>
            <a:r>
              <a:rPr sz="900" b="0" lang="ja-JP" altLang="en-US">
                <a:solidFill>
                  <a:srgbClr val="686868"/>
                </a:solidFill>
                <a:latin typeface="Century Gothic"/>
                <a:ea typeface="Yu Gothic"/>
              </a:rPr>
              <a:t>（出所）特許データベース Cyber patent desc（2026-06-14）</a:t>
            </a:r>
          </a:p>
        </p:txBody>
      </p:sp>
      <p:sp>
        <p:nvSpPr>
          <p:cNvPr id="12" name="TextBox 11"/>
          <p:cNvSpPr txBox="1"/>
          <p:nvPr/>
        </p:nvSpPr>
        <p:spPr>
          <a:xfrm>
            <a:off x="11384280" y="6419088"/>
            <a:ext cx="502920" cy="228600"/>
          </a:xfrm>
          <a:prstGeom prst="rect">
            <a:avLst/>
          </a:prstGeom>
          <a:noFill/>
          <a:effectLst/>
        </p:spPr>
        <p:txBody>
          <a:bodyPr wrap="none">
            <a:spAutoFit/>
          </a:bodyPr>
          <a:lstStyle/>
          <a:p>
            <a:pPr eaLnBrk="1" hangingPunct="1" algn="r"/>
            <a:r>
              <a:rPr sz="1000" b="0" lang="ja-JP" altLang="en-US">
                <a:solidFill>
                  <a:srgbClr val="686868"/>
                </a:solidFill>
                <a:latin typeface="Century Gothic"/>
                <a:ea typeface="Yu Gothic"/>
              </a:rPr>
              <a:t>9</a:t>
            </a:r>
          </a:p>
        </p:txBody>
      </p:sp>
      <p:cxnSp>
        <p:nvCxnSpPr>
          <p:cNvPr id="13" name="Connector 12"/>
          <p:cNvCxnSpPr/>
          <p:nvPr/>
        </p:nvCxnSpPr>
        <p:spPr>
          <a:xfrm>
            <a:off x="11859767" y="128016"/>
            <a:ext cx="201169" cy="0"/>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14" name="Connector 13"/>
          <p:cNvCxnSpPr/>
          <p:nvPr/>
        </p:nvCxnSpPr>
        <p:spPr>
          <a:xfrm>
            <a:off x="12060936" y="128016"/>
            <a:ext cx="0" cy="201168"/>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15" name="Connector 14"/>
          <p:cNvCxnSpPr/>
          <p:nvPr/>
        </p:nvCxnSpPr>
        <p:spPr>
          <a:xfrm>
            <a:off x="128016" y="6729984"/>
            <a:ext cx="201168" cy="0"/>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a:off x="128016" y="6528816"/>
            <a:ext cx="0" cy="201168"/>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22960" y="521208"/>
            <a:ext cx="365760" cy="1270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22960" y="630936"/>
            <a:ext cx="10725912" cy="713232"/>
          </a:xfrm>
          <a:prstGeom prst="rect">
            <a:avLst/>
          </a:prstGeom>
          <a:noFill/>
          <a:effectLst/>
        </p:spPr>
        <p:txBody>
          <a:bodyPr wrap="square">
            <a:noAutofit/>
          </a:bodyPr>
          <a:lstStyle/>
          <a:p>
            <a:pPr eaLnBrk="1" hangingPunct="1">
              <a:lnSpc>
                <a:spcPct val="118000"/>
              </a:lnSpc>
            </a:pPr>
            <a:r>
              <a:rPr b="1" sz="2700" lang="ja-JP" altLang="en-US">
                <a:solidFill>
                  <a:srgbClr val="111111"/>
                </a:solidFill>
                <a:latin typeface="Yu Mincho"/>
                <a:ea typeface="Yu Mincho"/>
              </a:rPr>
              <a:t>件数上位を年代分解すると担い手が入れ替わる ～世代交代の証拠</a:t>
            </a:r>
          </a:p>
        </p:txBody>
      </p:sp>
      <p:sp>
        <p:nvSpPr>
          <p:cNvPr id="4" name="Rectangle 3"/>
          <p:cNvSpPr/>
          <p:nvPr/>
        </p:nvSpPr>
        <p:spPr>
          <a:xfrm>
            <a:off x="822960" y="1399032"/>
            <a:ext cx="10725912" cy="822959"/>
          </a:xfrm>
          <a:prstGeom prst="rect">
            <a:avLst/>
          </a:prstGeom>
          <a:solidFill>
            <a:srgbClr val="F6F7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822960" y="1399032"/>
            <a:ext cx="36576" cy="822959"/>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60120" y="1472184"/>
            <a:ext cx="10451592" cy="676655"/>
          </a:xfrm>
          <a:prstGeom prst="rect">
            <a:avLst/>
          </a:prstGeom>
          <a:noFill/>
          <a:effectLst/>
        </p:spPr>
        <p:txBody>
          <a:bodyPr wrap="square">
            <a:noAutofit/>
          </a:bodyPr>
          <a:lstStyle/>
          <a:p>
            <a:pPr eaLnBrk="1" hangingPunct="1">
              <a:lnSpc>
                <a:spcPct val="150000"/>
              </a:lnSpc>
            </a:pPr>
            <a:r>
              <a:rPr sz="1500" b="1" lang="ja-JP" altLang="en-US">
                <a:solidFill>
                  <a:srgbClr val="C51212"/>
                </a:solidFill>
                <a:latin typeface="Century Gothic"/>
                <a:ea typeface="Yu Gothic"/>
              </a:rPr>
              <a:t>■ </a:t>
            </a:r>
            <a:r>
              <a:rPr sz="1500" lang="ja-JP" altLang="en-US">
                <a:solidFill>
                  <a:srgbClr val="111111"/>
                </a:solidFill>
                <a:latin typeface="Century Gothic"/>
                <a:ea typeface="Yu Gothic"/>
              </a:rPr>
              <a:t>総件数1位級の帝人化成・三菱電機は</a:t>
            </a:r>
            <a:r>
              <a:rPr b="1" sz="1500" lang="ja-JP" altLang="en-US">
                <a:solidFill>
                  <a:srgbClr val="111111"/>
                </a:solidFill>
                <a:latin typeface="Century Gothic"/>
                <a:ea typeface="Yu Gothic"/>
              </a:rPr>
              <a:t>直近出願ゼロ</a:t>
            </a:r>
            <a:r>
              <a:rPr sz="1500" lang="ja-JP" altLang="en-US">
                <a:solidFill>
                  <a:srgbClr val="111111"/>
                </a:solidFill>
                <a:latin typeface="Century Gothic"/>
                <a:ea typeface="Yu Gothic"/>
              </a:rPr>
              <a:t>。一方 東ソー・LG・旭化成・住友は</a:t>
            </a:r>
            <a:r>
              <a:rPr b="1" sz="1500" lang="ja-JP" altLang="en-US">
                <a:solidFill>
                  <a:srgbClr val="111111"/>
                </a:solidFill>
                <a:latin typeface="Century Gothic"/>
                <a:ea typeface="Yu Gothic"/>
              </a:rPr>
              <a:t>件数の100%が直近5年</a:t>
            </a:r>
            <a:r>
              <a:rPr sz="1500" lang="ja-JP" altLang="en-US">
                <a:solidFill>
                  <a:srgbClr val="111111"/>
                </a:solidFill>
                <a:latin typeface="Century Gothic"/>
                <a:ea typeface="Yu Gothic"/>
              </a:rPr>
              <a:t>。</a:t>
            </a:r>
          </a:p>
        </p:txBody>
      </p:sp>
      <p:graphicFrame>
        <p:nvGraphicFramePr>
          <p:cNvPr id="7" name="Table 6"/>
          <p:cNvGraphicFramePr>
            <a:graphicFrameLocks noGrp="1"/>
          </p:cNvGraphicFramePr>
          <p:nvPr/>
        </p:nvGraphicFramePr>
        <p:xfrm>
          <a:off x="457200" y="2313432"/>
          <a:ext cx="8778240" cy="3493007"/>
        </p:xfrm>
        <a:graphic>
          <a:graphicData uri="http://schemas.openxmlformats.org/drawingml/2006/table">
            <a:tbl>
              <a:tblPr firstRow="1" bandRow="1">
                <a:tableStyleId>{5C22544A-7EE6-4342-B048-85BDC9FD1C3A}</a:tableStyleId>
              </a:tblPr>
              <a:tblGrid>
                <a:gridCol w="1828800"/>
                <a:gridCol w="914400"/>
                <a:gridCol w="1463040"/>
                <a:gridCol w="1463040"/>
                <a:gridCol w="1463040"/>
                <a:gridCol w="1645920"/>
              </a:tblGrid>
              <a:tr h="388111">
                <a:tc>
                  <a:txBody>
                    <a:bodyPr/>
                    <a:lstStyle/>
                    <a:p>
                      <a:pPr eaLnBrk="1" hangingPunct="1"/>
                      <a:r>
                        <a:rPr sz="1200" b="1" lang="ja-JP" altLang="en-US">
                          <a:solidFill>
                            <a:srgbClr val="FFFFFF"/>
                          </a:solidFill>
                          <a:latin typeface="Century Gothic"/>
                          <a:ea typeface="Yu Gothic"/>
                        </a:rPr>
                        <a:t>出願人</a:t>
                      </a:r>
                    </a:p>
                  </a:txBody>
                  <a:tcPr>
                    <a:solidFill>
                      <a:srgbClr val="111111"/>
                    </a:solidFill>
                  </a:tcPr>
                </a:tc>
                <a:tc>
                  <a:txBody>
                    <a:bodyPr/>
                    <a:lstStyle/>
                    <a:p>
                      <a:pPr eaLnBrk="1" hangingPunct="1"/>
                      <a:r>
                        <a:rPr sz="1200" b="1" lang="ja-JP" altLang="en-US">
                          <a:solidFill>
                            <a:srgbClr val="FFFFFF"/>
                          </a:solidFill>
                          <a:latin typeface="Century Gothic"/>
                          <a:ea typeface="Yu Gothic"/>
                        </a:rPr>
                        <a:t>総件数</a:t>
                      </a:r>
                    </a:p>
                  </a:txBody>
                  <a:tcPr>
                    <a:solidFill>
                      <a:srgbClr val="111111"/>
                    </a:solidFill>
                  </a:tcPr>
                </a:tc>
                <a:tc>
                  <a:txBody>
                    <a:bodyPr/>
                    <a:lstStyle/>
                    <a:p>
                      <a:pPr eaLnBrk="1" hangingPunct="1"/>
                      <a:r>
                        <a:rPr sz="1200" b="1" lang="ja-JP" altLang="en-US">
                          <a:solidFill>
                            <a:srgbClr val="FFFFFF"/>
                          </a:solidFill>
                          <a:latin typeface="Century Gothic"/>
                          <a:ea typeface="Yu Gothic"/>
                        </a:rPr>
                        <a:t>中央値の出願年</a:t>
                      </a:r>
                    </a:p>
                  </a:txBody>
                  <a:tcPr>
                    <a:solidFill>
                      <a:srgbClr val="111111"/>
                    </a:solidFill>
                  </a:tcPr>
                </a:tc>
                <a:tc>
                  <a:txBody>
                    <a:bodyPr/>
                    <a:lstStyle/>
                    <a:p>
                      <a:pPr eaLnBrk="1" hangingPunct="1"/>
                      <a:r>
                        <a:rPr sz="1200" b="1" lang="ja-JP" altLang="en-US">
                          <a:solidFill>
                            <a:srgbClr val="FFFFFF"/>
                          </a:solidFill>
                          <a:latin typeface="Century Gothic"/>
                          <a:ea typeface="Yu Gothic"/>
                        </a:rPr>
                        <a:t>出願期間</a:t>
                      </a:r>
                    </a:p>
                  </a:txBody>
                  <a:tcPr>
                    <a:solidFill>
                      <a:srgbClr val="111111"/>
                    </a:solidFill>
                  </a:tcPr>
                </a:tc>
                <a:tc>
                  <a:txBody>
                    <a:bodyPr/>
                    <a:lstStyle/>
                    <a:p>
                      <a:pPr eaLnBrk="1" hangingPunct="1"/>
                      <a:r>
                        <a:rPr sz="1200" b="1" lang="ja-JP" altLang="en-US">
                          <a:solidFill>
                            <a:srgbClr val="FFFFFF"/>
                          </a:solidFill>
                          <a:latin typeface="Century Gothic"/>
                          <a:ea typeface="Yu Gothic"/>
                        </a:rPr>
                        <a:t>直近5年(2020-)</a:t>
                      </a:r>
                    </a:p>
                  </a:txBody>
                  <a:tcPr>
                    <a:solidFill>
                      <a:srgbClr val="111111"/>
                    </a:solidFill>
                  </a:tcPr>
                </a:tc>
                <a:tc>
                  <a:txBody>
                    <a:bodyPr/>
                    <a:lstStyle/>
                    <a:p>
                      <a:pPr eaLnBrk="1" hangingPunct="1"/>
                      <a:r>
                        <a:rPr sz="1200" b="1" lang="ja-JP" altLang="en-US">
                          <a:solidFill>
                            <a:srgbClr val="FFFFFF"/>
                          </a:solidFill>
                          <a:latin typeface="Century Gothic"/>
                          <a:ea typeface="Yu Gothic"/>
                        </a:rPr>
                        <a:t>現在の位置づけ</a:t>
                      </a:r>
                    </a:p>
                  </a:txBody>
                  <a:tcPr>
                    <a:solidFill>
                      <a:srgbClr val="111111"/>
                    </a:solidFill>
                  </a:tcPr>
                </a:tc>
              </a:tr>
              <a:tr h="388111">
                <a:tc>
                  <a:txBody>
                    <a:bodyPr/>
                    <a:lstStyle/>
                    <a:p>
                      <a:pPr eaLnBrk="1" hangingPunct="1"/>
                      <a:r>
                        <a:rPr sz="1100" b="1" lang="ja-JP" altLang="en-US">
                          <a:solidFill>
                            <a:srgbClr val="C51212"/>
                          </a:solidFill>
                          <a:latin typeface="Century Gothic"/>
                          <a:ea typeface="Yu Gothic"/>
                        </a:rPr>
                        <a:t>東ソー</a:t>
                      </a:r>
                    </a:p>
                  </a:txBody>
                  <a:tcPr>
                    <a:solidFill>
                      <a:srgbClr val="F6F7F8"/>
                    </a:solidFill>
                  </a:tcPr>
                </a:tc>
                <a:tc>
                  <a:txBody>
                    <a:bodyPr/>
                    <a:lstStyle/>
                    <a:p>
                      <a:pPr eaLnBrk="1" hangingPunct="1"/>
                      <a:r>
                        <a:rPr sz="1100" b="1" lang="ja-JP" altLang="en-US">
                          <a:solidFill>
                            <a:srgbClr val="111111"/>
                          </a:solidFill>
                          <a:latin typeface="Century Gothic"/>
                          <a:ea typeface="Yu Gothic"/>
                        </a:rPr>
                        <a:t>19</a:t>
                      </a:r>
                    </a:p>
                  </a:txBody>
                  <a:tcPr>
                    <a:solidFill>
                      <a:srgbClr val="F6F7F8"/>
                    </a:solidFill>
                  </a:tcPr>
                </a:tc>
                <a:tc>
                  <a:txBody>
                    <a:bodyPr/>
                    <a:lstStyle/>
                    <a:p>
                      <a:pPr eaLnBrk="1" hangingPunct="1"/>
                      <a:r>
                        <a:rPr sz="1100" b="1" lang="ja-JP" altLang="en-US">
                          <a:solidFill>
                            <a:srgbClr val="111111"/>
                          </a:solidFill>
                          <a:latin typeface="Century Gothic"/>
                          <a:ea typeface="Yu Gothic"/>
                        </a:rPr>
                        <a:t>2023</a:t>
                      </a:r>
                    </a:p>
                  </a:txBody>
                  <a:tcPr>
                    <a:solidFill>
                      <a:srgbClr val="F6F7F8"/>
                    </a:solidFill>
                  </a:tcPr>
                </a:tc>
                <a:tc>
                  <a:txBody>
                    <a:bodyPr/>
                    <a:lstStyle/>
                    <a:p>
                      <a:pPr eaLnBrk="1" hangingPunct="1"/>
                      <a:r>
                        <a:rPr sz="1100" b="1" lang="ja-JP" altLang="en-US">
                          <a:solidFill>
                            <a:srgbClr val="111111"/>
                          </a:solidFill>
                          <a:latin typeface="Century Gothic"/>
                          <a:ea typeface="Yu Gothic"/>
                        </a:rPr>
                        <a:t>2020–2024</a:t>
                      </a:r>
                    </a:p>
                  </a:txBody>
                  <a:tcPr>
                    <a:solidFill>
                      <a:srgbClr val="F6F7F8"/>
                    </a:solidFill>
                  </a:tcPr>
                </a:tc>
                <a:tc>
                  <a:txBody>
                    <a:bodyPr/>
                    <a:lstStyle/>
                    <a:p>
                      <a:pPr eaLnBrk="1" hangingPunct="1"/>
                      <a:r>
                        <a:rPr sz="1100" b="1" lang="ja-JP" altLang="en-US">
                          <a:solidFill>
                            <a:srgbClr val="111111"/>
                          </a:solidFill>
                          <a:latin typeface="Century Gothic"/>
                          <a:ea typeface="Yu Gothic"/>
                        </a:rPr>
                        <a:t>19件 (100%)</a:t>
                      </a:r>
                    </a:p>
                  </a:txBody>
                  <a:tcPr>
                    <a:solidFill>
                      <a:srgbClr val="F6F7F8"/>
                    </a:solidFill>
                  </a:tcPr>
                </a:tc>
                <a:tc>
                  <a:txBody>
                    <a:bodyPr/>
                    <a:lstStyle/>
                    <a:p>
                      <a:pPr eaLnBrk="1" hangingPunct="1"/>
                      <a:r>
                        <a:rPr sz="1100" b="1" lang="ja-JP" altLang="en-US">
                          <a:solidFill>
                            <a:srgbClr val="111111"/>
                          </a:solidFill>
                          <a:latin typeface="Century Gothic"/>
                          <a:ea typeface="Yu Gothic"/>
                        </a:rPr>
                        <a:t>新規・急進</a:t>
                      </a:r>
                    </a:p>
                  </a:txBody>
                  <a:tcPr>
                    <a:solidFill>
                      <a:srgbClr val="F6F7F8"/>
                    </a:solidFill>
                  </a:tcPr>
                </a:tc>
              </a:tr>
              <a:tr h="388111">
                <a:tc>
                  <a:txBody>
                    <a:bodyPr/>
                    <a:lstStyle/>
                    <a:p>
                      <a:pPr eaLnBrk="1" hangingPunct="1"/>
                      <a:r>
                        <a:rPr sz="1100" b="1" lang="ja-JP" altLang="en-US">
                          <a:solidFill>
                            <a:srgbClr val="C51212"/>
                          </a:solidFill>
                          <a:latin typeface="Century Gothic"/>
                          <a:ea typeface="Yu Gothic"/>
                        </a:rPr>
                        <a:t>LG化学</a:t>
                      </a:r>
                    </a:p>
                  </a:txBody>
                  <a:tcPr>
                    <a:solidFill>
                      <a:srgbClr val="F6F7F8"/>
                    </a:solidFill>
                  </a:tcPr>
                </a:tc>
                <a:tc>
                  <a:txBody>
                    <a:bodyPr/>
                    <a:lstStyle/>
                    <a:p>
                      <a:pPr eaLnBrk="1" hangingPunct="1"/>
                      <a:r>
                        <a:rPr sz="1100" b="1" lang="ja-JP" altLang="en-US">
                          <a:solidFill>
                            <a:srgbClr val="111111"/>
                          </a:solidFill>
                          <a:latin typeface="Century Gothic"/>
                          <a:ea typeface="Yu Gothic"/>
                        </a:rPr>
                        <a:t>18</a:t>
                      </a:r>
                    </a:p>
                  </a:txBody>
                  <a:tcPr>
                    <a:solidFill>
                      <a:srgbClr val="F6F7F8"/>
                    </a:solidFill>
                  </a:tcPr>
                </a:tc>
                <a:tc>
                  <a:txBody>
                    <a:bodyPr/>
                    <a:lstStyle/>
                    <a:p>
                      <a:pPr eaLnBrk="1" hangingPunct="1"/>
                      <a:r>
                        <a:rPr sz="1100" b="1" lang="ja-JP" altLang="en-US">
                          <a:solidFill>
                            <a:srgbClr val="111111"/>
                          </a:solidFill>
                          <a:latin typeface="Century Gothic"/>
                          <a:ea typeface="Yu Gothic"/>
                        </a:rPr>
                        <a:t>2023</a:t>
                      </a:r>
                    </a:p>
                  </a:txBody>
                  <a:tcPr>
                    <a:solidFill>
                      <a:srgbClr val="F6F7F8"/>
                    </a:solidFill>
                  </a:tcPr>
                </a:tc>
                <a:tc>
                  <a:txBody>
                    <a:bodyPr/>
                    <a:lstStyle/>
                    <a:p>
                      <a:pPr eaLnBrk="1" hangingPunct="1"/>
                      <a:r>
                        <a:rPr sz="1100" b="1" lang="ja-JP" altLang="en-US">
                          <a:solidFill>
                            <a:srgbClr val="111111"/>
                          </a:solidFill>
                          <a:latin typeface="Century Gothic"/>
                          <a:ea typeface="Yu Gothic"/>
                        </a:rPr>
                        <a:t>2021–2024</a:t>
                      </a:r>
                    </a:p>
                  </a:txBody>
                  <a:tcPr>
                    <a:solidFill>
                      <a:srgbClr val="F6F7F8"/>
                    </a:solidFill>
                  </a:tcPr>
                </a:tc>
                <a:tc>
                  <a:txBody>
                    <a:bodyPr/>
                    <a:lstStyle/>
                    <a:p>
                      <a:pPr eaLnBrk="1" hangingPunct="1"/>
                      <a:r>
                        <a:rPr sz="1100" b="1" lang="ja-JP" altLang="en-US">
                          <a:solidFill>
                            <a:srgbClr val="111111"/>
                          </a:solidFill>
                          <a:latin typeface="Century Gothic"/>
                          <a:ea typeface="Yu Gothic"/>
                        </a:rPr>
                        <a:t>18件 (100%)</a:t>
                      </a:r>
                    </a:p>
                  </a:txBody>
                  <a:tcPr>
                    <a:solidFill>
                      <a:srgbClr val="F6F7F8"/>
                    </a:solidFill>
                  </a:tcPr>
                </a:tc>
                <a:tc>
                  <a:txBody>
                    <a:bodyPr/>
                    <a:lstStyle/>
                    <a:p>
                      <a:pPr eaLnBrk="1" hangingPunct="1"/>
                      <a:r>
                        <a:rPr sz="1100" b="1" lang="ja-JP" altLang="en-US">
                          <a:solidFill>
                            <a:srgbClr val="111111"/>
                          </a:solidFill>
                          <a:latin typeface="Century Gothic"/>
                          <a:ea typeface="Yu Gothic"/>
                        </a:rPr>
                        <a:t>新規・急進</a:t>
                      </a:r>
                    </a:p>
                  </a:txBody>
                  <a:tcPr>
                    <a:solidFill>
                      <a:srgbClr val="F6F7F8"/>
                    </a:solidFill>
                  </a:tcPr>
                </a:tc>
              </a:tr>
              <a:tr h="388111">
                <a:tc>
                  <a:txBody>
                    <a:bodyPr/>
                    <a:lstStyle/>
                    <a:p>
                      <a:pPr eaLnBrk="1" hangingPunct="1"/>
                      <a:r>
                        <a:rPr sz="1100" b="1" lang="ja-JP" altLang="en-US">
                          <a:solidFill>
                            <a:srgbClr val="C51212"/>
                          </a:solidFill>
                          <a:latin typeface="Century Gothic"/>
                          <a:ea typeface="Yu Gothic"/>
                        </a:rPr>
                        <a:t>旭化成</a:t>
                      </a:r>
                    </a:p>
                  </a:txBody>
                  <a:tcPr>
                    <a:solidFill>
                      <a:srgbClr val="F6F7F8"/>
                    </a:solidFill>
                  </a:tcPr>
                </a:tc>
                <a:tc>
                  <a:txBody>
                    <a:bodyPr/>
                    <a:lstStyle/>
                    <a:p>
                      <a:pPr eaLnBrk="1" hangingPunct="1"/>
                      <a:r>
                        <a:rPr sz="1100" b="1" lang="ja-JP" altLang="en-US">
                          <a:solidFill>
                            <a:srgbClr val="111111"/>
                          </a:solidFill>
                          <a:latin typeface="Century Gothic"/>
                          <a:ea typeface="Yu Gothic"/>
                        </a:rPr>
                        <a:t>10</a:t>
                      </a:r>
                    </a:p>
                  </a:txBody>
                  <a:tcPr>
                    <a:solidFill>
                      <a:srgbClr val="F6F7F8"/>
                    </a:solidFill>
                  </a:tcPr>
                </a:tc>
                <a:tc>
                  <a:txBody>
                    <a:bodyPr/>
                    <a:lstStyle/>
                    <a:p>
                      <a:pPr eaLnBrk="1" hangingPunct="1"/>
                      <a:r>
                        <a:rPr sz="1100" b="1" lang="ja-JP" altLang="en-US">
                          <a:solidFill>
                            <a:srgbClr val="111111"/>
                          </a:solidFill>
                          <a:latin typeface="Century Gothic"/>
                          <a:ea typeface="Yu Gothic"/>
                        </a:rPr>
                        <a:t>2023</a:t>
                      </a:r>
                    </a:p>
                  </a:txBody>
                  <a:tcPr>
                    <a:solidFill>
                      <a:srgbClr val="F6F7F8"/>
                    </a:solidFill>
                  </a:tcPr>
                </a:tc>
                <a:tc>
                  <a:txBody>
                    <a:bodyPr/>
                    <a:lstStyle/>
                    <a:p>
                      <a:pPr eaLnBrk="1" hangingPunct="1"/>
                      <a:r>
                        <a:rPr sz="1100" b="1" lang="ja-JP" altLang="en-US">
                          <a:solidFill>
                            <a:srgbClr val="111111"/>
                          </a:solidFill>
                          <a:latin typeface="Century Gothic"/>
                          <a:ea typeface="Yu Gothic"/>
                        </a:rPr>
                        <a:t>2021–2024</a:t>
                      </a:r>
                    </a:p>
                  </a:txBody>
                  <a:tcPr>
                    <a:solidFill>
                      <a:srgbClr val="F6F7F8"/>
                    </a:solidFill>
                  </a:tcPr>
                </a:tc>
                <a:tc>
                  <a:txBody>
                    <a:bodyPr/>
                    <a:lstStyle/>
                    <a:p>
                      <a:pPr eaLnBrk="1" hangingPunct="1"/>
                      <a:r>
                        <a:rPr sz="1100" b="1" lang="ja-JP" altLang="en-US">
                          <a:solidFill>
                            <a:srgbClr val="111111"/>
                          </a:solidFill>
                          <a:latin typeface="Century Gothic"/>
                          <a:ea typeface="Yu Gothic"/>
                        </a:rPr>
                        <a:t>10件 (100%)</a:t>
                      </a:r>
                    </a:p>
                  </a:txBody>
                  <a:tcPr>
                    <a:solidFill>
                      <a:srgbClr val="F6F7F8"/>
                    </a:solidFill>
                  </a:tcPr>
                </a:tc>
                <a:tc>
                  <a:txBody>
                    <a:bodyPr/>
                    <a:lstStyle/>
                    <a:p>
                      <a:pPr eaLnBrk="1" hangingPunct="1"/>
                      <a:r>
                        <a:rPr sz="1100" b="1" lang="ja-JP" altLang="en-US">
                          <a:solidFill>
                            <a:srgbClr val="111111"/>
                          </a:solidFill>
                          <a:latin typeface="Century Gothic"/>
                          <a:ea typeface="Yu Gothic"/>
                        </a:rPr>
                        <a:t>新規・急進</a:t>
                      </a:r>
                    </a:p>
                  </a:txBody>
                  <a:tcPr>
                    <a:solidFill>
                      <a:srgbClr val="F6F7F8"/>
                    </a:solidFill>
                  </a:tcPr>
                </a:tc>
              </a:tr>
              <a:tr h="388111">
                <a:tc>
                  <a:txBody>
                    <a:bodyPr/>
                    <a:lstStyle/>
                    <a:p>
                      <a:pPr eaLnBrk="1" hangingPunct="1"/>
                      <a:r>
                        <a:rPr sz="1100" b="1" lang="ja-JP" altLang="en-US">
                          <a:solidFill>
                            <a:srgbClr val="C51212"/>
                          </a:solidFill>
                          <a:latin typeface="Century Gothic"/>
                          <a:ea typeface="Yu Gothic"/>
                        </a:rPr>
                        <a:t>住友化学</a:t>
                      </a:r>
                    </a:p>
                  </a:txBody>
                  <a:tcPr>
                    <a:solidFill>
                      <a:srgbClr val="F6F7F8"/>
                    </a:solidFill>
                  </a:tcPr>
                </a:tc>
                <a:tc>
                  <a:txBody>
                    <a:bodyPr/>
                    <a:lstStyle/>
                    <a:p>
                      <a:pPr eaLnBrk="1" hangingPunct="1"/>
                      <a:r>
                        <a:rPr sz="1100" b="1" lang="ja-JP" altLang="en-US">
                          <a:solidFill>
                            <a:srgbClr val="111111"/>
                          </a:solidFill>
                          <a:latin typeface="Century Gothic"/>
                          <a:ea typeface="Yu Gothic"/>
                        </a:rPr>
                        <a:t>8</a:t>
                      </a:r>
                    </a:p>
                  </a:txBody>
                  <a:tcPr>
                    <a:solidFill>
                      <a:srgbClr val="F6F7F8"/>
                    </a:solidFill>
                  </a:tcPr>
                </a:tc>
                <a:tc>
                  <a:txBody>
                    <a:bodyPr/>
                    <a:lstStyle/>
                    <a:p>
                      <a:pPr eaLnBrk="1" hangingPunct="1"/>
                      <a:r>
                        <a:rPr sz="1100" b="1" lang="ja-JP" altLang="en-US">
                          <a:solidFill>
                            <a:srgbClr val="111111"/>
                          </a:solidFill>
                          <a:latin typeface="Century Gothic"/>
                          <a:ea typeface="Yu Gothic"/>
                        </a:rPr>
                        <a:t>2024</a:t>
                      </a:r>
                    </a:p>
                  </a:txBody>
                  <a:tcPr>
                    <a:solidFill>
                      <a:srgbClr val="F6F7F8"/>
                    </a:solidFill>
                  </a:tcPr>
                </a:tc>
                <a:tc>
                  <a:txBody>
                    <a:bodyPr/>
                    <a:lstStyle/>
                    <a:p>
                      <a:pPr eaLnBrk="1" hangingPunct="1"/>
                      <a:r>
                        <a:rPr sz="1100" b="1" lang="ja-JP" altLang="en-US">
                          <a:solidFill>
                            <a:srgbClr val="111111"/>
                          </a:solidFill>
                          <a:latin typeface="Century Gothic"/>
                          <a:ea typeface="Yu Gothic"/>
                        </a:rPr>
                        <a:t>2022–2025</a:t>
                      </a:r>
                    </a:p>
                  </a:txBody>
                  <a:tcPr>
                    <a:solidFill>
                      <a:srgbClr val="F6F7F8"/>
                    </a:solidFill>
                  </a:tcPr>
                </a:tc>
                <a:tc>
                  <a:txBody>
                    <a:bodyPr/>
                    <a:lstStyle/>
                    <a:p>
                      <a:pPr eaLnBrk="1" hangingPunct="1"/>
                      <a:r>
                        <a:rPr sz="1100" b="1" lang="ja-JP" altLang="en-US">
                          <a:solidFill>
                            <a:srgbClr val="111111"/>
                          </a:solidFill>
                          <a:latin typeface="Century Gothic"/>
                          <a:ea typeface="Yu Gothic"/>
                        </a:rPr>
                        <a:t>8件 (100%)</a:t>
                      </a:r>
                    </a:p>
                  </a:txBody>
                  <a:tcPr>
                    <a:solidFill>
                      <a:srgbClr val="F6F7F8"/>
                    </a:solidFill>
                  </a:tcPr>
                </a:tc>
                <a:tc>
                  <a:txBody>
                    <a:bodyPr/>
                    <a:lstStyle/>
                    <a:p>
                      <a:pPr eaLnBrk="1" hangingPunct="1"/>
                      <a:r>
                        <a:rPr sz="1100" b="1" lang="ja-JP" altLang="en-US">
                          <a:solidFill>
                            <a:srgbClr val="111111"/>
                          </a:solidFill>
                          <a:latin typeface="Century Gothic"/>
                          <a:ea typeface="Yu Gothic"/>
                        </a:rPr>
                        <a:t>新規・急進</a:t>
                      </a:r>
                    </a:p>
                  </a:txBody>
                  <a:tcPr>
                    <a:solidFill>
                      <a:srgbClr val="F6F7F8"/>
                    </a:solidFill>
                  </a:tcPr>
                </a:tc>
              </a:tr>
              <a:tr h="388111">
                <a:tc>
                  <a:txBody>
                    <a:bodyPr/>
                    <a:lstStyle/>
                    <a:p>
                      <a:pPr eaLnBrk="1" hangingPunct="1"/>
                      <a:r>
                        <a:rPr sz="1100" b="0" lang="ja-JP" altLang="en-US">
                          <a:solidFill>
                            <a:srgbClr val="111111"/>
                          </a:solidFill>
                          <a:latin typeface="Century Gothic"/>
                          <a:ea typeface="Yu Gothic"/>
                        </a:rPr>
                        <a:t>東レ</a:t>
                      </a:r>
                    </a:p>
                  </a:txBody>
                  <a:tcPr/>
                </a:tc>
                <a:tc>
                  <a:txBody>
                    <a:bodyPr/>
                    <a:lstStyle/>
                    <a:p>
                      <a:pPr eaLnBrk="1" hangingPunct="1"/>
                      <a:r>
                        <a:rPr sz="1100" b="0" lang="ja-JP" altLang="en-US">
                          <a:solidFill>
                            <a:srgbClr val="111111"/>
                          </a:solidFill>
                          <a:latin typeface="Century Gothic"/>
                          <a:ea typeface="Yu Gothic"/>
                        </a:rPr>
                        <a:t>18</a:t>
                      </a:r>
                    </a:p>
                  </a:txBody>
                  <a:tcPr/>
                </a:tc>
                <a:tc>
                  <a:txBody>
                    <a:bodyPr/>
                    <a:lstStyle/>
                    <a:p>
                      <a:pPr eaLnBrk="1" hangingPunct="1"/>
                      <a:r>
                        <a:rPr sz="1100" b="0" lang="ja-JP" altLang="en-US">
                          <a:solidFill>
                            <a:srgbClr val="111111"/>
                          </a:solidFill>
                          <a:latin typeface="Century Gothic"/>
                          <a:ea typeface="Yu Gothic"/>
                        </a:rPr>
                        <a:t>2013</a:t>
                      </a:r>
                    </a:p>
                  </a:txBody>
                  <a:tcPr/>
                </a:tc>
                <a:tc>
                  <a:txBody>
                    <a:bodyPr/>
                    <a:lstStyle/>
                    <a:p>
                      <a:pPr eaLnBrk="1" hangingPunct="1"/>
                      <a:r>
                        <a:rPr sz="1100" b="0" lang="ja-JP" altLang="en-US">
                          <a:solidFill>
                            <a:srgbClr val="111111"/>
                          </a:solidFill>
                          <a:latin typeface="Century Gothic"/>
                          <a:ea typeface="Yu Gothic"/>
                        </a:rPr>
                        <a:t>2004–2025</a:t>
                      </a:r>
                    </a:p>
                  </a:txBody>
                  <a:tcPr/>
                </a:tc>
                <a:tc>
                  <a:txBody>
                    <a:bodyPr/>
                    <a:lstStyle/>
                    <a:p>
                      <a:pPr eaLnBrk="1" hangingPunct="1"/>
                      <a:r>
                        <a:rPr sz="1100" b="0" lang="ja-JP" altLang="en-US">
                          <a:solidFill>
                            <a:srgbClr val="111111"/>
                          </a:solidFill>
                          <a:latin typeface="Century Gothic"/>
                          <a:ea typeface="Yu Gothic"/>
                        </a:rPr>
                        <a:t>8件 (44%)</a:t>
                      </a:r>
                    </a:p>
                  </a:txBody>
                  <a:tcPr/>
                </a:tc>
                <a:tc>
                  <a:txBody>
                    <a:bodyPr/>
                    <a:lstStyle/>
                    <a:p>
                      <a:pPr eaLnBrk="1" hangingPunct="1"/>
                      <a:r>
                        <a:rPr sz="1100" b="0" lang="ja-JP" altLang="en-US">
                          <a:solidFill>
                            <a:srgbClr val="111111"/>
                          </a:solidFill>
                          <a:latin typeface="Century Gothic"/>
                          <a:ea typeface="Yu Gothic"/>
                        </a:rPr>
                        <a:t>継続・本命</a:t>
                      </a:r>
                    </a:p>
                  </a:txBody>
                  <a:tcPr/>
                </a:tc>
              </a:tr>
              <a:tr h="388111">
                <a:tc>
                  <a:txBody>
                    <a:bodyPr/>
                    <a:lstStyle/>
                    <a:p>
                      <a:pPr eaLnBrk="1" hangingPunct="1"/>
                      <a:r>
                        <a:rPr sz="1100" b="0" lang="ja-JP" altLang="en-US">
                          <a:solidFill>
                            <a:srgbClr val="111111"/>
                          </a:solidFill>
                          <a:latin typeface="Century Gothic"/>
                          <a:ea typeface="Yu Gothic"/>
                        </a:rPr>
                        <a:t>三菱電機</a:t>
                      </a:r>
                    </a:p>
                  </a:txBody>
                  <a:tcPr>
                    <a:solidFill>
                      <a:srgbClr val="F1F2F3"/>
                    </a:solidFill>
                  </a:tcPr>
                </a:tc>
                <a:tc>
                  <a:txBody>
                    <a:bodyPr/>
                    <a:lstStyle/>
                    <a:p>
                      <a:pPr eaLnBrk="1" hangingPunct="1"/>
                      <a:r>
                        <a:rPr sz="1100" b="0" lang="ja-JP" altLang="en-US">
                          <a:solidFill>
                            <a:srgbClr val="111111"/>
                          </a:solidFill>
                          <a:latin typeface="Century Gothic"/>
                          <a:ea typeface="Yu Gothic"/>
                        </a:rPr>
                        <a:t>14</a:t>
                      </a:r>
                    </a:p>
                  </a:txBody>
                  <a:tcPr>
                    <a:solidFill>
                      <a:srgbClr val="F1F2F3"/>
                    </a:solidFill>
                  </a:tcPr>
                </a:tc>
                <a:tc>
                  <a:txBody>
                    <a:bodyPr/>
                    <a:lstStyle/>
                    <a:p>
                      <a:pPr eaLnBrk="1" hangingPunct="1"/>
                      <a:r>
                        <a:rPr sz="1100" b="0" lang="ja-JP" altLang="en-US">
                          <a:solidFill>
                            <a:srgbClr val="111111"/>
                          </a:solidFill>
                          <a:latin typeface="Century Gothic"/>
                          <a:ea typeface="Yu Gothic"/>
                        </a:rPr>
                        <a:t>2010</a:t>
                      </a:r>
                    </a:p>
                  </a:txBody>
                  <a:tcPr>
                    <a:solidFill>
                      <a:srgbClr val="F1F2F3"/>
                    </a:solidFill>
                  </a:tcPr>
                </a:tc>
                <a:tc>
                  <a:txBody>
                    <a:bodyPr/>
                    <a:lstStyle/>
                    <a:p>
                      <a:pPr eaLnBrk="1" hangingPunct="1"/>
                      <a:r>
                        <a:rPr sz="1100" b="0" lang="ja-JP" altLang="en-US">
                          <a:solidFill>
                            <a:srgbClr val="111111"/>
                          </a:solidFill>
                          <a:latin typeface="Century Gothic"/>
                          <a:ea typeface="Yu Gothic"/>
                        </a:rPr>
                        <a:t>2000–2023</a:t>
                      </a:r>
                    </a:p>
                  </a:txBody>
                  <a:tcPr>
                    <a:solidFill>
                      <a:srgbClr val="F1F2F3"/>
                    </a:solidFill>
                  </a:tcPr>
                </a:tc>
                <a:tc>
                  <a:txBody>
                    <a:bodyPr/>
                    <a:lstStyle/>
                    <a:p>
                      <a:pPr eaLnBrk="1" hangingPunct="1"/>
                      <a:r>
                        <a:rPr sz="1100" b="0" lang="ja-JP" altLang="en-US">
                          <a:solidFill>
                            <a:srgbClr val="111111"/>
                          </a:solidFill>
                          <a:latin typeface="Century Gothic"/>
                          <a:ea typeface="Yu Gothic"/>
                        </a:rPr>
                        <a:t>2件 (14%)</a:t>
                      </a:r>
                    </a:p>
                  </a:txBody>
                  <a:tcPr>
                    <a:solidFill>
                      <a:srgbClr val="F1F2F3"/>
                    </a:solidFill>
                  </a:tcPr>
                </a:tc>
                <a:tc>
                  <a:txBody>
                    <a:bodyPr/>
                    <a:lstStyle/>
                    <a:p>
                      <a:pPr eaLnBrk="1" hangingPunct="1"/>
                      <a:r>
                        <a:rPr sz="1100" b="0" lang="ja-JP" altLang="en-US">
                          <a:solidFill>
                            <a:srgbClr val="111111"/>
                          </a:solidFill>
                          <a:latin typeface="Century Gothic"/>
                          <a:ea typeface="Yu Gothic"/>
                        </a:rPr>
                        <a:t>縮小</a:t>
                      </a:r>
                    </a:p>
                  </a:txBody>
                  <a:tcPr>
                    <a:solidFill>
                      <a:srgbClr val="F1F2F3"/>
                    </a:solidFill>
                  </a:tcPr>
                </a:tc>
              </a:tr>
              <a:tr h="388111">
                <a:tc>
                  <a:txBody>
                    <a:bodyPr/>
                    <a:lstStyle/>
                    <a:p>
                      <a:pPr eaLnBrk="1" hangingPunct="1"/>
                      <a:r>
                        <a:rPr sz="1100" b="0" lang="ja-JP" altLang="en-US">
                          <a:solidFill>
                            <a:srgbClr val="111111"/>
                          </a:solidFill>
                          <a:latin typeface="Century Gothic"/>
                          <a:ea typeface="Yu Gothic"/>
                        </a:rPr>
                        <a:t>帝人化成</a:t>
                      </a:r>
                    </a:p>
                  </a:txBody>
                  <a:tcPr/>
                </a:tc>
                <a:tc>
                  <a:txBody>
                    <a:bodyPr/>
                    <a:lstStyle/>
                    <a:p>
                      <a:pPr eaLnBrk="1" hangingPunct="1"/>
                      <a:r>
                        <a:rPr sz="1100" b="0" lang="ja-JP" altLang="en-US">
                          <a:solidFill>
                            <a:srgbClr val="111111"/>
                          </a:solidFill>
                          <a:latin typeface="Century Gothic"/>
                          <a:ea typeface="Yu Gothic"/>
                        </a:rPr>
                        <a:t>11</a:t>
                      </a:r>
                    </a:p>
                  </a:txBody>
                  <a:tcPr/>
                </a:tc>
                <a:tc>
                  <a:txBody>
                    <a:bodyPr/>
                    <a:lstStyle/>
                    <a:p>
                      <a:pPr eaLnBrk="1" hangingPunct="1"/>
                      <a:r>
                        <a:rPr sz="1100" b="0" lang="ja-JP" altLang="en-US">
                          <a:solidFill>
                            <a:srgbClr val="111111"/>
                          </a:solidFill>
                          <a:latin typeface="Century Gothic"/>
                          <a:ea typeface="Yu Gothic"/>
                        </a:rPr>
                        <a:t>2002</a:t>
                      </a:r>
                    </a:p>
                  </a:txBody>
                  <a:tcPr/>
                </a:tc>
                <a:tc>
                  <a:txBody>
                    <a:bodyPr/>
                    <a:lstStyle/>
                    <a:p>
                      <a:pPr eaLnBrk="1" hangingPunct="1"/>
                      <a:r>
                        <a:rPr sz="1100" b="0" lang="ja-JP" altLang="en-US">
                          <a:solidFill>
                            <a:srgbClr val="111111"/>
                          </a:solidFill>
                          <a:latin typeface="Century Gothic"/>
                          <a:ea typeface="Yu Gothic"/>
                        </a:rPr>
                        <a:t>2000–2005</a:t>
                      </a:r>
                    </a:p>
                  </a:txBody>
                  <a:tcPr/>
                </a:tc>
                <a:tc>
                  <a:txBody>
                    <a:bodyPr/>
                    <a:lstStyle/>
                    <a:p>
                      <a:pPr eaLnBrk="1" hangingPunct="1"/>
                      <a:r>
                        <a:rPr sz="1100" b="0" lang="ja-JP" altLang="en-US">
                          <a:solidFill>
                            <a:srgbClr val="111111"/>
                          </a:solidFill>
                          <a:latin typeface="Century Gothic"/>
                          <a:ea typeface="Yu Gothic"/>
                        </a:rPr>
                        <a:t>0件 (0%)</a:t>
                      </a:r>
                    </a:p>
                  </a:txBody>
                  <a:tcPr/>
                </a:tc>
                <a:tc>
                  <a:txBody>
                    <a:bodyPr/>
                    <a:lstStyle/>
                    <a:p>
                      <a:pPr eaLnBrk="1" hangingPunct="1"/>
                      <a:r>
                        <a:rPr sz="1100" b="0" lang="ja-JP" altLang="en-US">
                          <a:solidFill>
                            <a:srgbClr val="111111"/>
                          </a:solidFill>
                          <a:latin typeface="Century Gothic"/>
                          <a:ea typeface="Yu Gothic"/>
                        </a:rPr>
                        <a:t>撤退/休眠</a:t>
                      </a:r>
                    </a:p>
                  </a:txBody>
                  <a:tcPr/>
                </a:tc>
              </a:tr>
              <a:tr h="388119">
                <a:tc>
                  <a:txBody>
                    <a:bodyPr/>
                    <a:lstStyle/>
                    <a:p>
                      <a:pPr eaLnBrk="1" hangingPunct="1"/>
                      <a:r>
                        <a:rPr sz="1100" b="0" lang="ja-JP" altLang="en-US">
                          <a:solidFill>
                            <a:srgbClr val="111111"/>
                          </a:solidFill>
                          <a:latin typeface="Century Gothic"/>
                          <a:ea typeface="Yu Gothic"/>
                        </a:rPr>
                        <a:t>出光興産</a:t>
                      </a:r>
                    </a:p>
                  </a:txBody>
                  <a:tcPr>
                    <a:solidFill>
                      <a:srgbClr val="F1F2F3"/>
                    </a:solidFill>
                  </a:tcPr>
                </a:tc>
                <a:tc>
                  <a:txBody>
                    <a:bodyPr/>
                    <a:lstStyle/>
                    <a:p>
                      <a:pPr eaLnBrk="1" hangingPunct="1"/>
                      <a:r>
                        <a:rPr sz="1100" b="0" lang="ja-JP" altLang="en-US">
                          <a:solidFill>
                            <a:srgbClr val="111111"/>
                          </a:solidFill>
                          <a:latin typeface="Century Gothic"/>
                          <a:ea typeface="Yu Gothic"/>
                        </a:rPr>
                        <a:t>8</a:t>
                      </a:r>
                    </a:p>
                  </a:txBody>
                  <a:tcPr>
                    <a:solidFill>
                      <a:srgbClr val="F1F2F3"/>
                    </a:solidFill>
                  </a:tcPr>
                </a:tc>
                <a:tc>
                  <a:txBody>
                    <a:bodyPr/>
                    <a:lstStyle/>
                    <a:p>
                      <a:pPr eaLnBrk="1" hangingPunct="1"/>
                      <a:r>
                        <a:rPr sz="1100" b="0" lang="ja-JP" altLang="en-US">
                          <a:solidFill>
                            <a:srgbClr val="111111"/>
                          </a:solidFill>
                          <a:latin typeface="Century Gothic"/>
                          <a:ea typeface="Yu Gothic"/>
                        </a:rPr>
                        <a:t>2014</a:t>
                      </a:r>
                    </a:p>
                  </a:txBody>
                  <a:tcPr>
                    <a:solidFill>
                      <a:srgbClr val="F1F2F3"/>
                    </a:solidFill>
                  </a:tcPr>
                </a:tc>
                <a:tc>
                  <a:txBody>
                    <a:bodyPr/>
                    <a:lstStyle/>
                    <a:p>
                      <a:pPr eaLnBrk="1" hangingPunct="1"/>
                      <a:r>
                        <a:rPr sz="1100" b="0" lang="ja-JP" altLang="en-US">
                          <a:solidFill>
                            <a:srgbClr val="111111"/>
                          </a:solidFill>
                          <a:latin typeface="Century Gothic"/>
                          <a:ea typeface="Yu Gothic"/>
                        </a:rPr>
                        <a:t>2006–2015</a:t>
                      </a:r>
                    </a:p>
                  </a:txBody>
                  <a:tcPr>
                    <a:solidFill>
                      <a:srgbClr val="F1F2F3"/>
                    </a:solidFill>
                  </a:tcPr>
                </a:tc>
                <a:tc>
                  <a:txBody>
                    <a:bodyPr/>
                    <a:lstStyle/>
                    <a:p>
                      <a:pPr eaLnBrk="1" hangingPunct="1"/>
                      <a:r>
                        <a:rPr sz="1100" b="0" lang="ja-JP" altLang="en-US">
                          <a:solidFill>
                            <a:srgbClr val="111111"/>
                          </a:solidFill>
                          <a:latin typeface="Century Gothic"/>
                          <a:ea typeface="Yu Gothic"/>
                        </a:rPr>
                        <a:t>0件 (0%)</a:t>
                      </a:r>
                    </a:p>
                  </a:txBody>
                  <a:tcPr>
                    <a:solidFill>
                      <a:srgbClr val="F1F2F3"/>
                    </a:solidFill>
                  </a:tcPr>
                </a:tc>
                <a:tc>
                  <a:txBody>
                    <a:bodyPr/>
                    <a:lstStyle/>
                    <a:p>
                      <a:pPr eaLnBrk="1" hangingPunct="1"/>
                      <a:r>
                        <a:rPr sz="1100" b="0" lang="ja-JP" altLang="en-US">
                          <a:solidFill>
                            <a:srgbClr val="111111"/>
                          </a:solidFill>
                          <a:latin typeface="Century Gothic"/>
                          <a:ea typeface="Yu Gothic"/>
                        </a:rPr>
                        <a:t>撤退/休眠</a:t>
                      </a:r>
                    </a:p>
                  </a:txBody>
                  <a:tcPr>
                    <a:solidFill>
                      <a:srgbClr val="F1F2F3"/>
                    </a:solidFill>
                  </a:tcPr>
                </a:tc>
              </a:tr>
            </a:tbl>
          </a:graphicData>
        </a:graphic>
      </p:graphicFrame>
      <p:sp>
        <p:nvSpPr>
          <p:cNvPr id="8" name="Rectangle 7"/>
          <p:cNvSpPr/>
          <p:nvPr/>
        </p:nvSpPr>
        <p:spPr>
          <a:xfrm>
            <a:off x="7680960" y="2313432"/>
            <a:ext cx="4023360" cy="3493007"/>
          </a:xfrm>
          <a:prstGeom prst="rect">
            <a:avLst/>
          </a:prstGeom>
          <a:solidFill>
            <a:srgbClr val="F6F7F8"/>
          </a:solidFill>
          <a:ln w="9525">
            <a:solidFill>
              <a:srgbClr val="D8DA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790688" y="2386584"/>
            <a:ext cx="3803904" cy="3346703"/>
          </a:xfrm>
          <a:prstGeom prst="rect">
            <a:avLst/>
          </a:prstGeom>
          <a:noFill/>
          <a:effectLst/>
        </p:spPr>
        <p:txBody>
          <a:bodyPr wrap="square">
            <a:noAutofit/>
          </a:bodyPr>
          <a:lstStyle/>
          <a:p>
            <a:pPr eaLnBrk="1" hangingPunct="1">
              <a:lnSpc>
                <a:spcPct val="145000"/>
              </a:lnSpc>
              <a:spcAft>
                <a:spcPts val="600"/>
              </a:spcAft>
            </a:pPr>
            <a:r>
              <a:rPr sz="1200" lang="ja-JP" altLang="en-US">
                <a:solidFill>
                  <a:srgbClr val="111111"/>
                </a:solidFill>
                <a:latin typeface="Century Gothic"/>
                <a:ea typeface="Yu Gothic"/>
              </a:rPr>
              <a:t>■ </a:t>
            </a:r>
            <a:r>
              <a:rPr b="1" sz="1200" lang="ja-JP" altLang="en-US">
                <a:solidFill>
                  <a:srgbClr val="111111"/>
                </a:solidFill>
                <a:latin typeface="Century Gothic"/>
                <a:ea typeface="Yu Gothic"/>
              </a:rPr>
              <a:t>ランキングの罠</a:t>
            </a:r>
            <a:r>
              <a:rPr sz="1200" lang="ja-JP" altLang="en-US">
                <a:solidFill>
                  <a:srgbClr val="111111"/>
                </a:solidFill>
                <a:latin typeface="Century Gothic"/>
                <a:ea typeface="Yu Gothic"/>
              </a:rPr>
              <a:t>：累積件数では旧勢力と新興勢力が同居し、現役の担い手が見えない</a:t>
            </a:r>
          </a:p>
          <a:p>
            <a:pPr eaLnBrk="1" hangingPunct="1">
              <a:lnSpc>
                <a:spcPct val="145000"/>
              </a:lnSpc>
              <a:spcAft>
                <a:spcPts val="600"/>
              </a:spcAft>
            </a:pPr>
            <a:r>
              <a:rPr sz="1200" lang="ja-JP" altLang="en-US">
                <a:solidFill>
                  <a:srgbClr val="111111"/>
                </a:solidFill>
                <a:latin typeface="Century Gothic"/>
                <a:ea typeface="Yu Gothic"/>
              </a:rPr>
              <a:t>■ </a:t>
            </a:r>
            <a:r>
              <a:rPr b="1" sz="1200" lang="ja-JP" altLang="en-US">
                <a:solidFill>
                  <a:srgbClr val="111111"/>
                </a:solidFill>
                <a:latin typeface="Century Gothic"/>
                <a:ea typeface="Yu Gothic"/>
              </a:rPr>
              <a:t>新規急進4社</a:t>
            </a:r>
            <a:r>
              <a:rPr sz="1200" lang="ja-JP" altLang="en-US">
                <a:solidFill>
                  <a:srgbClr val="111111"/>
                </a:solidFill>
                <a:latin typeface="Century Gothic"/>
                <a:ea typeface="Yu Gothic"/>
              </a:rPr>
              <a:t>(東ソー/LG/旭化成/住友)は出願がすべて直近に集中</a:t>
            </a:r>
          </a:p>
          <a:p>
            <a:pPr eaLnBrk="1" hangingPunct="1">
              <a:lnSpc>
                <a:spcPct val="145000"/>
              </a:lnSpc>
              <a:spcAft>
                <a:spcPts val="600"/>
              </a:spcAft>
            </a:pPr>
            <a:r>
              <a:rPr sz="1200" lang="ja-JP" altLang="en-US">
                <a:solidFill>
                  <a:srgbClr val="111111"/>
                </a:solidFill>
                <a:latin typeface="Century Gothic"/>
                <a:ea typeface="Yu Gothic"/>
              </a:rPr>
              <a:t>■ </a:t>
            </a:r>
            <a:r>
              <a:rPr b="1" sz="1200" lang="ja-JP" altLang="en-US">
                <a:solidFill>
                  <a:srgbClr val="111111"/>
                </a:solidFill>
                <a:latin typeface="Century Gothic"/>
                <a:ea typeface="Yu Gothic"/>
              </a:rPr>
              <a:t>東レだけ</a:t>
            </a:r>
            <a:r>
              <a:rPr sz="1200" lang="ja-JP" altLang="en-US">
                <a:solidFill>
                  <a:srgbClr val="111111"/>
                </a:solidFill>
                <a:latin typeface="Century Gothic"/>
                <a:ea typeface="Yu Gothic"/>
              </a:rPr>
              <a:t>が20年超にわたり継続出願する真の本命</a:t>
            </a:r>
          </a:p>
          <a:p>
            <a:pPr eaLnBrk="1" hangingPunct="1">
              <a:lnSpc>
                <a:spcPct val="145000"/>
              </a:lnSpc>
              <a:spcAft>
                <a:spcPts val="600"/>
              </a:spcAft>
            </a:pPr>
            <a:r>
              <a:rPr sz="1200" lang="ja-JP" altLang="en-US">
                <a:solidFill>
                  <a:srgbClr val="111111"/>
                </a:solidFill>
                <a:latin typeface="Century Gothic"/>
                <a:ea typeface="Yu Gothic"/>
              </a:rPr>
              <a:t>■ </a:t>
            </a:r>
            <a:r>
              <a:rPr b="1" sz="1200" lang="ja-JP" altLang="en-US">
                <a:solidFill>
                  <a:srgbClr val="111111"/>
                </a:solidFill>
                <a:latin typeface="Century Gothic"/>
                <a:ea typeface="Yu Gothic"/>
              </a:rPr>
              <a:t>帝人化成・出光</a:t>
            </a:r>
            <a:r>
              <a:rPr sz="1200" lang="ja-JP" altLang="en-US">
                <a:solidFill>
                  <a:srgbClr val="111111"/>
                </a:solidFill>
                <a:latin typeface="Century Gothic"/>
                <a:ea typeface="Yu Gothic"/>
              </a:rPr>
              <a:t>は2000年代で開発が止まり休眠</a:t>
            </a:r>
          </a:p>
        </p:txBody>
      </p:sp>
      <p:sp>
        <p:nvSpPr>
          <p:cNvPr id="10" name="TextBox 9"/>
          <p:cNvSpPr txBox="1"/>
          <p:nvPr/>
        </p:nvSpPr>
        <p:spPr>
          <a:xfrm>
            <a:off x="457200" y="6053328"/>
            <a:ext cx="11247120" cy="320040"/>
          </a:xfrm>
          <a:prstGeom prst="rect">
            <a:avLst/>
          </a:prstGeom>
          <a:noFill/>
          <a:effectLst/>
        </p:spPr>
        <p:txBody>
          <a:bodyPr wrap="square">
            <a:noAutofit/>
          </a:bodyPr>
          <a:lstStyle/>
          <a:p>
            <a:pPr eaLnBrk="1" hangingPunct="1"/>
            <a:r>
              <a:rPr sz="900" b="0" lang="ja-JP" altLang="en-US">
                <a:solidFill>
                  <a:srgbClr val="686868"/>
                </a:solidFill>
                <a:latin typeface="Century Gothic"/>
                <a:ea typeface="Yu Gothic"/>
              </a:rPr>
              <a:t>（出所）特許データベース Cyber patent desc（2026-06-14）</a:t>
            </a:r>
          </a:p>
        </p:txBody>
      </p:sp>
      <p:sp>
        <p:nvSpPr>
          <p:cNvPr id="11" name="TextBox 10"/>
          <p:cNvSpPr txBox="1"/>
          <p:nvPr/>
        </p:nvSpPr>
        <p:spPr>
          <a:xfrm>
            <a:off x="11384280" y="6419088"/>
            <a:ext cx="502920" cy="228600"/>
          </a:xfrm>
          <a:prstGeom prst="rect">
            <a:avLst/>
          </a:prstGeom>
          <a:noFill/>
          <a:effectLst/>
        </p:spPr>
        <p:txBody>
          <a:bodyPr wrap="none">
            <a:spAutoFit/>
          </a:bodyPr>
          <a:lstStyle/>
          <a:p>
            <a:pPr eaLnBrk="1" hangingPunct="1" algn="r"/>
            <a:r>
              <a:rPr sz="1000" b="0" lang="ja-JP" altLang="en-US">
                <a:solidFill>
                  <a:srgbClr val="686868"/>
                </a:solidFill>
                <a:latin typeface="Century Gothic"/>
                <a:ea typeface="Yu Gothic"/>
              </a:rPr>
              <a:t>10</a:t>
            </a:r>
          </a:p>
        </p:txBody>
      </p:sp>
      <p:cxnSp>
        <p:nvCxnSpPr>
          <p:cNvPr id="12" name="Connector 11"/>
          <p:cNvCxnSpPr/>
          <p:nvPr/>
        </p:nvCxnSpPr>
        <p:spPr>
          <a:xfrm>
            <a:off x="11859767" y="128016"/>
            <a:ext cx="201169" cy="0"/>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13" name="Connector 12"/>
          <p:cNvCxnSpPr/>
          <p:nvPr/>
        </p:nvCxnSpPr>
        <p:spPr>
          <a:xfrm>
            <a:off x="12060936" y="128016"/>
            <a:ext cx="0" cy="201168"/>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14" name="Connector 13"/>
          <p:cNvCxnSpPr/>
          <p:nvPr/>
        </p:nvCxnSpPr>
        <p:spPr>
          <a:xfrm>
            <a:off x="128016" y="6729984"/>
            <a:ext cx="201168" cy="0"/>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15" name="Connector 14"/>
          <p:cNvCxnSpPr/>
          <p:nvPr/>
        </p:nvCxnSpPr>
        <p:spPr>
          <a:xfrm>
            <a:off x="128016" y="6528816"/>
            <a:ext cx="0" cy="201168"/>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22960" y="521208"/>
            <a:ext cx="365760" cy="1270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22960" y="630936"/>
            <a:ext cx="10725912" cy="256032"/>
          </a:xfrm>
          <a:prstGeom prst="rect">
            <a:avLst/>
          </a:prstGeom>
          <a:noFill/>
          <a:effectLst/>
        </p:spPr>
        <p:txBody>
          <a:bodyPr wrap="none">
            <a:spAutoFit/>
          </a:bodyPr>
          <a:lstStyle/>
          <a:p>
            <a:pPr eaLnBrk="1" hangingPunct="1"/>
            <a:r>
              <a:rPr sz="1000" b="1" lang="ja-JP" altLang="en-US">
                <a:solidFill>
                  <a:srgbClr val="C51212"/>
                </a:solidFill>
                <a:latin typeface="Yu Mincho"/>
                <a:ea typeface="Yu Mincho"/>
              </a:rPr>
              <a:t>考察</a:t>
            </a:r>
          </a:p>
        </p:txBody>
      </p:sp>
      <p:sp>
        <p:nvSpPr>
          <p:cNvPr id="4" name="TextBox 3"/>
          <p:cNvSpPr txBox="1"/>
          <p:nvPr/>
        </p:nvSpPr>
        <p:spPr>
          <a:xfrm>
            <a:off x="822960" y="905256"/>
            <a:ext cx="10725912" cy="841248"/>
          </a:xfrm>
          <a:prstGeom prst="rect">
            <a:avLst/>
          </a:prstGeom>
          <a:noFill/>
          <a:effectLst/>
        </p:spPr>
        <p:txBody>
          <a:bodyPr wrap="square">
            <a:noAutofit/>
          </a:bodyPr>
          <a:lstStyle/>
          <a:p>
            <a:pPr eaLnBrk="1" hangingPunct="1">
              <a:lnSpc>
                <a:spcPct val="118000"/>
              </a:lnSpc>
            </a:pPr>
            <a:r>
              <a:rPr b="1" sz="2300" lang="ja-JP" altLang="en-US">
                <a:solidFill>
                  <a:srgbClr val="111111"/>
                </a:solidFill>
                <a:latin typeface="Yu Mincho"/>
                <a:ea typeface="Yu Mincho"/>
              </a:rPr>
              <a:t>世代交代は「市場が一巡し、再定義のために再参入が起きた」シグナル</a:t>
            </a:r>
          </a:p>
        </p:txBody>
      </p:sp>
      <p:sp>
        <p:nvSpPr>
          <p:cNvPr id="5" name="Rectangle 4"/>
          <p:cNvSpPr/>
          <p:nvPr/>
        </p:nvSpPr>
        <p:spPr>
          <a:xfrm>
            <a:off x="822960" y="1801368"/>
            <a:ext cx="10725912" cy="822959"/>
          </a:xfrm>
          <a:prstGeom prst="rect">
            <a:avLst/>
          </a:prstGeom>
          <a:solidFill>
            <a:srgbClr val="F6F7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822960" y="1801368"/>
            <a:ext cx="36576" cy="822959"/>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960120" y="1874520"/>
            <a:ext cx="10451592" cy="676655"/>
          </a:xfrm>
          <a:prstGeom prst="rect">
            <a:avLst/>
          </a:prstGeom>
          <a:noFill/>
          <a:effectLst/>
        </p:spPr>
        <p:txBody>
          <a:bodyPr wrap="square">
            <a:noAutofit/>
          </a:bodyPr>
          <a:lstStyle/>
          <a:p>
            <a:pPr eaLnBrk="1" hangingPunct="1">
              <a:lnSpc>
                <a:spcPct val="150000"/>
              </a:lnSpc>
            </a:pPr>
            <a:r>
              <a:rPr sz="1500" b="1" lang="ja-JP" altLang="en-US">
                <a:solidFill>
                  <a:srgbClr val="C51212"/>
                </a:solidFill>
                <a:latin typeface="Century Gothic"/>
                <a:ea typeface="Yu Gothic"/>
              </a:rPr>
              <a:t>■ </a:t>
            </a:r>
            <a:r>
              <a:rPr sz="1500" lang="ja-JP" altLang="en-US">
                <a:solidFill>
                  <a:srgbClr val="111111"/>
                </a:solidFill>
                <a:latin typeface="Century Gothic"/>
                <a:ea typeface="Yu Gothic"/>
              </a:rPr>
              <a:t>旧勢力の撤退と新興勢力の一斉参入が同時に起きるのは、技術と需要の前提が入れ替わった証拠。</a:t>
            </a:r>
          </a:p>
        </p:txBody>
      </p:sp>
      <p:sp>
        <p:nvSpPr>
          <p:cNvPr id="8" name="Rectangle 7"/>
          <p:cNvSpPr/>
          <p:nvPr/>
        </p:nvSpPr>
        <p:spPr>
          <a:xfrm>
            <a:off x="822960" y="2715768"/>
            <a:ext cx="36576" cy="729234"/>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87552" y="2715768"/>
            <a:ext cx="2194560" cy="274320"/>
          </a:xfrm>
          <a:prstGeom prst="rect">
            <a:avLst/>
          </a:prstGeom>
          <a:noFill/>
          <a:effectLst/>
        </p:spPr>
        <p:txBody>
          <a:bodyPr wrap="none">
            <a:spAutoFit/>
          </a:bodyPr>
          <a:lstStyle/>
          <a:p>
            <a:pPr eaLnBrk="1" hangingPunct="1"/>
            <a:r>
              <a:rPr sz="1100" b="1" lang="ja-JP" altLang="en-US">
                <a:solidFill>
                  <a:srgbClr val="C51212"/>
                </a:solidFill>
                <a:latin typeface="Century Gothic"/>
                <a:ea typeface="Yu Gothic"/>
              </a:rPr>
              <a:t>観察</a:t>
            </a:r>
          </a:p>
        </p:txBody>
      </p:sp>
      <p:sp>
        <p:nvSpPr>
          <p:cNvPr id="10" name="TextBox 9"/>
          <p:cNvSpPr txBox="1"/>
          <p:nvPr/>
        </p:nvSpPr>
        <p:spPr>
          <a:xfrm>
            <a:off x="987552" y="2990088"/>
            <a:ext cx="10561320" cy="436626"/>
          </a:xfrm>
          <a:prstGeom prst="rect">
            <a:avLst/>
          </a:prstGeom>
          <a:noFill/>
          <a:effectLst/>
        </p:spPr>
        <p:txBody>
          <a:bodyPr wrap="square">
            <a:noAutofit/>
          </a:bodyPr>
          <a:lstStyle/>
          <a:p>
            <a:pPr eaLnBrk="1" hangingPunct="1">
              <a:lnSpc>
                <a:spcPct val="140000"/>
              </a:lnSpc>
            </a:pPr>
            <a:r>
              <a:rPr b="0" sz="1300" lang="ja-JP" altLang="en-US">
                <a:solidFill>
                  <a:srgbClr val="111111"/>
                </a:solidFill>
                <a:latin typeface="Century Gothic"/>
                <a:ea typeface="Yu Gothic"/>
              </a:rPr>
              <a:t>帝人化成(中央値2002年,直近0件)・三菱電機・ソニー・ダイセル等の旧勢力が直近出願を止め、東ソー(19件全て直近)・LG化学(18件全て直近)・旭化成・住友化学が2020年以降に集中参入した。東レのみが全期間で継続出願している。</a:t>
            </a:r>
          </a:p>
        </p:txBody>
      </p:sp>
      <p:sp>
        <p:nvSpPr>
          <p:cNvPr id="11" name="Rectangle 10"/>
          <p:cNvSpPr/>
          <p:nvPr/>
        </p:nvSpPr>
        <p:spPr>
          <a:xfrm>
            <a:off x="822960" y="3609594"/>
            <a:ext cx="36576" cy="729234"/>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987552" y="3609594"/>
            <a:ext cx="2194560" cy="274320"/>
          </a:xfrm>
          <a:prstGeom prst="rect">
            <a:avLst/>
          </a:prstGeom>
          <a:noFill/>
          <a:effectLst/>
        </p:spPr>
        <p:txBody>
          <a:bodyPr wrap="none">
            <a:spAutoFit/>
          </a:bodyPr>
          <a:lstStyle/>
          <a:p>
            <a:pPr eaLnBrk="1" hangingPunct="1"/>
            <a:r>
              <a:rPr sz="1100" b="1" lang="ja-JP" altLang="en-US">
                <a:solidFill>
                  <a:srgbClr val="C51212"/>
                </a:solidFill>
                <a:latin typeface="Century Gothic"/>
                <a:ea typeface="Yu Gothic"/>
              </a:rPr>
              <a:t>因果仮説①</a:t>
            </a:r>
          </a:p>
        </p:txBody>
      </p:sp>
      <p:sp>
        <p:nvSpPr>
          <p:cNvPr id="13" name="TextBox 12"/>
          <p:cNvSpPr txBox="1"/>
          <p:nvPr/>
        </p:nvSpPr>
        <p:spPr>
          <a:xfrm>
            <a:off x="987552" y="3883914"/>
            <a:ext cx="10561320" cy="436626"/>
          </a:xfrm>
          <a:prstGeom prst="rect">
            <a:avLst/>
          </a:prstGeom>
          <a:noFill/>
          <a:effectLst/>
        </p:spPr>
        <p:txBody>
          <a:bodyPr wrap="square">
            <a:noAutofit/>
          </a:bodyPr>
          <a:lstStyle/>
          <a:p>
            <a:pPr eaLnBrk="1" hangingPunct="1">
              <a:lnSpc>
                <a:spcPct val="140000"/>
              </a:lnSpc>
            </a:pPr>
            <a:r>
              <a:rPr b="0" sz="1300" lang="ja-JP" altLang="en-US">
                <a:solidFill>
                  <a:srgbClr val="111111"/>
                </a:solidFill>
                <a:latin typeface="Century Gothic"/>
                <a:ea typeface="Yu Gothic"/>
              </a:rPr>
              <a:t>2000年代の第1の山はOA機器・家電筐体の再生樹脂（自社内クローズドリサイクル）が主体で、市場縮小と共に旧勢力が撤退。今回の山は容器包装・自動車部材へのPCR配合義務化という外部需要が起点で、汎用樹脂(PO/PET)メーカーが新たに参入した、と読める。</a:t>
            </a:r>
          </a:p>
        </p:txBody>
      </p:sp>
      <p:sp>
        <p:nvSpPr>
          <p:cNvPr id="14" name="Rectangle 13"/>
          <p:cNvSpPr/>
          <p:nvPr/>
        </p:nvSpPr>
        <p:spPr>
          <a:xfrm>
            <a:off x="822960" y="4503420"/>
            <a:ext cx="36576" cy="729234"/>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987552" y="4503420"/>
            <a:ext cx="2194560" cy="274320"/>
          </a:xfrm>
          <a:prstGeom prst="rect">
            <a:avLst/>
          </a:prstGeom>
          <a:noFill/>
          <a:effectLst/>
        </p:spPr>
        <p:txBody>
          <a:bodyPr wrap="none">
            <a:spAutoFit/>
          </a:bodyPr>
          <a:lstStyle/>
          <a:p>
            <a:pPr eaLnBrk="1" hangingPunct="1"/>
            <a:r>
              <a:rPr sz="1100" b="1" lang="ja-JP" altLang="en-US">
                <a:solidFill>
                  <a:srgbClr val="C51212"/>
                </a:solidFill>
                <a:latin typeface="Century Gothic"/>
                <a:ea typeface="Yu Gothic"/>
              </a:rPr>
              <a:t>因果仮説②</a:t>
            </a:r>
          </a:p>
        </p:txBody>
      </p:sp>
      <p:sp>
        <p:nvSpPr>
          <p:cNvPr id="16" name="TextBox 15"/>
          <p:cNvSpPr txBox="1"/>
          <p:nvPr/>
        </p:nvSpPr>
        <p:spPr>
          <a:xfrm>
            <a:off x="987552" y="4777740"/>
            <a:ext cx="10561320" cy="436626"/>
          </a:xfrm>
          <a:prstGeom prst="rect">
            <a:avLst/>
          </a:prstGeom>
          <a:noFill/>
          <a:effectLst/>
        </p:spPr>
        <p:txBody>
          <a:bodyPr wrap="square">
            <a:noAutofit/>
          </a:bodyPr>
          <a:lstStyle/>
          <a:p>
            <a:pPr eaLnBrk="1" hangingPunct="1">
              <a:lnSpc>
                <a:spcPct val="140000"/>
              </a:lnSpc>
            </a:pPr>
            <a:r>
              <a:rPr b="0" sz="1300" lang="ja-JP" altLang="en-US">
                <a:solidFill>
                  <a:srgbClr val="111111"/>
                </a:solidFill>
                <a:latin typeface="Century Gothic"/>
                <a:ea typeface="Yu Gothic"/>
              </a:rPr>
              <a:t>旧勢力は『自社製品の廃材を自社で再生』する垂直統合型、新興勢力は『市中回収材を素材として外販する』水平型。ビジネスモデルの違いが担い手交代の本質で、単なる世代交代ではなく事業構造の転換である。</a:t>
            </a:r>
          </a:p>
        </p:txBody>
      </p:sp>
      <p:sp>
        <p:nvSpPr>
          <p:cNvPr id="17" name="Rectangle 16"/>
          <p:cNvSpPr/>
          <p:nvPr/>
        </p:nvSpPr>
        <p:spPr>
          <a:xfrm>
            <a:off x="822960" y="5397246"/>
            <a:ext cx="36576" cy="729234"/>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987552" y="5397246"/>
            <a:ext cx="2194560" cy="274320"/>
          </a:xfrm>
          <a:prstGeom prst="rect">
            <a:avLst/>
          </a:prstGeom>
          <a:noFill/>
          <a:effectLst/>
        </p:spPr>
        <p:txBody>
          <a:bodyPr wrap="none">
            <a:spAutoFit/>
          </a:bodyPr>
          <a:lstStyle/>
          <a:p>
            <a:pPr eaLnBrk="1" hangingPunct="1"/>
            <a:r>
              <a:rPr sz="1100" b="1" lang="ja-JP" altLang="en-US">
                <a:solidFill>
                  <a:srgbClr val="C51212"/>
                </a:solidFill>
                <a:latin typeface="Century Gothic"/>
                <a:ea typeface="Yu Gothic"/>
              </a:rPr>
              <a:t>意思決定示唆／反証</a:t>
            </a:r>
          </a:p>
        </p:txBody>
      </p:sp>
      <p:sp>
        <p:nvSpPr>
          <p:cNvPr id="19" name="TextBox 18"/>
          <p:cNvSpPr txBox="1"/>
          <p:nvPr/>
        </p:nvSpPr>
        <p:spPr>
          <a:xfrm>
            <a:off x="987552" y="5671566"/>
            <a:ext cx="10561320" cy="436626"/>
          </a:xfrm>
          <a:prstGeom prst="rect">
            <a:avLst/>
          </a:prstGeom>
          <a:noFill/>
          <a:effectLst/>
        </p:spPr>
        <p:txBody>
          <a:bodyPr wrap="square">
            <a:noAutofit/>
          </a:bodyPr>
          <a:lstStyle/>
          <a:p>
            <a:pPr eaLnBrk="1" hangingPunct="1">
              <a:lnSpc>
                <a:spcPct val="140000"/>
              </a:lnSpc>
            </a:pPr>
            <a:r>
              <a:rPr b="0" sz="1300" lang="ja-JP" altLang="en-US">
                <a:solidFill>
                  <a:srgbClr val="111111"/>
                </a:solidFill>
                <a:latin typeface="Century Gothic"/>
                <a:ea typeface="Yu Gothic"/>
              </a:rPr>
              <a:t>件数ランキングで競合を評価すると現役の脅威(東ソー/LG)を過小評価し、休眠企業(帝人化成)を過大評価する。</a:t>
            </a:r>
            <a:r>
              <a:rPr b="1" sz="1300" lang="ja-JP" altLang="en-US">
                <a:solidFill>
                  <a:srgbClr val="111111"/>
                </a:solidFill>
                <a:latin typeface="Century Gothic"/>
                <a:ea typeface="Yu Gothic"/>
              </a:rPr>
              <a:t>現役性で重み付けすべき</a:t>
            </a:r>
            <a:r>
              <a:rPr b="0" sz="1300" lang="ja-JP" altLang="en-US">
                <a:solidFill>
                  <a:srgbClr val="111111"/>
                </a:solidFill>
                <a:latin typeface="Century Gothic"/>
                <a:ea typeface="Yu Gothic"/>
              </a:rPr>
              <a:t>。反証条件＝休眠企業が直近に出願を再開すれば『撤退』判定は覆る。継続性で突出する東レの動向を最優先で監視する。</a:t>
            </a:r>
          </a:p>
        </p:txBody>
      </p:sp>
      <p:sp>
        <p:nvSpPr>
          <p:cNvPr id="20" name="TextBox 19"/>
          <p:cNvSpPr txBox="1"/>
          <p:nvPr/>
        </p:nvSpPr>
        <p:spPr>
          <a:xfrm>
            <a:off x="457200" y="6053328"/>
            <a:ext cx="11247120" cy="320040"/>
          </a:xfrm>
          <a:prstGeom prst="rect">
            <a:avLst/>
          </a:prstGeom>
          <a:noFill/>
          <a:effectLst/>
        </p:spPr>
        <p:txBody>
          <a:bodyPr wrap="square">
            <a:noAutofit/>
          </a:bodyPr>
          <a:lstStyle/>
          <a:p>
            <a:pPr eaLnBrk="1" hangingPunct="1"/>
            <a:r>
              <a:rPr sz="900" b="0" lang="ja-JP" altLang="en-US">
                <a:solidFill>
                  <a:srgbClr val="686868"/>
                </a:solidFill>
                <a:latin typeface="Century Gothic"/>
                <a:ea typeface="Yu Gothic"/>
              </a:rPr>
              <a:t>（出所）特許データベース Cyber patent desc（2026-06-14）</a:t>
            </a:r>
          </a:p>
        </p:txBody>
      </p:sp>
      <p:sp>
        <p:nvSpPr>
          <p:cNvPr id="21" name="TextBox 20"/>
          <p:cNvSpPr txBox="1"/>
          <p:nvPr/>
        </p:nvSpPr>
        <p:spPr>
          <a:xfrm>
            <a:off x="11384280" y="6419088"/>
            <a:ext cx="502920" cy="228600"/>
          </a:xfrm>
          <a:prstGeom prst="rect">
            <a:avLst/>
          </a:prstGeom>
          <a:noFill/>
          <a:effectLst/>
        </p:spPr>
        <p:txBody>
          <a:bodyPr wrap="none">
            <a:spAutoFit/>
          </a:bodyPr>
          <a:lstStyle/>
          <a:p>
            <a:pPr eaLnBrk="1" hangingPunct="1" algn="r"/>
            <a:r>
              <a:rPr sz="1000" b="0" lang="ja-JP" altLang="en-US">
                <a:solidFill>
                  <a:srgbClr val="686868"/>
                </a:solidFill>
                <a:latin typeface="Century Gothic"/>
                <a:ea typeface="Yu Gothic"/>
              </a:rPr>
              <a:t>11</a:t>
            </a:r>
          </a:p>
        </p:txBody>
      </p:sp>
      <p:cxnSp>
        <p:nvCxnSpPr>
          <p:cNvPr id="22" name="Connector 21"/>
          <p:cNvCxnSpPr/>
          <p:nvPr/>
        </p:nvCxnSpPr>
        <p:spPr>
          <a:xfrm>
            <a:off x="11859767" y="128016"/>
            <a:ext cx="201169" cy="0"/>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a:off x="12060936" y="128016"/>
            <a:ext cx="0" cy="201168"/>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a:off x="128016" y="6729984"/>
            <a:ext cx="201168" cy="0"/>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25" name="Connector 24"/>
          <p:cNvCxnSpPr/>
          <p:nvPr/>
        </p:nvCxnSpPr>
        <p:spPr>
          <a:xfrm>
            <a:off x="128016" y="6528816"/>
            <a:ext cx="0" cy="201168"/>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22960" y="521208"/>
            <a:ext cx="365760" cy="1270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22960" y="630936"/>
            <a:ext cx="10725912" cy="713232"/>
          </a:xfrm>
          <a:prstGeom prst="rect">
            <a:avLst/>
          </a:prstGeom>
          <a:noFill/>
          <a:effectLst/>
        </p:spPr>
        <p:txBody>
          <a:bodyPr wrap="square">
            <a:noAutofit/>
          </a:bodyPr>
          <a:lstStyle/>
          <a:p>
            <a:pPr eaLnBrk="1" hangingPunct="1">
              <a:lnSpc>
                <a:spcPct val="118000"/>
              </a:lnSpc>
            </a:pPr>
            <a:r>
              <a:rPr b="1" sz="2700" lang="ja-JP" altLang="en-US">
                <a:solidFill>
                  <a:srgbClr val="111111"/>
                </a:solidFill>
                <a:latin typeface="Yu Mincho"/>
                <a:ea typeface="Yu Mincho"/>
              </a:rPr>
              <a:t>直近出願は審査係属中（◇）が大半、権利化はこれから</a:t>
            </a:r>
          </a:p>
        </p:txBody>
      </p:sp>
      <p:sp>
        <p:nvSpPr>
          <p:cNvPr id="4" name="Rectangle 3"/>
          <p:cNvSpPr/>
          <p:nvPr/>
        </p:nvSpPr>
        <p:spPr>
          <a:xfrm>
            <a:off x="822960" y="1399032"/>
            <a:ext cx="10725912" cy="822959"/>
          </a:xfrm>
          <a:prstGeom prst="rect">
            <a:avLst/>
          </a:prstGeom>
          <a:solidFill>
            <a:srgbClr val="F6F7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822960" y="1399032"/>
            <a:ext cx="36576" cy="822959"/>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60120" y="1472184"/>
            <a:ext cx="10451592" cy="676655"/>
          </a:xfrm>
          <a:prstGeom prst="rect">
            <a:avLst/>
          </a:prstGeom>
          <a:noFill/>
          <a:effectLst/>
        </p:spPr>
        <p:txBody>
          <a:bodyPr wrap="square">
            <a:noAutofit/>
          </a:bodyPr>
          <a:lstStyle/>
          <a:p>
            <a:pPr eaLnBrk="1" hangingPunct="1">
              <a:lnSpc>
                <a:spcPct val="150000"/>
              </a:lnSpc>
            </a:pPr>
            <a:r>
              <a:rPr sz="1500" b="1" lang="ja-JP" altLang="en-US">
                <a:solidFill>
                  <a:srgbClr val="C51212"/>
                </a:solidFill>
                <a:latin typeface="Century Gothic"/>
                <a:ea typeface="Yu Gothic"/>
              </a:rPr>
              <a:t>■ </a:t>
            </a:r>
            <a:r>
              <a:rPr sz="1500" lang="ja-JP" altLang="en-US">
                <a:solidFill>
                  <a:srgbClr val="111111"/>
                </a:solidFill>
                <a:latin typeface="Century Gothic"/>
                <a:ea typeface="Yu Gothic"/>
              </a:rPr>
              <a:t>2023–2024年は◇が急増（39件・43件）。</a:t>
            </a:r>
            <a:r>
              <a:rPr b="1" sz="1500" lang="ja-JP" altLang="en-US">
                <a:solidFill>
                  <a:srgbClr val="111111"/>
                </a:solidFill>
                <a:latin typeface="Century Gothic"/>
                <a:ea typeface="Yu Gothic"/>
              </a:rPr>
              <a:t>本母集団の競争はまだ権利確定前</a:t>
            </a:r>
            <a:r>
              <a:rPr sz="1500" lang="ja-JP" altLang="en-US">
                <a:solidFill>
                  <a:srgbClr val="111111"/>
                </a:solidFill>
                <a:latin typeface="Century Gothic"/>
                <a:ea typeface="Yu Gothic"/>
              </a:rPr>
              <a:t>で、参入余地が残る局面。</a:t>
            </a:r>
          </a:p>
        </p:txBody>
      </p:sp>
      <p:sp>
        <p:nvSpPr>
          <p:cNvPr id="7" name="TextBox 6"/>
          <p:cNvSpPr txBox="1"/>
          <p:nvPr/>
        </p:nvSpPr>
        <p:spPr>
          <a:xfrm>
            <a:off x="822960" y="2313432"/>
            <a:ext cx="7266553" cy="320040"/>
          </a:xfrm>
          <a:prstGeom prst="rect">
            <a:avLst/>
          </a:prstGeom>
          <a:noFill/>
          <a:effectLst/>
        </p:spPr>
        <p:txBody>
          <a:bodyPr wrap="none">
            <a:spAutoFit/>
          </a:bodyPr>
          <a:lstStyle/>
          <a:p>
            <a:pPr eaLnBrk="1" hangingPunct="1"/>
            <a:r>
              <a:rPr sz="1400" b="1" lang="ja-JP" altLang="en-US">
                <a:solidFill>
                  <a:srgbClr val="111111"/>
                </a:solidFill>
                <a:latin typeface="Yu Mincho"/>
                <a:ea typeface="Yu Mincho"/>
              </a:rPr>
              <a:t>構成比・ステータス俯瞰</a:t>
            </a:r>
          </a:p>
        </p:txBody>
      </p:sp>
      <p:pic>
        <p:nvPicPr>
          <p:cNvPr id="8" name="Picture 7" descr="atlas_tree_snap.png"/>
          <p:cNvPicPr>
            <a:picLocks noChangeAspect="1"/>
          </p:cNvPicPr>
          <p:nvPr/>
        </p:nvPicPr>
        <p:blipFill>
          <a:blip r:embed="rId2"/>
          <a:stretch>
            <a:fillRect/>
          </a:stretch>
        </p:blipFill>
        <p:spPr>
          <a:xfrm>
            <a:off x="1717100" y="2633472"/>
            <a:ext cx="5478272" cy="3081527"/>
          </a:xfrm>
          <a:prstGeom prst="rect">
            <a:avLst/>
          </a:prstGeom>
          <a:effectLst/>
        </p:spPr>
      </p:pic>
      <p:sp>
        <p:nvSpPr>
          <p:cNvPr id="9" name="TextBox 8"/>
          <p:cNvSpPr txBox="1"/>
          <p:nvPr/>
        </p:nvSpPr>
        <p:spPr>
          <a:xfrm>
            <a:off x="822960" y="5788152"/>
            <a:ext cx="7266553" cy="228600"/>
          </a:xfrm>
          <a:prstGeom prst="rect">
            <a:avLst/>
          </a:prstGeom>
          <a:noFill/>
          <a:effectLst/>
        </p:spPr>
        <p:txBody>
          <a:bodyPr wrap="none">
            <a:spAutoFit/>
          </a:bodyPr>
          <a:lstStyle/>
          <a:p>
            <a:pPr eaLnBrk="1" hangingPunct="1" algn="ctr"/>
            <a:r>
              <a:rPr sz="1000" b="0" lang="ja-JP" altLang="en-US">
                <a:solidFill>
                  <a:srgbClr val="686868"/>
                </a:solidFill>
                <a:latin typeface="Century Gothic"/>
                <a:ea typeface="Yu Gothic"/>
              </a:rPr>
              <a:t>技術構成と法的ステータスの俯瞰</a:t>
            </a:r>
          </a:p>
        </p:txBody>
      </p:sp>
      <p:sp>
        <p:nvSpPr>
          <p:cNvPr id="10" name="TextBox 9"/>
          <p:cNvSpPr txBox="1"/>
          <p:nvPr/>
        </p:nvSpPr>
        <p:spPr>
          <a:xfrm>
            <a:off x="8427841" y="2386584"/>
            <a:ext cx="3468502" cy="3346703"/>
          </a:xfrm>
          <a:prstGeom prst="rect">
            <a:avLst/>
          </a:prstGeom>
          <a:noFill/>
          <a:effectLst/>
        </p:spPr>
        <p:txBody>
          <a:bodyPr wrap="square">
            <a:noAutofit/>
          </a:bodyPr>
          <a:lstStyle/>
          <a:p>
            <a:pPr eaLnBrk="1" hangingPunct="1">
              <a:lnSpc>
                <a:spcPct val="145000"/>
              </a:lnSpc>
              <a:spcAft>
                <a:spcPts val="600"/>
              </a:spcAft>
            </a:pPr>
            <a:r>
              <a:rPr sz="1400" lang="ja-JP" altLang="en-US">
                <a:solidFill>
                  <a:srgbClr val="111111"/>
                </a:solidFill>
                <a:latin typeface="Century Gothic"/>
                <a:ea typeface="Yu Gothic"/>
              </a:rPr>
              <a:t>■ </a:t>
            </a:r>
            <a:r>
              <a:rPr sz="1400" lang="ja-JP" altLang="en-US">
                <a:solidFill>
                  <a:srgbClr val="111111"/>
                </a:solidFill>
                <a:latin typeface="Century Gothic"/>
                <a:ea typeface="Yu Gothic"/>
              </a:rPr>
              <a:t>法的ステータス内訳：■143 / ◇121 / ◎80 / ▼73（本母集団417件）</a:t>
            </a:r>
          </a:p>
          <a:p>
            <a:pPr eaLnBrk="1" hangingPunct="1">
              <a:lnSpc>
                <a:spcPct val="145000"/>
              </a:lnSpc>
              <a:spcAft>
                <a:spcPts val="600"/>
              </a:spcAft>
            </a:pPr>
            <a:r>
              <a:rPr sz="1400" lang="ja-JP" altLang="en-US">
                <a:solidFill>
                  <a:srgbClr val="111111"/>
                </a:solidFill>
                <a:latin typeface="Century Gothic"/>
                <a:ea typeface="Yu Gothic"/>
              </a:rPr>
              <a:t>■ </a:t>
            </a:r>
            <a:r>
              <a:rPr b="1" sz="1400" lang="ja-JP" altLang="en-US">
                <a:solidFill>
                  <a:srgbClr val="111111"/>
                </a:solidFill>
                <a:latin typeface="Century Gothic"/>
                <a:ea typeface="Yu Gothic"/>
              </a:rPr>
              <a:t>◇(係属中)が2023年39件・2024年43件と急増</a:t>
            </a:r>
            <a:r>
              <a:rPr sz="1400" lang="ja-JP" altLang="en-US">
                <a:solidFill>
                  <a:srgbClr val="111111"/>
                </a:solidFill>
                <a:latin typeface="Century Gothic"/>
                <a:ea typeface="Yu Gothic"/>
              </a:rPr>
              <a:t>＝直近出願の権利範囲は未確定</a:t>
            </a:r>
          </a:p>
          <a:p>
            <a:pPr eaLnBrk="1" hangingPunct="1">
              <a:lnSpc>
                <a:spcPct val="145000"/>
              </a:lnSpc>
              <a:spcAft>
                <a:spcPts val="600"/>
              </a:spcAft>
            </a:pPr>
            <a:r>
              <a:rPr sz="1400" lang="ja-JP" altLang="en-US">
                <a:solidFill>
                  <a:srgbClr val="111111"/>
                </a:solidFill>
                <a:latin typeface="Century Gothic"/>
                <a:ea typeface="Yu Gothic"/>
              </a:rPr>
              <a:t>■ </a:t>
            </a:r>
            <a:r>
              <a:rPr sz="1400" lang="ja-JP" altLang="en-US">
                <a:solidFill>
                  <a:srgbClr val="111111"/>
                </a:solidFill>
                <a:latin typeface="Century Gothic"/>
                <a:ea typeface="Yu Gothic"/>
              </a:rPr>
              <a:t>旧年代の出願には▼(消滅系)が蓄積し、初期の権利網は順次失効</a:t>
            </a:r>
          </a:p>
          <a:p>
            <a:pPr eaLnBrk="1" hangingPunct="1">
              <a:lnSpc>
                <a:spcPct val="145000"/>
              </a:lnSpc>
              <a:spcAft>
                <a:spcPts val="600"/>
              </a:spcAft>
            </a:pPr>
            <a:r>
              <a:rPr sz="1400" lang="ja-JP" altLang="en-US">
                <a:solidFill>
                  <a:srgbClr val="111111"/>
                </a:solidFill>
                <a:latin typeface="Century Gothic"/>
                <a:ea typeface="Yu Gothic"/>
              </a:rPr>
              <a:t>■ </a:t>
            </a:r>
            <a:r>
              <a:rPr b="1" sz="1400" lang="ja-JP" altLang="en-US">
                <a:solidFill>
                  <a:srgbClr val="111111"/>
                </a:solidFill>
                <a:latin typeface="Century Gothic"/>
                <a:ea typeface="Yu Gothic"/>
              </a:rPr>
              <a:t>含意</a:t>
            </a:r>
            <a:r>
              <a:rPr sz="1400" lang="ja-JP" altLang="en-US">
                <a:solidFill>
                  <a:srgbClr val="111111"/>
                </a:solidFill>
                <a:latin typeface="Century Gothic"/>
                <a:ea typeface="Yu Gothic"/>
              </a:rPr>
              <a:t>：旧権利網の満了で再オープンする設計空間に、新興勢力が新たな網を張りに来ている</a:t>
            </a:r>
          </a:p>
        </p:txBody>
      </p:sp>
      <p:sp>
        <p:nvSpPr>
          <p:cNvPr id="11" name="TextBox 10"/>
          <p:cNvSpPr txBox="1"/>
          <p:nvPr/>
        </p:nvSpPr>
        <p:spPr>
          <a:xfrm>
            <a:off x="457200" y="6053328"/>
            <a:ext cx="11247120" cy="320040"/>
          </a:xfrm>
          <a:prstGeom prst="rect">
            <a:avLst/>
          </a:prstGeom>
          <a:noFill/>
          <a:effectLst/>
        </p:spPr>
        <p:txBody>
          <a:bodyPr wrap="square">
            <a:noAutofit/>
          </a:bodyPr>
          <a:lstStyle/>
          <a:p>
            <a:pPr eaLnBrk="1" hangingPunct="1"/>
            <a:r>
              <a:rPr sz="900" b="0" lang="ja-JP" altLang="en-US">
                <a:solidFill>
                  <a:srgbClr val="686868"/>
                </a:solidFill>
                <a:latin typeface="Century Gothic"/>
                <a:ea typeface="Yu Gothic"/>
              </a:rPr>
              <a:t>（出所）特許データベース Cyber patent desc（2026-06-14）</a:t>
            </a:r>
          </a:p>
        </p:txBody>
      </p:sp>
      <p:sp>
        <p:nvSpPr>
          <p:cNvPr id="12" name="TextBox 11"/>
          <p:cNvSpPr txBox="1"/>
          <p:nvPr/>
        </p:nvSpPr>
        <p:spPr>
          <a:xfrm>
            <a:off x="11384280" y="6419088"/>
            <a:ext cx="502920" cy="228600"/>
          </a:xfrm>
          <a:prstGeom prst="rect">
            <a:avLst/>
          </a:prstGeom>
          <a:noFill/>
          <a:effectLst/>
        </p:spPr>
        <p:txBody>
          <a:bodyPr wrap="none">
            <a:spAutoFit/>
          </a:bodyPr>
          <a:lstStyle/>
          <a:p>
            <a:pPr eaLnBrk="1" hangingPunct="1" algn="r"/>
            <a:r>
              <a:rPr sz="1000" b="0" lang="ja-JP" altLang="en-US">
                <a:solidFill>
                  <a:srgbClr val="686868"/>
                </a:solidFill>
                <a:latin typeface="Century Gothic"/>
                <a:ea typeface="Yu Gothic"/>
              </a:rPr>
              <a:t>12</a:t>
            </a:r>
          </a:p>
        </p:txBody>
      </p:sp>
      <p:cxnSp>
        <p:nvCxnSpPr>
          <p:cNvPr id="13" name="Connector 12"/>
          <p:cNvCxnSpPr/>
          <p:nvPr/>
        </p:nvCxnSpPr>
        <p:spPr>
          <a:xfrm>
            <a:off x="11859767" y="128016"/>
            <a:ext cx="201169" cy="0"/>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14" name="Connector 13"/>
          <p:cNvCxnSpPr/>
          <p:nvPr/>
        </p:nvCxnSpPr>
        <p:spPr>
          <a:xfrm>
            <a:off x="12060936" y="128016"/>
            <a:ext cx="0" cy="201168"/>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15" name="Connector 14"/>
          <p:cNvCxnSpPr/>
          <p:nvPr/>
        </p:nvCxnSpPr>
        <p:spPr>
          <a:xfrm>
            <a:off x="128016" y="6729984"/>
            <a:ext cx="201168" cy="0"/>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a:off x="128016" y="6528816"/>
            <a:ext cx="0" cy="201168"/>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01011"/>
        </a:solidFill>
        <a:effectLst/>
      </p:bgPr>
    </p:bg>
    <p:spTree>
      <p:nvGrpSpPr>
        <p:cNvPr id="1" name=""/>
        <p:cNvGrpSpPr/>
        <p:nvPr/>
      </p:nvGrpSpPr>
      <p:grpSpPr/>
      <p:sp>
        <p:nvSpPr>
          <p:cNvPr id="2" name="TextBox 1"/>
          <p:cNvSpPr txBox="1"/>
          <p:nvPr/>
        </p:nvSpPr>
        <p:spPr>
          <a:xfrm>
            <a:off x="4754880" y="960120"/>
            <a:ext cx="6949440" cy="4937760"/>
          </a:xfrm>
          <a:prstGeom prst="rect">
            <a:avLst/>
          </a:prstGeom>
          <a:noFill/>
          <a:effectLst/>
        </p:spPr>
        <p:txBody>
          <a:bodyPr wrap="none">
            <a:noAutofit/>
          </a:bodyPr>
          <a:lstStyle/>
          <a:p>
            <a:pPr algn="r"/>
            <a:r>
              <a:rPr sz="30000" b="1" lang="ja-JP" altLang="en-US">
                <a:solidFill>
                  <a:srgbClr val="4A4A52"/>
                </a:solidFill>
                <a:latin typeface="Yu Mincho"/>
                <a:ea typeface="Yu Mincho"/>
              </a:rPr>
              <a:t>03</a:t>
            </a:r>
          </a:p>
        </p:txBody>
      </p:sp>
      <p:sp>
        <p:nvSpPr>
          <p:cNvPr id="3" name="Rectangle 2"/>
          <p:cNvSpPr/>
          <p:nvPr/>
        </p:nvSpPr>
        <p:spPr>
          <a:xfrm>
            <a:off x="0" y="0"/>
            <a:ext cx="274320" cy="685800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1051560" y="2514600"/>
            <a:ext cx="5486400" cy="365760"/>
          </a:xfrm>
          <a:prstGeom prst="rect">
            <a:avLst/>
          </a:prstGeom>
          <a:noFill/>
          <a:effectLst/>
        </p:spPr>
        <p:txBody>
          <a:bodyPr wrap="square">
            <a:noAutofit/>
          </a:bodyPr>
          <a:lstStyle/>
          <a:p>
            <a:r>
              <a:rPr sz="1500" b="1" lang="ja-JP" altLang="en-US" spc="260">
                <a:solidFill>
                  <a:srgbClr val="FF7070"/>
                </a:solidFill>
                <a:latin typeface="Yu Mincho"/>
                <a:ea typeface="Yu Mincho"/>
              </a:rPr>
              <a:t>SECTION 03</a:t>
            </a:r>
          </a:p>
        </p:txBody>
      </p:sp>
      <p:sp>
        <p:nvSpPr>
          <p:cNvPr id="5" name="Rectangle 4"/>
          <p:cNvSpPr/>
          <p:nvPr/>
        </p:nvSpPr>
        <p:spPr>
          <a:xfrm>
            <a:off x="1078992" y="3035808"/>
            <a:ext cx="2560320" cy="9144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1051560" y="3246120"/>
            <a:ext cx="7315200" cy="1554480"/>
          </a:xfrm>
          <a:prstGeom prst="rect">
            <a:avLst/>
          </a:prstGeom>
          <a:noFill/>
          <a:effectLst/>
        </p:spPr>
        <p:txBody>
          <a:bodyPr wrap="square">
            <a:noAutofit/>
          </a:bodyPr>
          <a:lstStyle/>
          <a:p>
            <a:pPr eaLnBrk="1" hangingPunct="1">
              <a:lnSpc>
                <a:spcPct val="115000"/>
              </a:lnSpc>
            </a:pPr>
            <a:r>
              <a:rPr sz="4000" b="1" lang="ja-JP" altLang="en-US">
                <a:solidFill>
                  <a:srgbClr val="FFFFFF"/>
                </a:solidFill>
                <a:latin typeface="Yu Mincho"/>
                <a:ea typeface="Yu Mincho"/>
              </a:rPr>
              <a:t>技術構造</a:t>
            </a:r>
          </a:p>
        </p:txBody>
      </p:sp>
      <p:sp>
        <p:nvSpPr>
          <p:cNvPr id="7" name="TextBox 6"/>
          <p:cNvSpPr txBox="1"/>
          <p:nvPr/>
        </p:nvSpPr>
        <p:spPr>
          <a:xfrm>
            <a:off x="1078992" y="4892040"/>
            <a:ext cx="6949440" cy="731520"/>
          </a:xfrm>
          <a:prstGeom prst="rect">
            <a:avLst/>
          </a:prstGeom>
          <a:noFill/>
          <a:effectLst/>
        </p:spPr>
        <p:txBody>
          <a:bodyPr wrap="square">
            <a:noAutofit/>
          </a:bodyPr>
          <a:lstStyle/>
          <a:p>
            <a:pPr eaLnBrk="1" hangingPunct="1"/>
            <a:r>
              <a:rPr sz="1500" b="0" lang="ja-JP" altLang="en-US">
                <a:solidFill>
                  <a:srgbClr val="C2C2C6"/>
                </a:solidFill>
                <a:latin typeface="Yu Mincho"/>
                <a:ea typeface="Yu Mincho"/>
              </a:rPr>
              <a:t>課題・解決手段・樹脂分類の三軸で技術内容を読む</a:t>
            </a:r>
          </a:p>
        </p:txBody>
      </p:sp>
      <p:sp>
        <p:nvSpPr>
          <p:cNvPr id="8" name="Rectangle 7"/>
          <p:cNvSpPr/>
          <p:nvPr/>
        </p:nvSpPr>
        <p:spPr>
          <a:xfrm>
            <a:off x="0" y="6492240"/>
            <a:ext cx="12188952" cy="27432"/>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22960" y="1952243"/>
            <a:ext cx="45720" cy="2496312"/>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1024128" y="1906524"/>
            <a:ext cx="4206240" cy="320040"/>
          </a:xfrm>
          <a:prstGeom prst="rect">
            <a:avLst/>
          </a:prstGeom>
          <a:noFill/>
          <a:effectLst/>
        </p:spPr>
        <p:txBody>
          <a:bodyPr wrap="square">
            <a:noAutofit/>
          </a:bodyPr>
          <a:lstStyle/>
          <a:p>
            <a:pPr eaLnBrk="1" hangingPunct="1"/>
            <a:r>
              <a:rPr sz="1100" b="1" lang="ja-JP" altLang="en-US">
                <a:solidFill>
                  <a:srgbClr val="C51212"/>
                </a:solidFill>
                <a:latin typeface="Yu Mincho"/>
                <a:ea typeface="Yu Mincho"/>
              </a:rPr>
              <a:t>SECTION 03 / 技術構造</a:t>
            </a:r>
          </a:p>
        </p:txBody>
      </p:sp>
      <p:sp>
        <p:nvSpPr>
          <p:cNvPr id="4" name="TextBox 3"/>
          <p:cNvSpPr txBox="1"/>
          <p:nvPr/>
        </p:nvSpPr>
        <p:spPr>
          <a:xfrm>
            <a:off x="1024128" y="2290572"/>
            <a:ext cx="4206240" cy="2203704"/>
          </a:xfrm>
          <a:prstGeom prst="rect">
            <a:avLst/>
          </a:prstGeom>
          <a:noFill/>
          <a:effectLst/>
        </p:spPr>
        <p:txBody>
          <a:bodyPr wrap="square">
            <a:noAutofit/>
          </a:bodyPr>
          <a:lstStyle/>
          <a:p>
            <a:pPr eaLnBrk="1" hangingPunct="1">
              <a:lnSpc>
                <a:spcPct val="122000"/>
              </a:lnSpc>
            </a:pPr>
            <a:r>
              <a:rPr sz="2400" b="1" lang="ja-JP" altLang="en-US">
                <a:solidFill>
                  <a:srgbClr val="111111"/>
                </a:solidFill>
                <a:latin typeface="Yu Mincho"/>
                <a:ea typeface="Yu Mincho"/>
              </a:rPr>
              <a:t>再生材は『何を解こうとし、どう解いているか』</a:t>
            </a:r>
          </a:p>
        </p:txBody>
      </p:sp>
      <p:sp>
        <p:nvSpPr>
          <p:cNvPr id="5" name="TextBox 4"/>
          <p:cNvSpPr txBox="1"/>
          <p:nvPr/>
        </p:nvSpPr>
        <p:spPr>
          <a:xfrm>
            <a:off x="5577840" y="1906524"/>
            <a:ext cx="5971032" cy="2587752"/>
          </a:xfrm>
          <a:prstGeom prst="rect">
            <a:avLst/>
          </a:prstGeom>
          <a:noFill/>
          <a:effectLst/>
        </p:spPr>
        <p:txBody>
          <a:bodyPr wrap="square">
            <a:noAutofit/>
          </a:bodyPr>
          <a:lstStyle/>
          <a:p>
            <a:pPr eaLnBrk="1" hangingPunct="1">
              <a:lnSpc>
                <a:spcPct val="140000"/>
              </a:lnSpc>
              <a:spcAft>
                <a:spcPts val="800"/>
              </a:spcAft>
            </a:pPr>
            <a:r>
              <a:rPr b="1" sz="1400" lang="ja-JP" altLang="en-US">
                <a:solidFill>
                  <a:srgbClr val="111111"/>
                </a:solidFill>
                <a:latin typeface="Century Gothic"/>
                <a:ea typeface="Yu Gothic"/>
              </a:rPr>
              <a:t>何を</a:t>
            </a:r>
            <a:r>
              <a:rPr b="0" sz="1400" lang="ja-JP" altLang="en-US">
                <a:solidFill>
                  <a:srgbClr val="111111"/>
                </a:solidFill>
                <a:latin typeface="Century Gothic"/>
                <a:ea typeface="Yu Gothic"/>
              </a:rPr>
              <a:t>: ルールベース分類で課題・解決手段・対象樹脂の分布を把握する</a:t>
            </a:r>
          </a:p>
          <a:p>
            <a:pPr eaLnBrk="1" hangingPunct="1">
              <a:lnSpc>
                <a:spcPct val="140000"/>
              </a:lnSpc>
              <a:spcAft>
                <a:spcPts val="800"/>
              </a:spcAft>
            </a:pPr>
            <a:r>
              <a:rPr b="1" sz="1400" lang="ja-JP" altLang="en-US">
                <a:solidFill>
                  <a:srgbClr val="111111"/>
                </a:solidFill>
                <a:latin typeface="Century Gothic"/>
                <a:ea typeface="Yu Gothic"/>
              </a:rPr>
              <a:t>なぜ</a:t>
            </a:r>
            <a:r>
              <a:rPr b="0" sz="1400" lang="ja-JP" altLang="en-US">
                <a:solidFill>
                  <a:srgbClr val="111111"/>
                </a:solidFill>
                <a:latin typeface="Century Gothic"/>
                <a:ea typeface="Yu Gothic"/>
              </a:rPr>
              <a:t>: 件数ではなく技術内容を見ないと、高機能化の中身が分からない</a:t>
            </a:r>
          </a:p>
          <a:p>
            <a:pPr eaLnBrk="1" hangingPunct="1">
              <a:lnSpc>
                <a:spcPct val="140000"/>
              </a:lnSpc>
              <a:spcAft>
                <a:spcPts val="800"/>
              </a:spcAft>
            </a:pPr>
            <a:r>
              <a:rPr b="1" sz="1400" lang="ja-JP" altLang="en-US">
                <a:solidFill>
                  <a:srgbClr val="111111"/>
                </a:solidFill>
                <a:latin typeface="Century Gothic"/>
                <a:ea typeface="Yu Gothic"/>
              </a:rPr>
              <a:t>着眼</a:t>
            </a:r>
            <a:r>
              <a:rPr b="0" sz="1400" lang="ja-JP" altLang="en-US">
                <a:solidFill>
                  <a:srgbClr val="111111"/>
                </a:solidFill>
                <a:latin typeface="Century Gothic"/>
                <a:ea typeface="Yu Gothic"/>
              </a:rPr>
              <a:t>: 環境対応という大目的の下で、機械特性・成形性・外観の両立が主課題</a:t>
            </a:r>
          </a:p>
          <a:p>
            <a:pPr eaLnBrk="1" hangingPunct="1">
              <a:lnSpc>
                <a:spcPct val="140000"/>
              </a:lnSpc>
              <a:spcAft>
                <a:spcPts val="800"/>
              </a:spcAft>
            </a:pPr>
            <a:r>
              <a:rPr b="1" sz="1400" lang="ja-JP" altLang="en-US">
                <a:solidFill>
                  <a:srgbClr val="111111"/>
                </a:solidFill>
                <a:latin typeface="Century Gothic"/>
                <a:ea typeface="Yu Gothic"/>
              </a:rPr>
              <a:t>手段</a:t>
            </a:r>
            <a:r>
              <a:rPr b="0" sz="1400" lang="ja-JP" altLang="en-US">
                <a:solidFill>
                  <a:srgbClr val="111111"/>
                </a:solidFill>
                <a:latin typeface="Century Gothic"/>
                <a:ea typeface="Yu Gothic"/>
              </a:rPr>
              <a:t>: 溶融混練・回収選別・相溶化・バージン材ブレンドが配合設計の核</a:t>
            </a:r>
          </a:p>
        </p:txBody>
      </p:sp>
      <p:sp>
        <p:nvSpPr>
          <p:cNvPr id="6" name="TextBox 5"/>
          <p:cNvSpPr txBox="1"/>
          <p:nvPr/>
        </p:nvSpPr>
        <p:spPr>
          <a:xfrm>
            <a:off x="11384280" y="6419088"/>
            <a:ext cx="502920" cy="228600"/>
          </a:xfrm>
          <a:prstGeom prst="rect">
            <a:avLst/>
          </a:prstGeom>
          <a:noFill/>
          <a:effectLst/>
        </p:spPr>
        <p:txBody>
          <a:bodyPr wrap="none">
            <a:spAutoFit/>
          </a:bodyPr>
          <a:lstStyle/>
          <a:p>
            <a:pPr eaLnBrk="1" hangingPunct="1" algn="r"/>
            <a:r>
              <a:rPr sz="1000" b="0" lang="ja-JP" altLang="en-US">
                <a:solidFill>
                  <a:srgbClr val="686868"/>
                </a:solidFill>
                <a:latin typeface="Century Gothic"/>
                <a:ea typeface="Yu Gothic"/>
              </a:rPr>
              <a:t>13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22960" y="521208"/>
            <a:ext cx="365760" cy="1270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22960" y="630936"/>
            <a:ext cx="10725912" cy="841248"/>
          </a:xfrm>
          <a:prstGeom prst="rect">
            <a:avLst/>
          </a:prstGeom>
          <a:noFill/>
          <a:effectLst/>
        </p:spPr>
        <p:txBody>
          <a:bodyPr wrap="square">
            <a:noAutofit/>
          </a:bodyPr>
          <a:lstStyle/>
          <a:p>
            <a:pPr eaLnBrk="1" hangingPunct="1">
              <a:lnSpc>
                <a:spcPct val="118000"/>
              </a:lnSpc>
            </a:pPr>
            <a:r>
              <a:rPr b="1" sz="2300" lang="ja-JP" altLang="en-US">
                <a:solidFill>
                  <a:srgbClr val="111111"/>
                </a:solidFill>
                <a:latin typeface="Yu Mincho"/>
                <a:ea typeface="Yu Mincho"/>
              </a:rPr>
              <a:t>主課題は『環境対応 × 物性両立』、再生材ゆえの品質課題を解く</a:t>
            </a:r>
          </a:p>
        </p:txBody>
      </p:sp>
      <p:sp>
        <p:nvSpPr>
          <p:cNvPr id="4" name="Rectangle 3"/>
          <p:cNvSpPr/>
          <p:nvPr/>
        </p:nvSpPr>
        <p:spPr>
          <a:xfrm>
            <a:off x="822960" y="1527048"/>
            <a:ext cx="10725912" cy="822959"/>
          </a:xfrm>
          <a:prstGeom prst="rect">
            <a:avLst/>
          </a:prstGeom>
          <a:solidFill>
            <a:srgbClr val="F6F7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822960" y="1527048"/>
            <a:ext cx="36576" cy="822959"/>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60120" y="1600200"/>
            <a:ext cx="10451592" cy="676655"/>
          </a:xfrm>
          <a:prstGeom prst="rect">
            <a:avLst/>
          </a:prstGeom>
          <a:noFill/>
          <a:effectLst/>
        </p:spPr>
        <p:txBody>
          <a:bodyPr wrap="square">
            <a:noAutofit/>
          </a:bodyPr>
          <a:lstStyle/>
          <a:p>
            <a:pPr eaLnBrk="1" hangingPunct="1">
              <a:lnSpc>
                <a:spcPct val="150000"/>
              </a:lnSpc>
            </a:pPr>
            <a:r>
              <a:rPr sz="1500" b="1" lang="ja-JP" altLang="en-US">
                <a:solidFill>
                  <a:srgbClr val="C51212"/>
                </a:solidFill>
                <a:latin typeface="Century Gothic"/>
                <a:ea typeface="Yu Gothic"/>
              </a:rPr>
              <a:t>■ </a:t>
            </a:r>
            <a:r>
              <a:rPr sz="1500" lang="ja-JP" altLang="en-US">
                <a:solidFill>
                  <a:srgbClr val="111111"/>
                </a:solidFill>
                <a:latin typeface="Century Gothic"/>
                <a:ea typeface="Yu Gothic"/>
              </a:rPr>
              <a:t>課題の最大は環境対応・リサイクル性向上だが、単独より</a:t>
            </a:r>
            <a:r>
              <a:rPr b="1" sz="1500" lang="ja-JP" altLang="en-US">
                <a:solidFill>
                  <a:srgbClr val="111111"/>
                </a:solidFill>
                <a:latin typeface="Century Gothic"/>
                <a:ea typeface="Yu Gothic"/>
              </a:rPr>
              <a:t>成形性・機械特性・組成最適化との組合せ</a:t>
            </a:r>
            <a:r>
              <a:rPr sz="1500" lang="ja-JP" altLang="en-US">
                <a:solidFill>
                  <a:srgbClr val="111111"/>
                </a:solidFill>
                <a:latin typeface="Century Gothic"/>
                <a:ea typeface="Yu Gothic"/>
              </a:rPr>
              <a:t>が主流。</a:t>
            </a:r>
          </a:p>
        </p:txBody>
      </p:sp>
      <p:sp>
        <p:nvSpPr>
          <p:cNvPr id="7" name="TextBox 6"/>
          <p:cNvSpPr txBox="1"/>
          <p:nvPr/>
        </p:nvSpPr>
        <p:spPr>
          <a:xfrm>
            <a:off x="822960" y="2441448"/>
            <a:ext cx="7266553" cy="320040"/>
          </a:xfrm>
          <a:prstGeom prst="rect">
            <a:avLst/>
          </a:prstGeom>
          <a:noFill/>
          <a:effectLst/>
        </p:spPr>
        <p:txBody>
          <a:bodyPr wrap="none">
            <a:spAutoFit/>
          </a:bodyPr>
          <a:lstStyle/>
          <a:p>
            <a:pPr eaLnBrk="1" hangingPunct="1"/>
            <a:r>
              <a:rPr sz="1400" b="1" lang="ja-JP" altLang="en-US">
                <a:solidFill>
                  <a:srgbClr val="111111"/>
                </a:solidFill>
                <a:latin typeface="Yu Mincho"/>
                <a:ea typeface="Yu Mincho"/>
              </a:rPr>
              <a:t>課題 × 解決手段マップ</a:t>
            </a:r>
          </a:p>
        </p:txBody>
      </p:sp>
      <p:pic>
        <p:nvPicPr>
          <p:cNvPr id="8" name="Picture 7" descr="core_snap_課題分類_解決手段分類_全体Overall.png"/>
          <p:cNvPicPr>
            <a:picLocks noChangeAspect="1"/>
          </p:cNvPicPr>
          <p:nvPr/>
        </p:nvPicPr>
        <p:blipFill>
          <a:blip r:embed="rId2"/>
          <a:stretch>
            <a:fillRect/>
          </a:stretch>
        </p:blipFill>
        <p:spPr>
          <a:xfrm>
            <a:off x="1830892" y="2761488"/>
            <a:ext cx="5250687" cy="2953511"/>
          </a:xfrm>
          <a:prstGeom prst="rect">
            <a:avLst/>
          </a:prstGeom>
          <a:effectLst/>
        </p:spPr>
      </p:pic>
      <p:sp>
        <p:nvSpPr>
          <p:cNvPr id="9" name="TextBox 8"/>
          <p:cNvSpPr txBox="1"/>
          <p:nvPr/>
        </p:nvSpPr>
        <p:spPr>
          <a:xfrm>
            <a:off x="822960" y="5788152"/>
            <a:ext cx="7266553" cy="228600"/>
          </a:xfrm>
          <a:prstGeom prst="rect">
            <a:avLst/>
          </a:prstGeom>
          <a:noFill/>
          <a:effectLst/>
        </p:spPr>
        <p:txBody>
          <a:bodyPr wrap="none">
            <a:spAutoFit/>
          </a:bodyPr>
          <a:lstStyle/>
          <a:p>
            <a:pPr eaLnBrk="1" hangingPunct="1" algn="ctr"/>
            <a:r>
              <a:rPr sz="1000" b="0" lang="ja-JP" altLang="en-US">
                <a:solidFill>
                  <a:srgbClr val="686868"/>
                </a:solidFill>
                <a:latin typeface="Century Gothic"/>
                <a:ea typeface="Yu Gothic"/>
              </a:rPr>
              <a:t>CORE ルールベース分類（全体）</a:t>
            </a:r>
          </a:p>
        </p:txBody>
      </p:sp>
      <p:sp>
        <p:nvSpPr>
          <p:cNvPr id="10" name="TextBox 9"/>
          <p:cNvSpPr txBox="1"/>
          <p:nvPr/>
        </p:nvSpPr>
        <p:spPr>
          <a:xfrm>
            <a:off x="8427841" y="2514600"/>
            <a:ext cx="3468502" cy="3218687"/>
          </a:xfrm>
          <a:prstGeom prst="rect">
            <a:avLst/>
          </a:prstGeom>
          <a:noFill/>
          <a:effectLst/>
        </p:spPr>
        <p:txBody>
          <a:bodyPr wrap="square">
            <a:noAutofit/>
          </a:bodyPr>
          <a:lstStyle/>
          <a:p>
            <a:pPr eaLnBrk="1" hangingPunct="1">
              <a:lnSpc>
                <a:spcPct val="145000"/>
              </a:lnSpc>
              <a:spcAft>
                <a:spcPts val="600"/>
              </a:spcAft>
            </a:pPr>
            <a:r>
              <a:rPr sz="1400" lang="ja-JP" altLang="en-US">
                <a:solidFill>
                  <a:srgbClr val="111111"/>
                </a:solidFill>
                <a:latin typeface="Century Gothic"/>
                <a:ea typeface="Yu Gothic"/>
              </a:rPr>
              <a:t>■ </a:t>
            </a:r>
            <a:r>
              <a:rPr sz="1400" lang="ja-JP" altLang="en-US">
                <a:solidFill>
                  <a:srgbClr val="111111"/>
                </a:solidFill>
                <a:latin typeface="Century Gothic"/>
                <a:ea typeface="Yu Gothic"/>
              </a:rPr>
              <a:t>課題分類トップ：</a:t>
            </a:r>
            <a:r>
              <a:rPr b="1" sz="1400" lang="ja-JP" altLang="en-US">
                <a:solidFill>
                  <a:srgbClr val="111111"/>
                </a:solidFill>
                <a:latin typeface="Century Gothic"/>
                <a:ea typeface="Yu Gothic"/>
              </a:rPr>
              <a:t>環境対応・リサイクル性向上</a:t>
            </a:r>
            <a:r>
              <a:rPr sz="1400" lang="ja-JP" altLang="en-US">
                <a:solidFill>
                  <a:srgbClr val="111111"/>
                </a:solidFill>
                <a:latin typeface="Century Gothic"/>
                <a:ea typeface="Yu Gothic"/>
              </a:rPr>
              <a:t>（単独79件＋複合多数）</a:t>
            </a:r>
          </a:p>
          <a:p>
            <a:pPr eaLnBrk="1" hangingPunct="1">
              <a:lnSpc>
                <a:spcPct val="145000"/>
              </a:lnSpc>
              <a:spcAft>
                <a:spcPts val="600"/>
              </a:spcAft>
            </a:pPr>
            <a:r>
              <a:rPr sz="1400" lang="ja-JP" altLang="en-US">
                <a:solidFill>
                  <a:srgbClr val="111111"/>
                </a:solidFill>
                <a:latin typeface="Century Gothic"/>
                <a:ea typeface="Yu Gothic"/>
              </a:rPr>
              <a:t>■ </a:t>
            </a:r>
            <a:r>
              <a:rPr sz="1400" lang="ja-JP" altLang="en-US">
                <a:solidFill>
                  <a:srgbClr val="111111"/>
                </a:solidFill>
                <a:latin typeface="Century Gothic"/>
                <a:ea typeface="Yu Gothic"/>
              </a:rPr>
              <a:t>次いで成形性・流動性、組成・配合バランスの最適化、外観・色調・透明性、機械特性</a:t>
            </a:r>
          </a:p>
          <a:p>
            <a:pPr eaLnBrk="1" hangingPunct="1">
              <a:lnSpc>
                <a:spcPct val="145000"/>
              </a:lnSpc>
              <a:spcAft>
                <a:spcPts val="600"/>
              </a:spcAft>
            </a:pPr>
            <a:r>
              <a:rPr sz="1400" lang="ja-JP" altLang="en-US">
                <a:solidFill>
                  <a:srgbClr val="111111"/>
                </a:solidFill>
                <a:latin typeface="Century Gothic"/>
                <a:ea typeface="Yu Gothic"/>
              </a:rPr>
              <a:t>■ </a:t>
            </a:r>
            <a:r>
              <a:rPr sz="1400" lang="ja-JP" altLang="en-US">
                <a:solidFill>
                  <a:srgbClr val="111111"/>
                </a:solidFill>
                <a:latin typeface="Century Gothic"/>
                <a:ea typeface="Yu Gothic"/>
              </a:rPr>
              <a:t>解決手段トップ：</a:t>
            </a:r>
            <a:r>
              <a:rPr b="1" sz="1400" lang="ja-JP" altLang="en-US">
                <a:solidFill>
                  <a:srgbClr val="111111"/>
                </a:solidFill>
                <a:latin typeface="Century Gothic"/>
                <a:ea typeface="Yu Gothic"/>
              </a:rPr>
              <a:t>溶融混練・製造プロセス制御</a:t>
            </a:r>
            <a:r>
              <a:rPr sz="1400" lang="ja-JP" altLang="en-US">
                <a:solidFill>
                  <a:srgbClr val="111111"/>
                </a:solidFill>
                <a:latin typeface="Century Gothic"/>
                <a:ea typeface="Yu Gothic"/>
              </a:rPr>
              <a:t>(32)＋</a:t>
            </a:r>
            <a:r>
              <a:rPr b="1" sz="1400" lang="ja-JP" altLang="en-US">
                <a:solidFill>
                  <a:srgbClr val="111111"/>
                </a:solidFill>
                <a:latin typeface="Century Gothic"/>
                <a:ea typeface="Yu Gothic"/>
              </a:rPr>
              <a:t>回収・選別・異物除去</a:t>
            </a:r>
            <a:r>
              <a:rPr sz="1400" lang="ja-JP" altLang="en-US">
                <a:solidFill>
                  <a:srgbClr val="111111"/>
                </a:solidFill>
                <a:latin typeface="Century Gothic"/>
                <a:ea typeface="Yu Gothic"/>
              </a:rPr>
              <a:t>(20/複合28)</a:t>
            </a:r>
          </a:p>
          <a:p>
            <a:pPr eaLnBrk="1" hangingPunct="1">
              <a:lnSpc>
                <a:spcPct val="145000"/>
              </a:lnSpc>
              <a:spcAft>
                <a:spcPts val="600"/>
              </a:spcAft>
            </a:pPr>
            <a:r>
              <a:rPr sz="1400" lang="ja-JP" altLang="en-US">
                <a:solidFill>
                  <a:srgbClr val="111111"/>
                </a:solidFill>
                <a:latin typeface="Century Gothic"/>
                <a:ea typeface="Yu Gothic"/>
              </a:rPr>
              <a:t>■ </a:t>
            </a:r>
            <a:r>
              <a:rPr b="1" sz="1400" lang="ja-JP" altLang="en-US">
                <a:solidFill>
                  <a:srgbClr val="111111"/>
                </a:solidFill>
                <a:latin typeface="Century Gothic"/>
                <a:ea typeface="Yu Gothic"/>
              </a:rPr>
              <a:t>示唆</a:t>
            </a:r>
            <a:r>
              <a:rPr sz="1400" lang="ja-JP" altLang="en-US">
                <a:solidFill>
                  <a:srgbClr val="111111"/>
                </a:solidFill>
                <a:latin typeface="Century Gothic"/>
                <a:ea typeface="Yu Gothic"/>
              </a:rPr>
              <a:t>：環境訴求は前提化し、競争軸は『再生材で従来同等の物性をどう出すか』へ移った</a:t>
            </a:r>
          </a:p>
        </p:txBody>
      </p:sp>
      <p:sp>
        <p:nvSpPr>
          <p:cNvPr id="11" name="TextBox 10"/>
          <p:cNvSpPr txBox="1"/>
          <p:nvPr/>
        </p:nvSpPr>
        <p:spPr>
          <a:xfrm>
            <a:off x="457200" y="6053328"/>
            <a:ext cx="11247120" cy="320040"/>
          </a:xfrm>
          <a:prstGeom prst="rect">
            <a:avLst/>
          </a:prstGeom>
          <a:noFill/>
          <a:effectLst/>
        </p:spPr>
        <p:txBody>
          <a:bodyPr wrap="square">
            <a:noAutofit/>
          </a:bodyPr>
          <a:lstStyle/>
          <a:p>
            <a:pPr eaLnBrk="1" hangingPunct="1"/>
            <a:r>
              <a:rPr sz="900" b="0" lang="ja-JP" altLang="en-US">
                <a:solidFill>
                  <a:srgbClr val="686868"/>
                </a:solidFill>
                <a:latin typeface="Century Gothic"/>
                <a:ea typeface="Yu Gothic"/>
              </a:rPr>
              <a:t>（出所）特許データベース Cyber patent desc（2026-06-14）</a:t>
            </a:r>
          </a:p>
        </p:txBody>
      </p:sp>
      <p:sp>
        <p:nvSpPr>
          <p:cNvPr id="12" name="TextBox 11"/>
          <p:cNvSpPr txBox="1"/>
          <p:nvPr/>
        </p:nvSpPr>
        <p:spPr>
          <a:xfrm>
            <a:off x="11384280" y="6419088"/>
            <a:ext cx="502920" cy="228600"/>
          </a:xfrm>
          <a:prstGeom prst="rect">
            <a:avLst/>
          </a:prstGeom>
          <a:noFill/>
          <a:effectLst/>
        </p:spPr>
        <p:txBody>
          <a:bodyPr wrap="none">
            <a:spAutoFit/>
          </a:bodyPr>
          <a:lstStyle/>
          <a:p>
            <a:pPr eaLnBrk="1" hangingPunct="1" algn="r"/>
            <a:r>
              <a:rPr sz="1000" b="0" lang="ja-JP" altLang="en-US">
                <a:solidFill>
                  <a:srgbClr val="686868"/>
                </a:solidFill>
                <a:latin typeface="Century Gothic"/>
                <a:ea typeface="Yu Gothic"/>
              </a:rPr>
              <a:t>14</a:t>
            </a:r>
          </a:p>
        </p:txBody>
      </p:sp>
      <p:cxnSp>
        <p:nvCxnSpPr>
          <p:cNvPr id="13" name="Connector 12"/>
          <p:cNvCxnSpPr/>
          <p:nvPr/>
        </p:nvCxnSpPr>
        <p:spPr>
          <a:xfrm>
            <a:off x="11859767" y="128016"/>
            <a:ext cx="201169" cy="0"/>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14" name="Connector 13"/>
          <p:cNvCxnSpPr/>
          <p:nvPr/>
        </p:nvCxnSpPr>
        <p:spPr>
          <a:xfrm>
            <a:off x="12060936" y="128016"/>
            <a:ext cx="0" cy="201168"/>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15" name="Connector 14"/>
          <p:cNvCxnSpPr/>
          <p:nvPr/>
        </p:nvCxnSpPr>
        <p:spPr>
          <a:xfrm>
            <a:off x="128016" y="6729984"/>
            <a:ext cx="201168" cy="0"/>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a:off x="128016" y="6528816"/>
            <a:ext cx="0" cy="201168"/>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22960" y="521208"/>
            <a:ext cx="365760" cy="1270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22960" y="630936"/>
            <a:ext cx="10725912" cy="713232"/>
          </a:xfrm>
          <a:prstGeom prst="rect">
            <a:avLst/>
          </a:prstGeom>
          <a:noFill/>
          <a:effectLst/>
        </p:spPr>
        <p:txBody>
          <a:bodyPr wrap="square">
            <a:noAutofit/>
          </a:bodyPr>
          <a:lstStyle/>
          <a:p>
            <a:pPr eaLnBrk="1" hangingPunct="1">
              <a:lnSpc>
                <a:spcPct val="118000"/>
              </a:lnSpc>
            </a:pPr>
            <a:r>
              <a:rPr b="1" sz="2700" lang="ja-JP" altLang="en-US">
                <a:solidFill>
                  <a:srgbClr val="111111"/>
                </a:solidFill>
                <a:latin typeface="Yu Mincho"/>
                <a:ea typeface="Yu Mincho"/>
              </a:rPr>
              <a:t>対象樹脂はポリオレフィン系が中心、PC・スチレン系が続く</a:t>
            </a:r>
          </a:p>
        </p:txBody>
      </p:sp>
      <p:sp>
        <p:nvSpPr>
          <p:cNvPr id="4" name="Rectangle 3"/>
          <p:cNvSpPr/>
          <p:nvPr/>
        </p:nvSpPr>
        <p:spPr>
          <a:xfrm>
            <a:off x="822960" y="1399032"/>
            <a:ext cx="10725912" cy="822959"/>
          </a:xfrm>
          <a:prstGeom prst="rect">
            <a:avLst/>
          </a:prstGeom>
          <a:solidFill>
            <a:srgbClr val="F6F7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822960" y="1399032"/>
            <a:ext cx="36576" cy="822959"/>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60120" y="1472184"/>
            <a:ext cx="10451592" cy="676655"/>
          </a:xfrm>
          <a:prstGeom prst="rect">
            <a:avLst/>
          </a:prstGeom>
          <a:noFill/>
          <a:effectLst/>
        </p:spPr>
        <p:txBody>
          <a:bodyPr wrap="square">
            <a:noAutofit/>
          </a:bodyPr>
          <a:lstStyle/>
          <a:p>
            <a:pPr eaLnBrk="1" hangingPunct="1">
              <a:lnSpc>
                <a:spcPct val="150000"/>
              </a:lnSpc>
            </a:pPr>
            <a:r>
              <a:rPr sz="1500" b="1" lang="ja-JP" altLang="en-US">
                <a:solidFill>
                  <a:srgbClr val="C51212"/>
                </a:solidFill>
                <a:latin typeface="Century Gothic"/>
                <a:ea typeface="Yu Gothic"/>
              </a:rPr>
              <a:t>■ </a:t>
            </a:r>
            <a:r>
              <a:rPr sz="1500" lang="ja-JP" altLang="en-US">
                <a:solidFill>
                  <a:srgbClr val="111111"/>
                </a:solidFill>
                <a:latin typeface="Century Gothic"/>
                <a:ea typeface="Yu Gothic"/>
              </a:rPr>
              <a:t>汎用樹脂(PO系)が量の中心。</a:t>
            </a:r>
            <a:r>
              <a:rPr b="1" sz="1500" lang="ja-JP" altLang="en-US">
                <a:solidFill>
                  <a:srgbClr val="111111"/>
                </a:solidFill>
                <a:latin typeface="Century Gothic"/>
                <a:ea typeface="Yu Gothic"/>
              </a:rPr>
              <a:t>容器包装・中空成形</a:t>
            </a:r>
            <a:r>
              <a:rPr sz="1500" lang="ja-JP" altLang="en-US">
                <a:solidFill>
                  <a:srgbClr val="111111"/>
                </a:solidFill>
                <a:latin typeface="Century Gothic"/>
                <a:ea typeface="Yu Gothic"/>
              </a:rPr>
              <a:t>など大量消費財の再生材化が母集団を押し上げている。</a:t>
            </a:r>
          </a:p>
        </p:txBody>
      </p:sp>
      <p:graphicFrame>
        <p:nvGraphicFramePr>
          <p:cNvPr id="7" name="Table 6"/>
          <p:cNvGraphicFramePr>
            <a:graphicFrameLocks noGrp="1"/>
          </p:cNvGraphicFramePr>
          <p:nvPr/>
        </p:nvGraphicFramePr>
        <p:xfrm>
          <a:off x="457200" y="2313432"/>
          <a:ext cx="11247120" cy="3200400"/>
        </p:xfrm>
        <a:graphic>
          <a:graphicData uri="http://schemas.openxmlformats.org/drawingml/2006/table">
            <a:tbl>
              <a:tblPr firstRow="1" bandRow="1">
                <a:tableStyleId>{5C22544A-7EE6-4342-B048-85BDC9FD1C3A}</a:tableStyleId>
              </a:tblPr>
              <a:tblGrid>
                <a:gridCol w="3474720"/>
                <a:gridCol w="2926080"/>
                <a:gridCol w="4846320"/>
              </a:tblGrid>
              <a:tr h="457200">
                <a:tc>
                  <a:txBody>
                    <a:bodyPr/>
                    <a:lstStyle/>
                    <a:p>
                      <a:pPr eaLnBrk="1" hangingPunct="1"/>
                      <a:r>
                        <a:rPr sz="1200" b="1" lang="ja-JP" altLang="en-US">
                          <a:solidFill>
                            <a:srgbClr val="FFFFFF"/>
                          </a:solidFill>
                          <a:latin typeface="Century Gothic"/>
                          <a:ea typeface="Yu Gothic"/>
                        </a:rPr>
                        <a:t>技術分類（対象樹脂）</a:t>
                      </a:r>
                    </a:p>
                  </a:txBody>
                  <a:tcPr>
                    <a:solidFill>
                      <a:srgbClr val="111111"/>
                    </a:solidFill>
                  </a:tcPr>
                </a:tc>
                <a:tc>
                  <a:txBody>
                    <a:bodyPr/>
                    <a:lstStyle/>
                    <a:p>
                      <a:pPr eaLnBrk="1" hangingPunct="1"/>
                      <a:r>
                        <a:rPr sz="1200" b="1" lang="ja-JP" altLang="en-US">
                          <a:solidFill>
                            <a:srgbClr val="FFFFFF"/>
                          </a:solidFill>
                          <a:latin typeface="Century Gothic"/>
                          <a:ea typeface="Yu Gothic"/>
                        </a:rPr>
                        <a:t>件数の傾向</a:t>
                      </a:r>
                    </a:p>
                  </a:txBody>
                  <a:tcPr>
                    <a:solidFill>
                      <a:srgbClr val="111111"/>
                    </a:solidFill>
                  </a:tcPr>
                </a:tc>
                <a:tc>
                  <a:txBody>
                    <a:bodyPr/>
                    <a:lstStyle/>
                    <a:p>
                      <a:pPr eaLnBrk="1" hangingPunct="1"/>
                      <a:r>
                        <a:rPr sz="1200" b="1" lang="ja-JP" altLang="en-US">
                          <a:solidFill>
                            <a:srgbClr val="FFFFFF"/>
                          </a:solidFill>
                          <a:latin typeface="Century Gothic"/>
                          <a:ea typeface="Yu Gothic"/>
                        </a:rPr>
                        <a:t>主な解決手段の組合せ</a:t>
                      </a:r>
                    </a:p>
                  </a:txBody>
                  <a:tcPr>
                    <a:solidFill>
                      <a:srgbClr val="111111"/>
                    </a:solidFill>
                  </a:tcPr>
                </a:tc>
              </a:tr>
              <a:tr h="457200">
                <a:tc>
                  <a:txBody>
                    <a:bodyPr/>
                    <a:lstStyle/>
                    <a:p>
                      <a:pPr eaLnBrk="1" hangingPunct="1"/>
                      <a:r>
                        <a:rPr sz="1100" b="1" lang="ja-JP" altLang="en-US">
                          <a:solidFill>
                            <a:srgbClr val="C51212"/>
                          </a:solidFill>
                          <a:latin typeface="Century Gothic"/>
                          <a:ea typeface="Yu Gothic"/>
                        </a:rPr>
                        <a:t>ポリオレフィン系樹脂</a:t>
                      </a:r>
                    </a:p>
                  </a:txBody>
                  <a:tcPr>
                    <a:solidFill>
                      <a:srgbClr val="F6F7F8"/>
                    </a:solidFill>
                  </a:tcPr>
                </a:tc>
                <a:tc>
                  <a:txBody>
                    <a:bodyPr/>
                    <a:lstStyle/>
                    <a:p>
                      <a:pPr eaLnBrk="1" hangingPunct="1"/>
                      <a:r>
                        <a:rPr sz="1100" b="1" lang="ja-JP" altLang="en-US">
                          <a:solidFill>
                            <a:srgbClr val="111111"/>
                          </a:solidFill>
                          <a:latin typeface="Century Gothic"/>
                          <a:ea typeface="Yu Gothic"/>
                        </a:rPr>
                        <a:t>最多（単独58＋複合多数）</a:t>
                      </a:r>
                    </a:p>
                  </a:txBody>
                  <a:tcPr>
                    <a:solidFill>
                      <a:srgbClr val="F6F7F8"/>
                    </a:solidFill>
                  </a:tcPr>
                </a:tc>
                <a:tc>
                  <a:txBody>
                    <a:bodyPr/>
                    <a:lstStyle/>
                    <a:p>
                      <a:pPr eaLnBrk="1" hangingPunct="1"/>
                      <a:r>
                        <a:rPr sz="1100" b="1" lang="ja-JP" altLang="en-US">
                          <a:solidFill>
                            <a:srgbClr val="111111"/>
                          </a:solidFill>
                          <a:latin typeface="Century Gothic"/>
                          <a:ea typeface="Yu Gothic"/>
                        </a:rPr>
                        <a:t>バージン材ブレンド／相溶化／溶融混練</a:t>
                      </a:r>
                    </a:p>
                  </a:txBody>
                  <a:tcPr>
                    <a:solidFill>
                      <a:srgbClr val="F6F7F8"/>
                    </a:solidFill>
                  </a:tcPr>
                </a:tc>
              </a:tr>
              <a:tr h="457200">
                <a:tc>
                  <a:txBody>
                    <a:bodyPr/>
                    <a:lstStyle/>
                    <a:p>
                      <a:pPr eaLnBrk="1" hangingPunct="1"/>
                      <a:r>
                        <a:rPr sz="1100" b="0" lang="ja-JP" altLang="en-US">
                          <a:solidFill>
                            <a:srgbClr val="111111"/>
                          </a:solidFill>
                          <a:latin typeface="Century Gothic"/>
                          <a:ea typeface="Yu Gothic"/>
                        </a:rPr>
                        <a:t>汎用・その他熱可塑性樹脂</a:t>
                      </a:r>
                    </a:p>
                  </a:txBody>
                  <a:tcPr>
                    <a:solidFill>
                      <a:srgbClr val="F1F2F3"/>
                    </a:solidFill>
                  </a:tcPr>
                </a:tc>
                <a:tc>
                  <a:txBody>
                    <a:bodyPr/>
                    <a:lstStyle/>
                    <a:p>
                      <a:pPr eaLnBrk="1" hangingPunct="1"/>
                      <a:r>
                        <a:rPr sz="1100" b="0" lang="ja-JP" altLang="en-US">
                          <a:solidFill>
                            <a:srgbClr val="111111"/>
                          </a:solidFill>
                          <a:latin typeface="Century Gothic"/>
                          <a:ea typeface="Yu Gothic"/>
                        </a:rPr>
                        <a:t>多い（34＋複合）</a:t>
                      </a:r>
                    </a:p>
                  </a:txBody>
                  <a:tcPr>
                    <a:solidFill>
                      <a:srgbClr val="F1F2F3"/>
                    </a:solidFill>
                  </a:tcPr>
                </a:tc>
                <a:tc>
                  <a:txBody>
                    <a:bodyPr/>
                    <a:lstStyle/>
                    <a:p>
                      <a:pPr eaLnBrk="1" hangingPunct="1"/>
                      <a:r>
                        <a:rPr sz="1100" b="0" lang="ja-JP" altLang="en-US">
                          <a:solidFill>
                            <a:srgbClr val="111111"/>
                          </a:solidFill>
                          <a:latin typeface="Century Gothic"/>
                          <a:ea typeface="Yu Gothic"/>
                        </a:rPr>
                        <a:t>配合設計／プロセス制御</a:t>
                      </a:r>
                    </a:p>
                  </a:txBody>
                  <a:tcPr>
                    <a:solidFill>
                      <a:srgbClr val="F1F2F3"/>
                    </a:solidFill>
                  </a:tcPr>
                </a:tc>
              </a:tr>
              <a:tr h="457200">
                <a:tc>
                  <a:txBody>
                    <a:bodyPr/>
                    <a:lstStyle/>
                    <a:p>
                      <a:pPr eaLnBrk="1" hangingPunct="1"/>
                      <a:r>
                        <a:rPr sz="1100" b="0" lang="ja-JP" altLang="en-US">
                          <a:solidFill>
                            <a:srgbClr val="111111"/>
                          </a:solidFill>
                          <a:latin typeface="Century Gothic"/>
                          <a:ea typeface="Yu Gothic"/>
                        </a:rPr>
                        <a:t>ポリカーボネート系樹脂</a:t>
                      </a:r>
                    </a:p>
                  </a:txBody>
                  <a:tcPr/>
                </a:tc>
                <a:tc>
                  <a:txBody>
                    <a:bodyPr/>
                    <a:lstStyle/>
                    <a:p>
                      <a:pPr eaLnBrk="1" hangingPunct="1"/>
                      <a:r>
                        <a:rPr sz="1100" b="0" lang="ja-JP" altLang="en-US">
                          <a:solidFill>
                            <a:srgbClr val="111111"/>
                          </a:solidFill>
                          <a:latin typeface="Century Gothic"/>
                          <a:ea typeface="Yu Gothic"/>
                        </a:rPr>
                        <a:t>中位（22＋複合）</a:t>
                      </a:r>
                    </a:p>
                  </a:txBody>
                  <a:tcPr/>
                </a:tc>
                <a:tc>
                  <a:txBody>
                    <a:bodyPr/>
                    <a:lstStyle/>
                    <a:p>
                      <a:pPr eaLnBrk="1" hangingPunct="1"/>
                      <a:r>
                        <a:rPr sz="1100" b="0" lang="ja-JP" altLang="en-US">
                          <a:solidFill>
                            <a:srgbClr val="111111"/>
                          </a:solidFill>
                          <a:latin typeface="Century Gothic"/>
                          <a:ea typeface="Yu Gothic"/>
                        </a:rPr>
                        <a:t>難燃剤配合／強化材充填／ポリマー構造規定</a:t>
                      </a:r>
                    </a:p>
                  </a:txBody>
                  <a:tcPr/>
                </a:tc>
              </a:tr>
              <a:tr h="457200">
                <a:tc>
                  <a:txBody>
                    <a:bodyPr/>
                    <a:lstStyle/>
                    <a:p>
                      <a:pPr eaLnBrk="1" hangingPunct="1"/>
                      <a:r>
                        <a:rPr sz="1100" b="0" lang="ja-JP" altLang="en-US">
                          <a:solidFill>
                            <a:srgbClr val="111111"/>
                          </a:solidFill>
                          <a:latin typeface="Century Gothic"/>
                          <a:ea typeface="Yu Gothic"/>
                        </a:rPr>
                        <a:t>スチレン系樹脂（ABS等）</a:t>
                      </a:r>
                    </a:p>
                  </a:txBody>
                  <a:tcPr>
                    <a:solidFill>
                      <a:srgbClr val="F1F2F3"/>
                    </a:solidFill>
                  </a:tcPr>
                </a:tc>
                <a:tc>
                  <a:txBody>
                    <a:bodyPr/>
                    <a:lstStyle/>
                    <a:p>
                      <a:pPr eaLnBrk="1" hangingPunct="1"/>
                      <a:r>
                        <a:rPr sz="1100" b="0" lang="ja-JP" altLang="en-US">
                          <a:solidFill>
                            <a:srgbClr val="111111"/>
                          </a:solidFill>
                          <a:latin typeface="Century Gothic"/>
                          <a:ea typeface="Yu Gothic"/>
                        </a:rPr>
                        <a:t>中位（20＋複合）</a:t>
                      </a:r>
                    </a:p>
                  </a:txBody>
                  <a:tcPr>
                    <a:solidFill>
                      <a:srgbClr val="F1F2F3"/>
                    </a:solidFill>
                  </a:tcPr>
                </a:tc>
                <a:tc>
                  <a:txBody>
                    <a:bodyPr/>
                    <a:lstStyle/>
                    <a:p>
                      <a:pPr eaLnBrk="1" hangingPunct="1"/>
                      <a:r>
                        <a:rPr sz="1100" b="0" lang="ja-JP" altLang="en-US">
                          <a:solidFill>
                            <a:srgbClr val="111111"/>
                          </a:solidFill>
                          <a:latin typeface="Century Gothic"/>
                          <a:ea typeface="Yu Gothic"/>
                        </a:rPr>
                        <a:t>相溶化剤／耐熱樹脂ブレンド</a:t>
                      </a:r>
                    </a:p>
                  </a:txBody>
                  <a:tcPr>
                    <a:solidFill>
                      <a:srgbClr val="F1F2F3"/>
                    </a:solidFill>
                  </a:tcPr>
                </a:tc>
              </a:tr>
              <a:tr h="457200">
                <a:tc>
                  <a:txBody>
                    <a:bodyPr/>
                    <a:lstStyle/>
                    <a:p>
                      <a:pPr eaLnBrk="1" hangingPunct="1"/>
                      <a:r>
                        <a:rPr sz="1100" b="0" lang="ja-JP" altLang="en-US">
                          <a:solidFill>
                            <a:srgbClr val="111111"/>
                          </a:solidFill>
                          <a:latin typeface="Century Gothic"/>
                          <a:ea typeface="Yu Gothic"/>
                        </a:rPr>
                        <a:t>熱硬化性樹脂</a:t>
                      </a:r>
                    </a:p>
                  </a:txBody>
                  <a:tcPr/>
                </a:tc>
                <a:tc>
                  <a:txBody>
                    <a:bodyPr/>
                    <a:lstStyle/>
                    <a:p>
                      <a:pPr eaLnBrk="1" hangingPunct="1"/>
                      <a:r>
                        <a:rPr sz="1100" b="0" lang="ja-JP" altLang="en-US">
                          <a:solidFill>
                            <a:srgbClr val="111111"/>
                          </a:solidFill>
                          <a:latin typeface="Century Gothic"/>
                          <a:ea typeface="Yu Gothic"/>
                        </a:rPr>
                        <a:t>少数（17）</a:t>
                      </a:r>
                    </a:p>
                  </a:txBody>
                  <a:tcPr/>
                </a:tc>
                <a:tc>
                  <a:txBody>
                    <a:bodyPr/>
                    <a:lstStyle/>
                    <a:p>
                      <a:pPr eaLnBrk="1" hangingPunct="1"/>
                      <a:r>
                        <a:rPr sz="1100" b="0" lang="ja-JP" altLang="en-US">
                          <a:solidFill>
                            <a:srgbClr val="111111"/>
                          </a:solidFill>
                          <a:latin typeface="Century Gothic"/>
                          <a:ea typeface="Yu Gothic"/>
                        </a:rPr>
                        <a:t>回収・選別／フィラー充填</a:t>
                      </a:r>
                    </a:p>
                  </a:txBody>
                  <a:tcPr/>
                </a:tc>
              </a:tr>
              <a:tr h="457200">
                <a:tc>
                  <a:txBody>
                    <a:bodyPr/>
                    <a:lstStyle/>
                    <a:p>
                      <a:pPr eaLnBrk="1" hangingPunct="1"/>
                      <a:r>
                        <a:rPr sz="1100" b="0" lang="ja-JP" altLang="en-US">
                          <a:solidFill>
                            <a:srgbClr val="111111"/>
                          </a:solidFill>
                          <a:latin typeface="Century Gothic"/>
                          <a:ea typeface="Yu Gothic"/>
                        </a:rPr>
                        <a:t>アスファルト・特殊化学品</a:t>
                      </a:r>
                    </a:p>
                  </a:txBody>
                  <a:tcPr>
                    <a:solidFill>
                      <a:srgbClr val="F1F2F3"/>
                    </a:solidFill>
                  </a:tcPr>
                </a:tc>
                <a:tc>
                  <a:txBody>
                    <a:bodyPr/>
                    <a:lstStyle/>
                    <a:p>
                      <a:pPr eaLnBrk="1" hangingPunct="1"/>
                      <a:r>
                        <a:rPr sz="1100" b="0" lang="ja-JP" altLang="en-US">
                          <a:solidFill>
                            <a:srgbClr val="111111"/>
                          </a:solidFill>
                          <a:latin typeface="Century Gothic"/>
                          <a:ea typeface="Yu Gothic"/>
                        </a:rPr>
                        <a:t>少数（15）</a:t>
                      </a:r>
                    </a:p>
                  </a:txBody>
                  <a:tcPr>
                    <a:solidFill>
                      <a:srgbClr val="F1F2F3"/>
                    </a:solidFill>
                  </a:tcPr>
                </a:tc>
                <a:tc>
                  <a:txBody>
                    <a:bodyPr/>
                    <a:lstStyle/>
                    <a:p>
                      <a:pPr eaLnBrk="1" hangingPunct="1"/>
                      <a:r>
                        <a:rPr sz="1100" b="0" lang="ja-JP" altLang="en-US">
                          <a:solidFill>
                            <a:srgbClr val="111111"/>
                          </a:solidFill>
                          <a:latin typeface="Century Gothic"/>
                          <a:ea typeface="Yu Gothic"/>
                        </a:rPr>
                        <a:t>用途展開（舗装等）の外縁領域</a:t>
                      </a:r>
                    </a:p>
                  </a:txBody>
                  <a:tcPr>
                    <a:solidFill>
                      <a:srgbClr val="F1F2F3"/>
                    </a:solidFill>
                  </a:tcPr>
                </a:tc>
              </a:tr>
            </a:tbl>
          </a:graphicData>
        </a:graphic>
      </p:graphicFrame>
      <p:sp>
        <p:nvSpPr>
          <p:cNvPr id="8" name="Rectangle 7"/>
          <p:cNvSpPr/>
          <p:nvPr/>
        </p:nvSpPr>
        <p:spPr>
          <a:xfrm>
            <a:off x="7680960" y="2313432"/>
            <a:ext cx="4023360" cy="3493007"/>
          </a:xfrm>
          <a:prstGeom prst="rect">
            <a:avLst/>
          </a:prstGeom>
          <a:solidFill>
            <a:srgbClr val="F6F7F8"/>
          </a:solidFill>
          <a:ln w="9525">
            <a:solidFill>
              <a:srgbClr val="D8DA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790688" y="2386584"/>
            <a:ext cx="3803904" cy="3346703"/>
          </a:xfrm>
          <a:prstGeom prst="rect">
            <a:avLst/>
          </a:prstGeom>
          <a:noFill/>
          <a:effectLst/>
        </p:spPr>
        <p:txBody>
          <a:bodyPr wrap="square">
            <a:noAutofit/>
          </a:bodyPr>
          <a:lstStyle/>
          <a:p>
            <a:pPr eaLnBrk="1" hangingPunct="1">
              <a:lnSpc>
                <a:spcPct val="145000"/>
              </a:lnSpc>
              <a:spcAft>
                <a:spcPts val="600"/>
              </a:spcAft>
            </a:pPr>
            <a:r>
              <a:rPr sz="1200" lang="ja-JP" altLang="en-US">
                <a:solidFill>
                  <a:srgbClr val="111111"/>
                </a:solidFill>
                <a:latin typeface="Century Gothic"/>
                <a:ea typeface="Yu Gothic"/>
              </a:rPr>
              <a:t>■ </a:t>
            </a:r>
            <a:r>
              <a:rPr b="1" sz="1200" lang="ja-JP" altLang="en-US">
                <a:solidFill>
                  <a:srgbClr val="111111"/>
                </a:solidFill>
                <a:latin typeface="Century Gothic"/>
                <a:ea typeface="Yu Gothic"/>
              </a:rPr>
              <a:t>PO系が主役化</a:t>
            </a:r>
            <a:r>
              <a:rPr sz="1200" lang="ja-JP" altLang="en-US">
                <a:solidFill>
                  <a:srgbClr val="111111"/>
                </a:solidFill>
                <a:latin typeface="Century Gothic"/>
                <a:ea typeface="Yu Gothic"/>
              </a:rPr>
              <a:t>：包装・中空成形のPCR配合が量を牽引</a:t>
            </a:r>
          </a:p>
          <a:p>
            <a:pPr eaLnBrk="1" hangingPunct="1">
              <a:lnSpc>
                <a:spcPct val="145000"/>
              </a:lnSpc>
              <a:spcAft>
                <a:spcPts val="600"/>
              </a:spcAft>
            </a:pPr>
            <a:r>
              <a:rPr sz="1200" lang="ja-JP" altLang="en-US">
                <a:solidFill>
                  <a:srgbClr val="111111"/>
                </a:solidFill>
                <a:latin typeface="Century Gothic"/>
                <a:ea typeface="Yu Gothic"/>
              </a:rPr>
              <a:t>■ </a:t>
            </a:r>
            <a:r>
              <a:rPr b="1" sz="1200" lang="ja-JP" altLang="en-US">
                <a:solidFill>
                  <a:srgbClr val="111111"/>
                </a:solidFill>
                <a:latin typeface="Century Gothic"/>
                <a:ea typeface="Yu Gothic"/>
              </a:rPr>
              <a:t>PC・スチレン系</a:t>
            </a:r>
            <a:r>
              <a:rPr sz="1200" lang="ja-JP" altLang="en-US">
                <a:solidFill>
                  <a:srgbClr val="111111"/>
                </a:solidFill>
                <a:latin typeface="Century Gothic"/>
                <a:ea typeface="Yu Gothic"/>
              </a:rPr>
              <a:t>：難燃・耐熱という付加価値で旧来からの強み領域</a:t>
            </a:r>
          </a:p>
          <a:p>
            <a:pPr eaLnBrk="1" hangingPunct="1">
              <a:lnSpc>
                <a:spcPct val="145000"/>
              </a:lnSpc>
              <a:spcAft>
                <a:spcPts val="600"/>
              </a:spcAft>
            </a:pPr>
            <a:r>
              <a:rPr sz="1200" lang="ja-JP" altLang="en-US">
                <a:solidFill>
                  <a:srgbClr val="111111"/>
                </a:solidFill>
                <a:latin typeface="Century Gothic"/>
                <a:ea typeface="Yu Gothic"/>
              </a:rPr>
              <a:t>■ </a:t>
            </a:r>
            <a:r>
              <a:rPr b="1" sz="1200" lang="ja-JP" altLang="en-US">
                <a:solidFill>
                  <a:srgbClr val="111111"/>
                </a:solidFill>
                <a:latin typeface="Century Gothic"/>
                <a:ea typeface="Yu Gothic"/>
              </a:rPr>
              <a:t>外縁の特殊化学品</a:t>
            </a:r>
            <a:r>
              <a:rPr sz="1200" lang="ja-JP" altLang="en-US">
                <a:solidFill>
                  <a:srgbClr val="111111"/>
                </a:solidFill>
                <a:latin typeface="Century Gothic"/>
                <a:ea typeface="Yu Gothic"/>
              </a:rPr>
              <a:t>：舗装・建材など非樹脂用途への染み出し</a:t>
            </a:r>
          </a:p>
        </p:txBody>
      </p:sp>
      <p:sp>
        <p:nvSpPr>
          <p:cNvPr id="10" name="TextBox 9"/>
          <p:cNvSpPr txBox="1"/>
          <p:nvPr/>
        </p:nvSpPr>
        <p:spPr>
          <a:xfrm>
            <a:off x="457200" y="6053328"/>
            <a:ext cx="11247120" cy="320040"/>
          </a:xfrm>
          <a:prstGeom prst="rect">
            <a:avLst/>
          </a:prstGeom>
          <a:noFill/>
          <a:effectLst/>
        </p:spPr>
        <p:txBody>
          <a:bodyPr wrap="square">
            <a:noAutofit/>
          </a:bodyPr>
          <a:lstStyle/>
          <a:p>
            <a:pPr eaLnBrk="1" hangingPunct="1"/>
            <a:r>
              <a:rPr sz="900" b="0" lang="ja-JP" altLang="en-US">
                <a:solidFill>
                  <a:srgbClr val="686868"/>
                </a:solidFill>
                <a:latin typeface="Century Gothic"/>
                <a:ea typeface="Yu Gothic"/>
              </a:rPr>
              <a:t>（出所）特許データベース Cyber patent desc（2026-06-14）</a:t>
            </a:r>
          </a:p>
        </p:txBody>
      </p:sp>
      <p:sp>
        <p:nvSpPr>
          <p:cNvPr id="11" name="TextBox 10"/>
          <p:cNvSpPr txBox="1"/>
          <p:nvPr/>
        </p:nvSpPr>
        <p:spPr>
          <a:xfrm>
            <a:off x="11384280" y="6419088"/>
            <a:ext cx="502920" cy="228600"/>
          </a:xfrm>
          <a:prstGeom prst="rect">
            <a:avLst/>
          </a:prstGeom>
          <a:noFill/>
          <a:effectLst/>
        </p:spPr>
        <p:txBody>
          <a:bodyPr wrap="none">
            <a:spAutoFit/>
          </a:bodyPr>
          <a:lstStyle/>
          <a:p>
            <a:pPr eaLnBrk="1" hangingPunct="1" algn="r"/>
            <a:r>
              <a:rPr sz="1000" b="0" lang="ja-JP" altLang="en-US">
                <a:solidFill>
                  <a:srgbClr val="686868"/>
                </a:solidFill>
                <a:latin typeface="Century Gothic"/>
                <a:ea typeface="Yu Gothic"/>
              </a:rPr>
              <a:t>15</a:t>
            </a:r>
          </a:p>
        </p:txBody>
      </p:sp>
      <p:cxnSp>
        <p:nvCxnSpPr>
          <p:cNvPr id="12" name="Connector 11"/>
          <p:cNvCxnSpPr/>
          <p:nvPr/>
        </p:nvCxnSpPr>
        <p:spPr>
          <a:xfrm>
            <a:off x="11859767" y="128016"/>
            <a:ext cx="201169" cy="0"/>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13" name="Connector 12"/>
          <p:cNvCxnSpPr/>
          <p:nvPr/>
        </p:nvCxnSpPr>
        <p:spPr>
          <a:xfrm>
            <a:off x="12060936" y="128016"/>
            <a:ext cx="0" cy="201168"/>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14" name="Connector 13"/>
          <p:cNvCxnSpPr/>
          <p:nvPr/>
        </p:nvCxnSpPr>
        <p:spPr>
          <a:xfrm>
            <a:off x="128016" y="6729984"/>
            <a:ext cx="201168" cy="0"/>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15" name="Connector 14"/>
          <p:cNvCxnSpPr/>
          <p:nvPr/>
        </p:nvCxnSpPr>
        <p:spPr>
          <a:xfrm>
            <a:off x="128016" y="6528816"/>
            <a:ext cx="0" cy="201168"/>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22960" y="521208"/>
            <a:ext cx="365760" cy="1270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22960" y="630936"/>
            <a:ext cx="10725912" cy="256032"/>
          </a:xfrm>
          <a:prstGeom prst="rect">
            <a:avLst/>
          </a:prstGeom>
          <a:noFill/>
          <a:effectLst/>
        </p:spPr>
        <p:txBody>
          <a:bodyPr wrap="none">
            <a:spAutoFit/>
          </a:bodyPr>
          <a:lstStyle/>
          <a:p>
            <a:pPr eaLnBrk="1" hangingPunct="1"/>
            <a:r>
              <a:rPr sz="1000" b="1" lang="ja-JP" altLang="en-US">
                <a:solidFill>
                  <a:srgbClr val="C51212"/>
                </a:solidFill>
                <a:latin typeface="Yu Mincho"/>
                <a:ea typeface="Yu Mincho"/>
              </a:rPr>
              <a:t>考察</a:t>
            </a:r>
          </a:p>
        </p:txBody>
      </p:sp>
      <p:sp>
        <p:nvSpPr>
          <p:cNvPr id="4" name="TextBox 3"/>
          <p:cNvSpPr txBox="1"/>
          <p:nvPr/>
        </p:nvSpPr>
        <p:spPr>
          <a:xfrm>
            <a:off x="822960" y="905256"/>
            <a:ext cx="10725912" cy="841248"/>
          </a:xfrm>
          <a:prstGeom prst="rect">
            <a:avLst/>
          </a:prstGeom>
          <a:noFill/>
          <a:effectLst/>
        </p:spPr>
        <p:txBody>
          <a:bodyPr wrap="square">
            <a:noAutofit/>
          </a:bodyPr>
          <a:lstStyle/>
          <a:p>
            <a:pPr eaLnBrk="1" hangingPunct="1">
              <a:lnSpc>
                <a:spcPct val="118000"/>
              </a:lnSpc>
            </a:pPr>
            <a:r>
              <a:rPr b="1" sz="2300" lang="ja-JP" altLang="en-US">
                <a:solidFill>
                  <a:srgbClr val="111111"/>
                </a:solidFill>
                <a:latin typeface="Yu Mincho"/>
                <a:ea typeface="Yu Mincho"/>
              </a:rPr>
              <a:t>技術構造が語るのは『環境訴求のコモディティ化と、物性両立への競争集中』</a:t>
            </a:r>
          </a:p>
        </p:txBody>
      </p:sp>
      <p:sp>
        <p:nvSpPr>
          <p:cNvPr id="5" name="Rectangle 4"/>
          <p:cNvSpPr/>
          <p:nvPr/>
        </p:nvSpPr>
        <p:spPr>
          <a:xfrm>
            <a:off x="822960" y="1801368"/>
            <a:ext cx="10725912" cy="822959"/>
          </a:xfrm>
          <a:prstGeom prst="rect">
            <a:avLst/>
          </a:prstGeom>
          <a:solidFill>
            <a:srgbClr val="F6F7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822960" y="1801368"/>
            <a:ext cx="36576" cy="822959"/>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960120" y="1874520"/>
            <a:ext cx="10451592" cy="676655"/>
          </a:xfrm>
          <a:prstGeom prst="rect">
            <a:avLst/>
          </a:prstGeom>
          <a:noFill/>
          <a:effectLst/>
        </p:spPr>
        <p:txBody>
          <a:bodyPr wrap="square">
            <a:noAutofit/>
          </a:bodyPr>
          <a:lstStyle/>
          <a:p>
            <a:pPr eaLnBrk="1" hangingPunct="1">
              <a:lnSpc>
                <a:spcPct val="150000"/>
              </a:lnSpc>
            </a:pPr>
            <a:r>
              <a:rPr sz="1500" b="1" lang="ja-JP" altLang="en-US">
                <a:solidFill>
                  <a:srgbClr val="C51212"/>
                </a:solidFill>
                <a:latin typeface="Century Gothic"/>
                <a:ea typeface="Yu Gothic"/>
              </a:rPr>
              <a:t>■ </a:t>
            </a:r>
            <a:r>
              <a:rPr sz="1500" lang="ja-JP" altLang="en-US">
                <a:solidFill>
                  <a:srgbClr val="111111"/>
                </a:solidFill>
                <a:latin typeface="Century Gothic"/>
                <a:ea typeface="Yu Gothic"/>
              </a:rPr>
              <a:t>環境対応は差別化要因から参加要件へ。勝負どころは再生材特有の品質ばらつきを抑える配合・プロセス技術。</a:t>
            </a:r>
          </a:p>
        </p:txBody>
      </p:sp>
      <p:sp>
        <p:nvSpPr>
          <p:cNvPr id="8" name="Rectangle 7"/>
          <p:cNvSpPr/>
          <p:nvPr/>
        </p:nvSpPr>
        <p:spPr>
          <a:xfrm>
            <a:off x="822960" y="2715768"/>
            <a:ext cx="36576" cy="729234"/>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87552" y="2715768"/>
            <a:ext cx="2194560" cy="274320"/>
          </a:xfrm>
          <a:prstGeom prst="rect">
            <a:avLst/>
          </a:prstGeom>
          <a:noFill/>
          <a:effectLst/>
        </p:spPr>
        <p:txBody>
          <a:bodyPr wrap="none">
            <a:spAutoFit/>
          </a:bodyPr>
          <a:lstStyle/>
          <a:p>
            <a:pPr eaLnBrk="1" hangingPunct="1"/>
            <a:r>
              <a:rPr sz="1100" b="1" lang="ja-JP" altLang="en-US">
                <a:solidFill>
                  <a:srgbClr val="C51212"/>
                </a:solidFill>
                <a:latin typeface="Century Gothic"/>
                <a:ea typeface="Yu Gothic"/>
              </a:rPr>
              <a:t>観察</a:t>
            </a:r>
          </a:p>
        </p:txBody>
      </p:sp>
      <p:sp>
        <p:nvSpPr>
          <p:cNvPr id="10" name="TextBox 9"/>
          <p:cNvSpPr txBox="1"/>
          <p:nvPr/>
        </p:nvSpPr>
        <p:spPr>
          <a:xfrm>
            <a:off x="987552" y="2990088"/>
            <a:ext cx="10561320" cy="436626"/>
          </a:xfrm>
          <a:prstGeom prst="rect">
            <a:avLst/>
          </a:prstGeom>
          <a:noFill/>
          <a:effectLst/>
        </p:spPr>
        <p:txBody>
          <a:bodyPr wrap="square">
            <a:noAutofit/>
          </a:bodyPr>
          <a:lstStyle/>
          <a:p>
            <a:pPr eaLnBrk="1" hangingPunct="1">
              <a:lnSpc>
                <a:spcPct val="140000"/>
              </a:lnSpc>
            </a:pPr>
            <a:r>
              <a:rPr b="0" sz="1300" lang="ja-JP" altLang="en-US">
                <a:solidFill>
                  <a:srgbClr val="111111"/>
                </a:solidFill>
                <a:latin typeface="Century Gothic"/>
                <a:ea typeface="Yu Gothic"/>
              </a:rPr>
              <a:t>課題分類では環境対応・リサイクル性向上が突出（単独79＋多数の複合）するが、その多くが成形性・機械特性・組成最適化と組み合わさる。解決手段は溶融混練・プロセス制御と回収・選別・異物除去が二大手段で、相溶化剤・バージン材ブレンドが続く。</a:t>
            </a:r>
          </a:p>
        </p:txBody>
      </p:sp>
      <p:sp>
        <p:nvSpPr>
          <p:cNvPr id="11" name="Rectangle 10"/>
          <p:cNvSpPr/>
          <p:nvPr/>
        </p:nvSpPr>
        <p:spPr>
          <a:xfrm>
            <a:off x="822960" y="3609594"/>
            <a:ext cx="36576" cy="729234"/>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987552" y="3609594"/>
            <a:ext cx="2194560" cy="274320"/>
          </a:xfrm>
          <a:prstGeom prst="rect">
            <a:avLst/>
          </a:prstGeom>
          <a:noFill/>
          <a:effectLst/>
        </p:spPr>
        <p:txBody>
          <a:bodyPr wrap="none">
            <a:spAutoFit/>
          </a:bodyPr>
          <a:lstStyle/>
          <a:p>
            <a:pPr eaLnBrk="1" hangingPunct="1"/>
            <a:r>
              <a:rPr sz="1100" b="1" lang="ja-JP" altLang="en-US">
                <a:solidFill>
                  <a:srgbClr val="C51212"/>
                </a:solidFill>
                <a:latin typeface="Century Gothic"/>
                <a:ea typeface="Yu Gothic"/>
              </a:rPr>
              <a:t>解釈</a:t>
            </a:r>
          </a:p>
        </p:txBody>
      </p:sp>
      <p:sp>
        <p:nvSpPr>
          <p:cNvPr id="13" name="TextBox 12"/>
          <p:cNvSpPr txBox="1"/>
          <p:nvPr/>
        </p:nvSpPr>
        <p:spPr>
          <a:xfrm>
            <a:off x="987552" y="3883914"/>
            <a:ext cx="10561320" cy="436626"/>
          </a:xfrm>
          <a:prstGeom prst="rect">
            <a:avLst/>
          </a:prstGeom>
          <a:noFill/>
          <a:effectLst/>
        </p:spPr>
        <p:txBody>
          <a:bodyPr wrap="square">
            <a:noAutofit/>
          </a:bodyPr>
          <a:lstStyle/>
          <a:p>
            <a:pPr eaLnBrk="1" hangingPunct="1">
              <a:lnSpc>
                <a:spcPct val="140000"/>
              </a:lnSpc>
            </a:pPr>
            <a:r>
              <a:rPr b="0" sz="1300" lang="ja-JP" altLang="en-US">
                <a:solidFill>
                  <a:srgbClr val="111111"/>
                </a:solidFill>
                <a:latin typeface="Century Gothic"/>
                <a:ea typeface="Yu Gothic"/>
              </a:rPr>
              <a:t>『環境対応』はもはや単独で立つテーマではなく前提条件化している。再生材は組成や不純物が不均一なため、回収・選別で素性を整え、溶融混練と相溶化で物性を回復させる――この一連の『品質安定化技術』こそが本母集団の技術的本丸である。</a:t>
            </a:r>
          </a:p>
        </p:txBody>
      </p:sp>
      <p:sp>
        <p:nvSpPr>
          <p:cNvPr id="14" name="Rectangle 13"/>
          <p:cNvSpPr/>
          <p:nvPr/>
        </p:nvSpPr>
        <p:spPr>
          <a:xfrm>
            <a:off x="822960" y="4503420"/>
            <a:ext cx="36576" cy="729234"/>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987552" y="4503420"/>
            <a:ext cx="2194560" cy="274320"/>
          </a:xfrm>
          <a:prstGeom prst="rect">
            <a:avLst/>
          </a:prstGeom>
          <a:noFill/>
          <a:effectLst/>
        </p:spPr>
        <p:txBody>
          <a:bodyPr wrap="none">
            <a:spAutoFit/>
          </a:bodyPr>
          <a:lstStyle/>
          <a:p>
            <a:pPr eaLnBrk="1" hangingPunct="1"/>
            <a:r>
              <a:rPr sz="1100" b="1" lang="ja-JP" altLang="en-US">
                <a:solidFill>
                  <a:srgbClr val="C51212"/>
                </a:solidFill>
                <a:latin typeface="Century Gothic"/>
                <a:ea typeface="Yu Gothic"/>
              </a:rPr>
              <a:t>洞察</a:t>
            </a:r>
          </a:p>
        </p:txBody>
      </p:sp>
      <p:sp>
        <p:nvSpPr>
          <p:cNvPr id="16" name="TextBox 15"/>
          <p:cNvSpPr txBox="1"/>
          <p:nvPr/>
        </p:nvSpPr>
        <p:spPr>
          <a:xfrm>
            <a:off x="987552" y="4777740"/>
            <a:ext cx="10561320" cy="436626"/>
          </a:xfrm>
          <a:prstGeom prst="rect">
            <a:avLst/>
          </a:prstGeom>
          <a:noFill/>
          <a:effectLst/>
        </p:spPr>
        <p:txBody>
          <a:bodyPr wrap="square">
            <a:noAutofit/>
          </a:bodyPr>
          <a:lstStyle/>
          <a:p>
            <a:pPr eaLnBrk="1" hangingPunct="1">
              <a:lnSpc>
                <a:spcPct val="140000"/>
              </a:lnSpc>
            </a:pPr>
            <a:r>
              <a:rPr b="0" sz="1300" lang="ja-JP" altLang="en-US">
                <a:solidFill>
                  <a:srgbClr val="111111"/>
                </a:solidFill>
                <a:latin typeface="Century Gothic"/>
                <a:ea typeface="Yu Gothic"/>
              </a:rPr>
              <a:t>つまり競争は『再生材を使うか否か』ではなく『再生材で従来品と同等の機械強度・外観・成形性をどう担保するか』に移った。相溶化・異物除去・配合設計は模倣が難しいノウハウ領域で、ここに継続投資できる企業が用途展開で先行する。</a:t>
            </a:r>
          </a:p>
        </p:txBody>
      </p:sp>
      <p:sp>
        <p:nvSpPr>
          <p:cNvPr id="17" name="Rectangle 16"/>
          <p:cNvSpPr/>
          <p:nvPr/>
        </p:nvSpPr>
        <p:spPr>
          <a:xfrm>
            <a:off x="822960" y="5397246"/>
            <a:ext cx="36576" cy="729234"/>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987552" y="5397246"/>
            <a:ext cx="2194560" cy="274320"/>
          </a:xfrm>
          <a:prstGeom prst="rect">
            <a:avLst/>
          </a:prstGeom>
          <a:noFill/>
          <a:effectLst/>
        </p:spPr>
        <p:txBody>
          <a:bodyPr wrap="none">
            <a:spAutoFit/>
          </a:bodyPr>
          <a:lstStyle/>
          <a:p>
            <a:pPr eaLnBrk="1" hangingPunct="1"/>
            <a:r>
              <a:rPr sz="1100" b="1" lang="ja-JP" altLang="en-US">
                <a:solidFill>
                  <a:srgbClr val="C51212"/>
                </a:solidFill>
                <a:latin typeface="Century Gothic"/>
                <a:ea typeface="Yu Gothic"/>
              </a:rPr>
              <a:t>示唆</a:t>
            </a:r>
          </a:p>
        </p:txBody>
      </p:sp>
      <p:sp>
        <p:nvSpPr>
          <p:cNvPr id="19" name="TextBox 18"/>
          <p:cNvSpPr txBox="1"/>
          <p:nvPr/>
        </p:nvSpPr>
        <p:spPr>
          <a:xfrm>
            <a:off x="987552" y="5671566"/>
            <a:ext cx="10561320" cy="436626"/>
          </a:xfrm>
          <a:prstGeom prst="rect">
            <a:avLst/>
          </a:prstGeom>
          <a:noFill/>
          <a:effectLst/>
        </p:spPr>
        <p:txBody>
          <a:bodyPr wrap="square">
            <a:noAutofit/>
          </a:bodyPr>
          <a:lstStyle/>
          <a:p>
            <a:pPr eaLnBrk="1" hangingPunct="1">
              <a:lnSpc>
                <a:spcPct val="140000"/>
              </a:lnSpc>
            </a:pPr>
            <a:r>
              <a:rPr b="0" sz="1300" lang="ja-JP" altLang="en-US">
                <a:solidFill>
                  <a:srgbClr val="111111"/>
                </a:solidFill>
                <a:latin typeface="Century Gothic"/>
                <a:ea typeface="Yu Gothic"/>
              </a:rPr>
              <a:t>後発は環境訴求の出願では差別化できない。</a:t>
            </a:r>
            <a:r>
              <a:rPr b="1" sz="1300" lang="ja-JP" altLang="en-US">
                <a:solidFill>
                  <a:srgbClr val="111111"/>
                </a:solidFill>
                <a:latin typeface="Century Gothic"/>
                <a:ea typeface="Yu Gothic"/>
              </a:rPr>
              <a:t>相溶化剤・品質判別・異物除去</a:t>
            </a:r>
            <a:r>
              <a:rPr b="0" sz="1300" lang="ja-JP" altLang="en-US">
                <a:solidFill>
                  <a:srgbClr val="111111"/>
                </a:solidFill>
                <a:latin typeface="Century Gothic"/>
                <a:ea typeface="Yu Gothic"/>
              </a:rPr>
              <a:t>といった品質安定化のコア技術で権利を押さえるべき。反証＝もし化学的リサイクル(解重合)が普及すれば不純物問題自体が解消し、配合技術の価値は相対的に低下する（次章の萌芽に注目）。</a:t>
            </a:r>
          </a:p>
        </p:txBody>
      </p:sp>
      <p:sp>
        <p:nvSpPr>
          <p:cNvPr id="20" name="TextBox 19"/>
          <p:cNvSpPr txBox="1"/>
          <p:nvPr/>
        </p:nvSpPr>
        <p:spPr>
          <a:xfrm>
            <a:off x="457200" y="6053328"/>
            <a:ext cx="11247120" cy="320040"/>
          </a:xfrm>
          <a:prstGeom prst="rect">
            <a:avLst/>
          </a:prstGeom>
          <a:noFill/>
          <a:effectLst/>
        </p:spPr>
        <p:txBody>
          <a:bodyPr wrap="square">
            <a:noAutofit/>
          </a:bodyPr>
          <a:lstStyle/>
          <a:p>
            <a:pPr eaLnBrk="1" hangingPunct="1"/>
            <a:r>
              <a:rPr sz="900" b="0" lang="ja-JP" altLang="en-US">
                <a:solidFill>
                  <a:srgbClr val="686868"/>
                </a:solidFill>
                <a:latin typeface="Century Gothic"/>
                <a:ea typeface="Yu Gothic"/>
              </a:rPr>
              <a:t>（出所）特許データベース Cyber patent desc（2026-06-14）</a:t>
            </a:r>
          </a:p>
        </p:txBody>
      </p:sp>
      <p:sp>
        <p:nvSpPr>
          <p:cNvPr id="21" name="TextBox 20"/>
          <p:cNvSpPr txBox="1"/>
          <p:nvPr/>
        </p:nvSpPr>
        <p:spPr>
          <a:xfrm>
            <a:off x="11384280" y="6419088"/>
            <a:ext cx="502920" cy="228600"/>
          </a:xfrm>
          <a:prstGeom prst="rect">
            <a:avLst/>
          </a:prstGeom>
          <a:noFill/>
          <a:effectLst/>
        </p:spPr>
        <p:txBody>
          <a:bodyPr wrap="none">
            <a:spAutoFit/>
          </a:bodyPr>
          <a:lstStyle/>
          <a:p>
            <a:pPr eaLnBrk="1" hangingPunct="1" algn="r"/>
            <a:r>
              <a:rPr sz="1000" b="0" lang="ja-JP" altLang="en-US">
                <a:solidFill>
                  <a:srgbClr val="686868"/>
                </a:solidFill>
                <a:latin typeface="Century Gothic"/>
                <a:ea typeface="Yu Gothic"/>
              </a:rPr>
              <a:t>16</a:t>
            </a:r>
          </a:p>
        </p:txBody>
      </p:sp>
      <p:cxnSp>
        <p:nvCxnSpPr>
          <p:cNvPr id="22" name="Connector 21"/>
          <p:cNvCxnSpPr/>
          <p:nvPr/>
        </p:nvCxnSpPr>
        <p:spPr>
          <a:xfrm>
            <a:off x="11859767" y="128016"/>
            <a:ext cx="201169" cy="0"/>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a:off x="12060936" y="128016"/>
            <a:ext cx="0" cy="201168"/>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a:off x="128016" y="6729984"/>
            <a:ext cx="201168" cy="0"/>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25" name="Connector 24"/>
          <p:cNvCxnSpPr/>
          <p:nvPr/>
        </p:nvCxnSpPr>
        <p:spPr>
          <a:xfrm>
            <a:off x="128016" y="6528816"/>
            <a:ext cx="0" cy="201168"/>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01011"/>
        </a:solidFill>
        <a:effectLst/>
      </p:bgPr>
    </p:bg>
    <p:spTree>
      <p:nvGrpSpPr>
        <p:cNvPr id="1" name=""/>
        <p:cNvGrpSpPr/>
        <p:nvPr/>
      </p:nvGrpSpPr>
      <p:grpSpPr/>
      <p:sp>
        <p:nvSpPr>
          <p:cNvPr id="2" name="TextBox 1"/>
          <p:cNvSpPr txBox="1"/>
          <p:nvPr/>
        </p:nvSpPr>
        <p:spPr>
          <a:xfrm>
            <a:off x="4754880" y="960120"/>
            <a:ext cx="6949440" cy="4937760"/>
          </a:xfrm>
          <a:prstGeom prst="rect">
            <a:avLst/>
          </a:prstGeom>
          <a:noFill/>
          <a:effectLst/>
        </p:spPr>
        <p:txBody>
          <a:bodyPr wrap="none">
            <a:noAutofit/>
          </a:bodyPr>
          <a:lstStyle/>
          <a:p>
            <a:pPr algn="r"/>
            <a:r>
              <a:rPr sz="30000" b="1" lang="ja-JP" altLang="en-US">
                <a:solidFill>
                  <a:srgbClr val="4A4A52"/>
                </a:solidFill>
                <a:latin typeface="Yu Mincho"/>
                <a:ea typeface="Yu Mincho"/>
              </a:rPr>
              <a:t>04</a:t>
            </a:r>
          </a:p>
        </p:txBody>
      </p:sp>
      <p:sp>
        <p:nvSpPr>
          <p:cNvPr id="3" name="Rectangle 2"/>
          <p:cNvSpPr/>
          <p:nvPr/>
        </p:nvSpPr>
        <p:spPr>
          <a:xfrm>
            <a:off x="0" y="0"/>
            <a:ext cx="274320" cy="685800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1051560" y="2514600"/>
            <a:ext cx="5486400" cy="365760"/>
          </a:xfrm>
          <a:prstGeom prst="rect">
            <a:avLst/>
          </a:prstGeom>
          <a:noFill/>
          <a:effectLst/>
        </p:spPr>
        <p:txBody>
          <a:bodyPr wrap="square">
            <a:noAutofit/>
          </a:bodyPr>
          <a:lstStyle/>
          <a:p>
            <a:r>
              <a:rPr sz="1500" b="1" lang="ja-JP" altLang="en-US" spc="260">
                <a:solidFill>
                  <a:srgbClr val="FF7070"/>
                </a:solidFill>
                <a:latin typeface="Yu Mincho"/>
                <a:ea typeface="Yu Mincho"/>
              </a:rPr>
              <a:t>SECTION 04</a:t>
            </a:r>
          </a:p>
        </p:txBody>
      </p:sp>
      <p:sp>
        <p:nvSpPr>
          <p:cNvPr id="5" name="Rectangle 4"/>
          <p:cNvSpPr/>
          <p:nvPr/>
        </p:nvSpPr>
        <p:spPr>
          <a:xfrm>
            <a:off x="1078992" y="3035808"/>
            <a:ext cx="2560320" cy="9144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1051560" y="3246120"/>
            <a:ext cx="7315200" cy="1554480"/>
          </a:xfrm>
          <a:prstGeom prst="rect">
            <a:avLst/>
          </a:prstGeom>
          <a:noFill/>
          <a:effectLst/>
        </p:spPr>
        <p:txBody>
          <a:bodyPr wrap="square">
            <a:noAutofit/>
          </a:bodyPr>
          <a:lstStyle/>
          <a:p>
            <a:pPr eaLnBrk="1" hangingPunct="1">
              <a:lnSpc>
                <a:spcPct val="115000"/>
              </a:lnSpc>
            </a:pPr>
            <a:r>
              <a:rPr sz="4000" b="1" lang="ja-JP" altLang="en-US">
                <a:solidFill>
                  <a:srgbClr val="FFFFFF"/>
                </a:solidFill>
                <a:latin typeface="Yu Mincho"/>
                <a:ea typeface="Yu Mincho"/>
              </a:rPr>
              <a:t>技術ランドスケープ</a:t>
            </a:r>
          </a:p>
        </p:txBody>
      </p:sp>
      <p:sp>
        <p:nvSpPr>
          <p:cNvPr id="7" name="TextBox 6"/>
          <p:cNvSpPr txBox="1"/>
          <p:nvPr/>
        </p:nvSpPr>
        <p:spPr>
          <a:xfrm>
            <a:off x="1078992" y="4892040"/>
            <a:ext cx="6949440" cy="731520"/>
          </a:xfrm>
          <a:prstGeom prst="rect">
            <a:avLst/>
          </a:prstGeom>
          <a:noFill/>
          <a:effectLst/>
        </p:spPr>
        <p:txBody>
          <a:bodyPr wrap="square">
            <a:noAutofit/>
          </a:bodyPr>
          <a:lstStyle/>
          <a:p>
            <a:pPr eaLnBrk="1" hangingPunct="1"/>
            <a:r>
              <a:rPr sz="1500" b="0" lang="ja-JP" altLang="en-US">
                <a:solidFill>
                  <a:srgbClr val="C2C2C6"/>
                </a:solidFill>
                <a:latin typeface="Yu Mincho"/>
                <a:ea typeface="Yu Mincho"/>
              </a:rPr>
              <a:t>意味空間のクラスタ構造と、代表特許の精読</a:t>
            </a:r>
          </a:p>
        </p:txBody>
      </p:sp>
      <p:sp>
        <p:nvSpPr>
          <p:cNvPr id="8" name="Rectangle 7"/>
          <p:cNvSpPr/>
          <p:nvPr/>
        </p:nvSpPr>
        <p:spPr>
          <a:xfrm>
            <a:off x="0" y="6492240"/>
            <a:ext cx="12188952" cy="27432"/>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22960" y="1952243"/>
            <a:ext cx="45720" cy="2496312"/>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1024128" y="1906524"/>
            <a:ext cx="4206240" cy="320040"/>
          </a:xfrm>
          <a:prstGeom prst="rect">
            <a:avLst/>
          </a:prstGeom>
          <a:noFill/>
          <a:effectLst/>
        </p:spPr>
        <p:txBody>
          <a:bodyPr wrap="square">
            <a:noAutofit/>
          </a:bodyPr>
          <a:lstStyle/>
          <a:p>
            <a:pPr eaLnBrk="1" hangingPunct="1"/>
            <a:r>
              <a:rPr sz="1100" b="1" lang="ja-JP" altLang="en-US">
                <a:solidFill>
                  <a:srgbClr val="C51212"/>
                </a:solidFill>
                <a:latin typeface="Yu Mincho"/>
                <a:ea typeface="Yu Mincho"/>
              </a:rPr>
              <a:t>SECTION 04 / 技術ランドスケープ</a:t>
            </a:r>
          </a:p>
        </p:txBody>
      </p:sp>
      <p:sp>
        <p:nvSpPr>
          <p:cNvPr id="4" name="TextBox 3"/>
          <p:cNvSpPr txBox="1"/>
          <p:nvPr/>
        </p:nvSpPr>
        <p:spPr>
          <a:xfrm>
            <a:off x="1024128" y="2290572"/>
            <a:ext cx="4206240" cy="2203704"/>
          </a:xfrm>
          <a:prstGeom prst="rect">
            <a:avLst/>
          </a:prstGeom>
          <a:noFill/>
          <a:effectLst/>
        </p:spPr>
        <p:txBody>
          <a:bodyPr wrap="square">
            <a:noAutofit/>
          </a:bodyPr>
          <a:lstStyle/>
          <a:p>
            <a:pPr eaLnBrk="1" hangingPunct="1">
              <a:lnSpc>
                <a:spcPct val="122000"/>
              </a:lnSpc>
            </a:pPr>
            <a:r>
              <a:rPr sz="2400" b="1" lang="ja-JP" altLang="en-US">
                <a:solidFill>
                  <a:srgbClr val="111111"/>
                </a:solidFill>
                <a:latin typeface="Yu Mincho"/>
                <a:ea typeface="Yu Mincho"/>
              </a:rPr>
              <a:t>意味的に近い特許の塊から技術の地形を読む</a:t>
            </a:r>
          </a:p>
        </p:txBody>
      </p:sp>
      <p:sp>
        <p:nvSpPr>
          <p:cNvPr id="5" name="TextBox 4"/>
          <p:cNvSpPr txBox="1"/>
          <p:nvPr/>
        </p:nvSpPr>
        <p:spPr>
          <a:xfrm>
            <a:off x="5577840" y="1906524"/>
            <a:ext cx="5971032" cy="2587752"/>
          </a:xfrm>
          <a:prstGeom prst="rect">
            <a:avLst/>
          </a:prstGeom>
          <a:noFill/>
          <a:effectLst/>
        </p:spPr>
        <p:txBody>
          <a:bodyPr wrap="square">
            <a:noAutofit/>
          </a:bodyPr>
          <a:lstStyle/>
          <a:p>
            <a:pPr eaLnBrk="1" hangingPunct="1">
              <a:lnSpc>
                <a:spcPct val="140000"/>
              </a:lnSpc>
              <a:spcAft>
                <a:spcPts val="800"/>
              </a:spcAft>
            </a:pPr>
            <a:r>
              <a:rPr b="1" sz="1400" lang="ja-JP" altLang="en-US">
                <a:solidFill>
                  <a:srgbClr val="111111"/>
                </a:solidFill>
                <a:latin typeface="Century Gothic"/>
                <a:ea typeface="Yu Gothic"/>
              </a:rPr>
              <a:t>何を</a:t>
            </a:r>
            <a:r>
              <a:rPr b="0" sz="1400" lang="ja-JP" altLang="en-US">
                <a:solidFill>
                  <a:srgbClr val="111111"/>
                </a:solidFill>
                <a:latin typeface="Century Gothic"/>
                <a:ea typeface="Yu Gothic"/>
              </a:rPr>
              <a:t>: SBERT＋UMAP＋HDBSCANで生成した意味空間のクラスタ布置を見る</a:t>
            </a:r>
          </a:p>
          <a:p>
            <a:pPr eaLnBrk="1" hangingPunct="1">
              <a:lnSpc>
                <a:spcPct val="140000"/>
              </a:lnSpc>
              <a:spcAft>
                <a:spcPts val="800"/>
              </a:spcAft>
            </a:pPr>
            <a:r>
              <a:rPr b="1" sz="1400" lang="ja-JP" altLang="en-US">
                <a:solidFill>
                  <a:srgbClr val="111111"/>
                </a:solidFill>
                <a:latin typeface="Century Gothic"/>
                <a:ea typeface="Yu Gothic"/>
              </a:rPr>
              <a:t>なぜ</a:t>
            </a:r>
            <a:r>
              <a:rPr b="0" sz="1400" lang="ja-JP" altLang="en-US">
                <a:solidFill>
                  <a:srgbClr val="111111"/>
                </a:solidFill>
                <a:latin typeface="Century Gothic"/>
                <a:ea typeface="Yu Gothic"/>
              </a:rPr>
              <a:t>: キーワード分類では掬えない『意味的なまとまり』と外れ領域を捉えるため</a:t>
            </a:r>
          </a:p>
          <a:p>
            <a:pPr eaLnBrk="1" hangingPunct="1">
              <a:lnSpc>
                <a:spcPct val="140000"/>
              </a:lnSpc>
              <a:spcAft>
                <a:spcPts val="800"/>
              </a:spcAft>
            </a:pPr>
            <a:r>
              <a:rPr b="1" sz="1400" lang="ja-JP" altLang="en-US">
                <a:solidFill>
                  <a:srgbClr val="111111"/>
                </a:solidFill>
                <a:latin typeface="Century Gothic"/>
                <a:ea typeface="Yu Gothic"/>
              </a:rPr>
              <a:t>着眼</a:t>
            </a:r>
            <a:r>
              <a:rPr b="0" sz="1400" lang="ja-JP" altLang="en-US">
                <a:solidFill>
                  <a:srgbClr val="111111"/>
                </a:solidFill>
                <a:latin typeface="Century Gothic"/>
                <a:ea typeface="Yu Gothic"/>
              </a:rPr>
              <a:t>: 量の主役（汎用組成物の大クラスタ）と、小さく外れたPET再生クラスタの対比</a:t>
            </a:r>
          </a:p>
          <a:p>
            <a:pPr eaLnBrk="1" hangingPunct="1">
              <a:lnSpc>
                <a:spcPct val="140000"/>
              </a:lnSpc>
              <a:spcAft>
                <a:spcPts val="800"/>
              </a:spcAft>
            </a:pPr>
            <a:r>
              <a:rPr b="1" sz="1400" lang="ja-JP" altLang="en-US">
                <a:solidFill>
                  <a:srgbClr val="111111"/>
                </a:solidFill>
                <a:latin typeface="Century Gothic"/>
                <a:ea typeface="Yu Gothic"/>
              </a:rPr>
              <a:t>精読</a:t>
            </a:r>
            <a:r>
              <a:rPr b="0" sz="1400" lang="ja-JP" altLang="en-US">
                <a:solidFill>
                  <a:srgbClr val="111111"/>
                </a:solidFill>
                <a:latin typeface="Century Gothic"/>
                <a:ea typeface="Yu Gothic"/>
              </a:rPr>
              <a:t>: 俯瞰で浮かんだ重要クラスタの代表特許・主要プレイヤーを原文で裏取りする</a:t>
            </a:r>
          </a:p>
        </p:txBody>
      </p:sp>
      <p:sp>
        <p:nvSpPr>
          <p:cNvPr id="6" name="TextBox 5"/>
          <p:cNvSpPr txBox="1"/>
          <p:nvPr/>
        </p:nvSpPr>
        <p:spPr>
          <a:xfrm>
            <a:off x="11384280" y="6419088"/>
            <a:ext cx="502920" cy="228600"/>
          </a:xfrm>
          <a:prstGeom prst="rect">
            <a:avLst/>
          </a:prstGeom>
          <a:noFill/>
          <a:effectLst/>
        </p:spPr>
        <p:txBody>
          <a:bodyPr wrap="none">
            <a:spAutoFit/>
          </a:bodyPr>
          <a:lstStyle/>
          <a:p>
            <a:pPr eaLnBrk="1" hangingPunct="1" algn="r"/>
            <a:r>
              <a:rPr sz="1000" b="0" lang="ja-JP" altLang="en-US">
                <a:solidFill>
                  <a:srgbClr val="686868"/>
                </a:solidFill>
                <a:latin typeface="Century Gothic"/>
                <a:ea typeface="Yu Gothic"/>
              </a:rPr>
              <a:t>17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22960" y="521208"/>
            <a:ext cx="365760" cy="1270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22960" y="630936"/>
            <a:ext cx="10725912" cy="841248"/>
          </a:xfrm>
          <a:prstGeom prst="rect">
            <a:avLst/>
          </a:prstGeom>
          <a:noFill/>
          <a:effectLst/>
        </p:spPr>
        <p:txBody>
          <a:bodyPr wrap="square">
            <a:noAutofit/>
          </a:bodyPr>
          <a:lstStyle/>
          <a:p>
            <a:pPr eaLnBrk="1" hangingPunct="1">
              <a:lnSpc>
                <a:spcPct val="118000"/>
              </a:lnSpc>
            </a:pPr>
            <a:r>
              <a:rPr b="1" sz="2300" lang="ja-JP" altLang="en-US">
                <a:solidFill>
                  <a:srgbClr val="111111"/>
                </a:solidFill>
                <a:latin typeface="Yu Mincho"/>
                <a:ea typeface="Yu Mincho"/>
              </a:rPr>
              <a:t>意味空間は『汎用再生組成物』の巨大クラスタ＋小さなPET再生クラスタ</a:t>
            </a:r>
          </a:p>
        </p:txBody>
      </p:sp>
      <p:sp>
        <p:nvSpPr>
          <p:cNvPr id="4" name="Rectangle 3"/>
          <p:cNvSpPr/>
          <p:nvPr/>
        </p:nvSpPr>
        <p:spPr>
          <a:xfrm>
            <a:off x="822960" y="1527048"/>
            <a:ext cx="10725912" cy="822959"/>
          </a:xfrm>
          <a:prstGeom prst="rect">
            <a:avLst/>
          </a:prstGeom>
          <a:solidFill>
            <a:srgbClr val="F6F7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822960" y="1527048"/>
            <a:ext cx="36576" cy="822959"/>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60120" y="1600200"/>
            <a:ext cx="10451592" cy="676655"/>
          </a:xfrm>
          <a:prstGeom prst="rect">
            <a:avLst/>
          </a:prstGeom>
          <a:noFill/>
          <a:effectLst/>
        </p:spPr>
        <p:txBody>
          <a:bodyPr wrap="square">
            <a:noAutofit/>
          </a:bodyPr>
          <a:lstStyle/>
          <a:p>
            <a:pPr eaLnBrk="1" hangingPunct="1">
              <a:lnSpc>
                <a:spcPct val="150000"/>
              </a:lnSpc>
            </a:pPr>
            <a:r>
              <a:rPr sz="1500" b="1" lang="ja-JP" altLang="en-US">
                <a:solidFill>
                  <a:srgbClr val="C51212"/>
                </a:solidFill>
                <a:latin typeface="Century Gothic"/>
                <a:ea typeface="Yu Gothic"/>
              </a:rPr>
              <a:t>■ </a:t>
            </a:r>
            <a:r>
              <a:rPr sz="1500" lang="ja-JP" altLang="en-US">
                <a:solidFill>
                  <a:srgbClr val="111111"/>
                </a:solidFill>
                <a:latin typeface="Century Gothic"/>
                <a:ea typeface="Yu Gothic"/>
              </a:rPr>
              <a:t>全体俯瞰では大クラスタ(405件)が量を支配し、PET再生(12件)が意味的に独立した小島として外れて布置。</a:t>
            </a:r>
          </a:p>
        </p:txBody>
      </p:sp>
      <p:sp>
        <p:nvSpPr>
          <p:cNvPr id="7" name="TextBox 6"/>
          <p:cNvSpPr txBox="1"/>
          <p:nvPr/>
        </p:nvSpPr>
        <p:spPr>
          <a:xfrm>
            <a:off x="822960" y="2441448"/>
            <a:ext cx="7266553" cy="320040"/>
          </a:xfrm>
          <a:prstGeom prst="rect">
            <a:avLst/>
          </a:prstGeom>
          <a:noFill/>
          <a:effectLst/>
        </p:spPr>
        <p:txBody>
          <a:bodyPr wrap="none">
            <a:spAutoFit/>
          </a:bodyPr>
          <a:lstStyle/>
          <a:p>
            <a:pPr eaLnBrk="1" hangingPunct="1"/>
            <a:r>
              <a:rPr sz="1400" b="1" lang="ja-JP" altLang="en-US">
                <a:solidFill>
                  <a:srgbClr val="111111"/>
                </a:solidFill>
                <a:latin typeface="Yu Mincho"/>
                <a:ea typeface="Yu Mincho"/>
              </a:rPr>
              <a:t>技術ランドスケープ（全体俯瞰）</a:t>
            </a:r>
          </a:p>
        </p:txBody>
      </p:sp>
      <p:pic>
        <p:nvPicPr>
          <p:cNvPr id="8" name="Picture 7" descr="saturn_main_snap.png"/>
          <p:cNvPicPr>
            <a:picLocks noChangeAspect="1"/>
          </p:cNvPicPr>
          <p:nvPr/>
        </p:nvPicPr>
        <p:blipFill>
          <a:blip r:embed="rId2"/>
          <a:stretch>
            <a:fillRect/>
          </a:stretch>
        </p:blipFill>
        <p:spPr>
          <a:xfrm>
            <a:off x="2331408" y="2761488"/>
            <a:ext cx="4249657" cy="2953511"/>
          </a:xfrm>
          <a:prstGeom prst="rect">
            <a:avLst/>
          </a:prstGeom>
          <a:effectLst/>
        </p:spPr>
      </p:pic>
      <p:sp>
        <p:nvSpPr>
          <p:cNvPr id="9" name="TextBox 8"/>
          <p:cNvSpPr txBox="1"/>
          <p:nvPr/>
        </p:nvSpPr>
        <p:spPr>
          <a:xfrm>
            <a:off x="822960" y="5788152"/>
            <a:ext cx="7266553" cy="228600"/>
          </a:xfrm>
          <a:prstGeom prst="rect">
            <a:avLst/>
          </a:prstGeom>
          <a:noFill/>
          <a:effectLst/>
        </p:spPr>
        <p:txBody>
          <a:bodyPr wrap="none">
            <a:spAutoFit/>
          </a:bodyPr>
          <a:lstStyle/>
          <a:p>
            <a:pPr eaLnBrk="1" hangingPunct="1" algn="ctr"/>
            <a:r>
              <a:rPr sz="1000" b="0" lang="ja-JP" altLang="en-US">
                <a:solidFill>
                  <a:srgbClr val="686868"/>
                </a:solidFill>
                <a:latin typeface="Century Gothic"/>
                <a:ea typeface="Yu Gothic"/>
              </a:rPr>
              <a:t>SBERT意味空間のクラスタ布置</a:t>
            </a:r>
          </a:p>
        </p:txBody>
      </p:sp>
      <p:sp>
        <p:nvSpPr>
          <p:cNvPr id="10" name="TextBox 9"/>
          <p:cNvSpPr txBox="1"/>
          <p:nvPr/>
        </p:nvSpPr>
        <p:spPr>
          <a:xfrm>
            <a:off x="8427841" y="2514600"/>
            <a:ext cx="3468502" cy="3218687"/>
          </a:xfrm>
          <a:prstGeom prst="rect">
            <a:avLst/>
          </a:prstGeom>
          <a:noFill/>
          <a:effectLst/>
        </p:spPr>
        <p:txBody>
          <a:bodyPr wrap="square">
            <a:noAutofit/>
          </a:bodyPr>
          <a:lstStyle/>
          <a:p>
            <a:pPr eaLnBrk="1" hangingPunct="1">
              <a:lnSpc>
                <a:spcPct val="145000"/>
              </a:lnSpc>
              <a:spcAft>
                <a:spcPts val="600"/>
              </a:spcAft>
            </a:pPr>
            <a:r>
              <a:rPr sz="1400" lang="ja-JP" altLang="en-US">
                <a:solidFill>
                  <a:srgbClr val="111111"/>
                </a:solidFill>
                <a:latin typeface="Century Gothic"/>
                <a:ea typeface="Yu Gothic"/>
              </a:rPr>
              <a:t>■ </a:t>
            </a:r>
            <a:r>
              <a:rPr b="1" sz="1400" lang="ja-JP" altLang="en-US">
                <a:solidFill>
                  <a:srgbClr val="111111"/>
                </a:solidFill>
                <a:latin typeface="Century Gothic"/>
                <a:ea typeface="Yu Gothic"/>
              </a:rPr>
              <a:t>大クラスタ[1]（405件・97%）</a:t>
            </a:r>
            <a:r>
              <a:rPr sz="1400" lang="ja-JP" altLang="en-US">
                <a:solidFill>
                  <a:srgbClr val="111111"/>
                </a:solidFill>
                <a:latin typeface="Century Gothic"/>
                <a:ea typeface="Yu Gothic"/>
              </a:rPr>
              <a:t>：製造/再生/可塑性/リサイクル/ポリカーボネートを核とする汎用再生組成物</a:t>
            </a:r>
          </a:p>
          <a:p>
            <a:pPr eaLnBrk="1" hangingPunct="1">
              <a:lnSpc>
                <a:spcPct val="145000"/>
              </a:lnSpc>
              <a:spcAft>
                <a:spcPts val="600"/>
              </a:spcAft>
            </a:pPr>
            <a:r>
              <a:rPr sz="1400" lang="ja-JP" altLang="en-US">
                <a:solidFill>
                  <a:srgbClr val="111111"/>
                </a:solidFill>
                <a:latin typeface="Century Gothic"/>
                <a:ea typeface="Yu Gothic"/>
              </a:rPr>
              <a:t>■ </a:t>
            </a:r>
            <a:r>
              <a:rPr b="1" sz="1400" lang="ja-JP" altLang="en-US">
                <a:solidFill>
                  <a:srgbClr val="111111"/>
                </a:solidFill>
                <a:latin typeface="Century Gothic"/>
                <a:ea typeface="Yu Gothic"/>
              </a:rPr>
              <a:t>小クラスタ[0]（12件）</a:t>
            </a:r>
            <a:r>
              <a:rPr sz="1400" lang="ja-JP" altLang="en-US">
                <a:solidFill>
                  <a:srgbClr val="111111"/>
                </a:solidFill>
                <a:latin typeface="Century Gothic"/>
                <a:ea typeface="Yu Gothic"/>
              </a:rPr>
              <a:t>：PET再生に特化し、意味的に分離した独立領域</a:t>
            </a:r>
          </a:p>
          <a:p>
            <a:pPr eaLnBrk="1" hangingPunct="1">
              <a:lnSpc>
                <a:spcPct val="145000"/>
              </a:lnSpc>
              <a:spcAft>
                <a:spcPts val="600"/>
              </a:spcAft>
            </a:pPr>
            <a:r>
              <a:rPr sz="1400" lang="ja-JP" altLang="en-US">
                <a:solidFill>
                  <a:srgbClr val="111111"/>
                </a:solidFill>
                <a:latin typeface="Century Gothic"/>
                <a:ea typeface="Yu Gothic"/>
              </a:rPr>
              <a:t>■ </a:t>
            </a:r>
            <a:r>
              <a:rPr sz="1400" lang="ja-JP" altLang="en-US">
                <a:solidFill>
                  <a:srgbClr val="111111"/>
                </a:solidFill>
                <a:latin typeface="Century Gothic"/>
                <a:ea typeface="Yu Gothic"/>
              </a:rPr>
              <a:t>ノイズ率0%＝</a:t>
            </a:r>
            <a:r>
              <a:rPr b="1" sz="1400" lang="ja-JP" altLang="en-US">
                <a:solidFill>
                  <a:srgbClr val="111111"/>
                </a:solidFill>
                <a:latin typeface="Century Gothic"/>
                <a:ea typeface="Yu Gothic"/>
              </a:rPr>
              <a:t>成熟・均質な技術領域</a:t>
            </a:r>
            <a:r>
              <a:rPr sz="1400" lang="ja-JP" altLang="en-US">
                <a:solidFill>
                  <a:srgbClr val="111111"/>
                </a:solidFill>
                <a:latin typeface="Century Gothic"/>
                <a:ea typeface="Yu Gothic"/>
              </a:rPr>
              <a:t>。発散的な萌芽より、確立技術の改良が中心</a:t>
            </a:r>
          </a:p>
          <a:p>
            <a:pPr eaLnBrk="1" hangingPunct="1">
              <a:lnSpc>
                <a:spcPct val="145000"/>
              </a:lnSpc>
              <a:spcAft>
                <a:spcPts val="600"/>
              </a:spcAft>
            </a:pPr>
            <a:r>
              <a:rPr sz="1400" lang="ja-JP" altLang="en-US">
                <a:solidFill>
                  <a:srgbClr val="111111"/>
                </a:solidFill>
                <a:latin typeface="Century Gothic"/>
                <a:ea typeface="Yu Gothic"/>
              </a:rPr>
              <a:t>■ </a:t>
            </a:r>
            <a:r>
              <a:rPr sz="1400" lang="ja-JP" altLang="en-US">
                <a:solidFill>
                  <a:srgbClr val="111111"/>
                </a:solidFill>
                <a:latin typeface="Century Gothic"/>
                <a:ea typeface="Yu Gothic"/>
              </a:rPr>
              <a:t>巨大クラスタは内部が多様。次頁の詳細分解(17サブクラスタ)で技術の地形を解像する</a:t>
            </a:r>
          </a:p>
        </p:txBody>
      </p:sp>
      <p:sp>
        <p:nvSpPr>
          <p:cNvPr id="11" name="TextBox 10"/>
          <p:cNvSpPr txBox="1"/>
          <p:nvPr/>
        </p:nvSpPr>
        <p:spPr>
          <a:xfrm>
            <a:off x="457200" y="6053328"/>
            <a:ext cx="11247120" cy="320040"/>
          </a:xfrm>
          <a:prstGeom prst="rect">
            <a:avLst/>
          </a:prstGeom>
          <a:noFill/>
          <a:effectLst/>
        </p:spPr>
        <p:txBody>
          <a:bodyPr wrap="square">
            <a:noAutofit/>
          </a:bodyPr>
          <a:lstStyle/>
          <a:p>
            <a:pPr eaLnBrk="1" hangingPunct="1"/>
            <a:r>
              <a:rPr sz="900" b="0" lang="ja-JP" altLang="en-US">
                <a:solidFill>
                  <a:srgbClr val="686868"/>
                </a:solidFill>
                <a:latin typeface="Century Gothic"/>
                <a:ea typeface="Yu Gothic"/>
              </a:rPr>
              <a:t>（出所）特許データベース Cyber patent desc（2026-06-14）</a:t>
            </a:r>
          </a:p>
        </p:txBody>
      </p:sp>
      <p:sp>
        <p:nvSpPr>
          <p:cNvPr id="12" name="TextBox 11"/>
          <p:cNvSpPr txBox="1"/>
          <p:nvPr/>
        </p:nvSpPr>
        <p:spPr>
          <a:xfrm>
            <a:off x="11384280" y="6419088"/>
            <a:ext cx="502920" cy="228600"/>
          </a:xfrm>
          <a:prstGeom prst="rect">
            <a:avLst/>
          </a:prstGeom>
          <a:noFill/>
          <a:effectLst/>
        </p:spPr>
        <p:txBody>
          <a:bodyPr wrap="none">
            <a:spAutoFit/>
          </a:bodyPr>
          <a:lstStyle/>
          <a:p>
            <a:pPr eaLnBrk="1" hangingPunct="1" algn="r"/>
            <a:r>
              <a:rPr sz="1000" b="0" lang="ja-JP" altLang="en-US">
                <a:solidFill>
                  <a:srgbClr val="686868"/>
                </a:solidFill>
                <a:latin typeface="Century Gothic"/>
                <a:ea typeface="Yu Gothic"/>
              </a:rPr>
              <a:t>18</a:t>
            </a:r>
          </a:p>
        </p:txBody>
      </p:sp>
      <p:cxnSp>
        <p:nvCxnSpPr>
          <p:cNvPr id="13" name="Connector 12"/>
          <p:cNvCxnSpPr/>
          <p:nvPr/>
        </p:nvCxnSpPr>
        <p:spPr>
          <a:xfrm>
            <a:off x="11859767" y="128016"/>
            <a:ext cx="201169" cy="0"/>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14" name="Connector 13"/>
          <p:cNvCxnSpPr/>
          <p:nvPr/>
        </p:nvCxnSpPr>
        <p:spPr>
          <a:xfrm>
            <a:off x="12060936" y="128016"/>
            <a:ext cx="0" cy="201168"/>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15" name="Connector 14"/>
          <p:cNvCxnSpPr/>
          <p:nvPr/>
        </p:nvCxnSpPr>
        <p:spPr>
          <a:xfrm>
            <a:off x="128016" y="6729984"/>
            <a:ext cx="201168" cy="0"/>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a:off x="128016" y="6528816"/>
            <a:ext cx="0" cy="201168"/>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22960" y="521208"/>
            <a:ext cx="365760" cy="1270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22960" y="630936"/>
            <a:ext cx="10725912" cy="713232"/>
          </a:xfrm>
          <a:prstGeom prst="rect">
            <a:avLst/>
          </a:prstGeom>
          <a:noFill/>
          <a:effectLst/>
        </p:spPr>
        <p:txBody>
          <a:bodyPr wrap="square">
            <a:noAutofit/>
          </a:bodyPr>
          <a:lstStyle/>
          <a:p>
            <a:pPr eaLnBrk="1" hangingPunct="1">
              <a:lnSpc>
                <a:spcPct val="118000"/>
              </a:lnSpc>
            </a:pPr>
            <a:r>
              <a:rPr b="1" sz="2700" lang="ja-JP" altLang="en-US">
                <a:solidFill>
                  <a:srgbClr val="111111"/>
                </a:solidFill>
                <a:latin typeface="Yu Mincho"/>
                <a:ea typeface="Yu Mincho"/>
              </a:rPr>
              <a:t>大クラスタを分解すると17の技術テーマが現れる</a:t>
            </a:r>
          </a:p>
        </p:txBody>
      </p:sp>
      <p:sp>
        <p:nvSpPr>
          <p:cNvPr id="4" name="Rectangle 3"/>
          <p:cNvSpPr/>
          <p:nvPr/>
        </p:nvSpPr>
        <p:spPr>
          <a:xfrm>
            <a:off x="822960" y="1399032"/>
            <a:ext cx="10725912" cy="822959"/>
          </a:xfrm>
          <a:prstGeom prst="rect">
            <a:avLst/>
          </a:prstGeom>
          <a:solidFill>
            <a:srgbClr val="F6F7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822960" y="1399032"/>
            <a:ext cx="36576" cy="822959"/>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60120" y="1472184"/>
            <a:ext cx="10451592" cy="676655"/>
          </a:xfrm>
          <a:prstGeom prst="rect">
            <a:avLst/>
          </a:prstGeom>
          <a:noFill/>
          <a:effectLst/>
        </p:spPr>
        <p:txBody>
          <a:bodyPr wrap="square">
            <a:noAutofit/>
          </a:bodyPr>
          <a:lstStyle/>
          <a:p>
            <a:pPr eaLnBrk="1" hangingPunct="1">
              <a:lnSpc>
                <a:spcPct val="150000"/>
              </a:lnSpc>
            </a:pPr>
            <a:r>
              <a:rPr sz="1500" b="1" lang="ja-JP" altLang="en-US">
                <a:solidFill>
                  <a:srgbClr val="C51212"/>
                </a:solidFill>
                <a:latin typeface="Century Gothic"/>
                <a:ea typeface="Yu Gothic"/>
              </a:rPr>
              <a:t>■ </a:t>
            </a:r>
            <a:r>
              <a:rPr sz="1500" lang="ja-JP" altLang="en-US">
                <a:solidFill>
                  <a:srgbClr val="111111"/>
                </a:solidFill>
                <a:latin typeface="Century Gothic"/>
                <a:ea typeface="Yu Gothic"/>
              </a:rPr>
              <a:t>汎用組成物の塊は、樹脂種(PO/PC/PA/PPS/PET)と機能(吸水・難燃・繊維強化)で</a:t>
            </a:r>
            <a:r>
              <a:rPr b="1" sz="1500" lang="ja-JP" altLang="en-US">
                <a:solidFill>
                  <a:srgbClr val="111111"/>
                </a:solidFill>
                <a:latin typeface="Century Gothic"/>
                <a:ea typeface="Yu Gothic"/>
              </a:rPr>
              <a:t>17サブクラスタ</a:t>
            </a:r>
            <a:r>
              <a:rPr sz="1500" lang="ja-JP" altLang="en-US">
                <a:solidFill>
                  <a:srgbClr val="111111"/>
                </a:solidFill>
                <a:latin typeface="Century Gothic"/>
                <a:ea typeface="Yu Gothic"/>
              </a:rPr>
              <a:t>に解像できる。</a:t>
            </a:r>
          </a:p>
        </p:txBody>
      </p:sp>
      <p:sp>
        <p:nvSpPr>
          <p:cNvPr id="7" name="TextBox 6"/>
          <p:cNvSpPr txBox="1"/>
          <p:nvPr/>
        </p:nvSpPr>
        <p:spPr>
          <a:xfrm>
            <a:off x="822960" y="2313432"/>
            <a:ext cx="7266553" cy="320040"/>
          </a:xfrm>
          <a:prstGeom prst="rect">
            <a:avLst/>
          </a:prstGeom>
          <a:noFill/>
          <a:effectLst/>
        </p:spPr>
        <p:txBody>
          <a:bodyPr wrap="none">
            <a:spAutoFit/>
          </a:bodyPr>
          <a:lstStyle/>
          <a:p>
            <a:pPr eaLnBrk="1" hangingPunct="1"/>
            <a:r>
              <a:rPr sz="1400" b="1" lang="ja-JP" altLang="en-US">
                <a:solidFill>
                  <a:srgbClr val="111111"/>
                </a:solidFill>
                <a:latin typeface="Yu Mincho"/>
                <a:ea typeface="Yu Mincho"/>
              </a:rPr>
              <a:t>ドリルダウン（17サブクラスタ）</a:t>
            </a:r>
          </a:p>
        </p:txBody>
      </p:sp>
      <p:pic>
        <p:nvPicPr>
          <p:cNvPr id="8" name="Picture 7" descr="saturn_drill_snap.png"/>
          <p:cNvPicPr>
            <a:picLocks noChangeAspect="1"/>
          </p:cNvPicPr>
          <p:nvPr/>
        </p:nvPicPr>
        <p:blipFill>
          <a:blip r:embed="rId2"/>
          <a:stretch>
            <a:fillRect/>
          </a:stretch>
        </p:blipFill>
        <p:spPr>
          <a:xfrm>
            <a:off x="1991014" y="2633472"/>
            <a:ext cx="4930444" cy="3081527"/>
          </a:xfrm>
          <a:prstGeom prst="rect">
            <a:avLst/>
          </a:prstGeom>
          <a:effectLst/>
        </p:spPr>
      </p:pic>
      <p:sp>
        <p:nvSpPr>
          <p:cNvPr id="9" name="TextBox 8"/>
          <p:cNvSpPr txBox="1"/>
          <p:nvPr/>
        </p:nvSpPr>
        <p:spPr>
          <a:xfrm>
            <a:off x="822960" y="5788152"/>
            <a:ext cx="7266553" cy="228600"/>
          </a:xfrm>
          <a:prstGeom prst="rect">
            <a:avLst/>
          </a:prstGeom>
          <a:noFill/>
          <a:effectLst/>
        </p:spPr>
        <p:txBody>
          <a:bodyPr wrap="none">
            <a:spAutoFit/>
          </a:bodyPr>
          <a:lstStyle/>
          <a:p>
            <a:pPr eaLnBrk="1" hangingPunct="1" algn="ctr"/>
            <a:r>
              <a:rPr sz="1000" b="0" lang="ja-JP" altLang="en-US">
                <a:solidFill>
                  <a:srgbClr val="686868"/>
                </a:solidFill>
                <a:latin typeface="Century Gothic"/>
                <a:ea typeface="Yu Gothic"/>
              </a:rPr>
              <a:t>大クラスタ[1]のPROBE分解（405件）</a:t>
            </a:r>
          </a:p>
        </p:txBody>
      </p:sp>
      <p:sp>
        <p:nvSpPr>
          <p:cNvPr id="10" name="TextBox 9"/>
          <p:cNvSpPr txBox="1"/>
          <p:nvPr/>
        </p:nvSpPr>
        <p:spPr>
          <a:xfrm>
            <a:off x="8427841" y="2386584"/>
            <a:ext cx="3468502" cy="3346703"/>
          </a:xfrm>
          <a:prstGeom prst="rect">
            <a:avLst/>
          </a:prstGeom>
          <a:noFill/>
          <a:effectLst/>
        </p:spPr>
        <p:txBody>
          <a:bodyPr wrap="square">
            <a:noAutofit/>
          </a:bodyPr>
          <a:lstStyle/>
          <a:p>
            <a:pPr eaLnBrk="1" hangingPunct="1">
              <a:lnSpc>
                <a:spcPct val="145000"/>
              </a:lnSpc>
              <a:spcAft>
                <a:spcPts val="600"/>
              </a:spcAft>
            </a:pPr>
            <a:r>
              <a:rPr sz="1400" lang="ja-JP" altLang="en-US">
                <a:solidFill>
                  <a:srgbClr val="111111"/>
                </a:solidFill>
                <a:latin typeface="Century Gothic"/>
                <a:ea typeface="Yu Gothic"/>
              </a:rPr>
              <a:t>■ </a:t>
            </a:r>
            <a:r>
              <a:rPr sz="1400" lang="ja-JP" altLang="en-US">
                <a:solidFill>
                  <a:srgbClr val="111111"/>
                </a:solidFill>
                <a:latin typeface="Century Gothic"/>
                <a:ea typeface="Yu Gothic"/>
              </a:rPr>
              <a:t>最大サブ：[6]再生/製造/リサイクル(47)、[9]可塑性/再生熱/重合体(37)、[2]塩化ビニル系(35)</a:t>
            </a:r>
          </a:p>
          <a:p>
            <a:pPr eaLnBrk="1" hangingPunct="1">
              <a:lnSpc>
                <a:spcPct val="145000"/>
              </a:lnSpc>
              <a:spcAft>
                <a:spcPts val="600"/>
              </a:spcAft>
            </a:pPr>
            <a:r>
              <a:rPr sz="1400" lang="ja-JP" altLang="en-US">
                <a:solidFill>
                  <a:srgbClr val="111111"/>
                </a:solidFill>
                <a:latin typeface="Century Gothic"/>
                <a:ea typeface="Yu Gothic"/>
              </a:rPr>
              <a:t>■ </a:t>
            </a:r>
            <a:r>
              <a:rPr sz="1400" lang="ja-JP" altLang="en-US">
                <a:solidFill>
                  <a:srgbClr val="111111"/>
                </a:solidFill>
                <a:latin typeface="Century Gothic"/>
                <a:ea typeface="Yu Gothic"/>
              </a:rPr>
              <a:t>樹脂別の塊：[13]ポリオレフィン(25)、[16]ポリエステル/再生ポリアミド/ペレット(22)、[12]PC(15)</a:t>
            </a:r>
          </a:p>
          <a:p>
            <a:pPr eaLnBrk="1" hangingPunct="1">
              <a:lnSpc>
                <a:spcPct val="145000"/>
              </a:lnSpc>
              <a:spcAft>
                <a:spcPts val="600"/>
              </a:spcAft>
            </a:pPr>
            <a:r>
              <a:rPr sz="1400" lang="ja-JP" altLang="en-US">
                <a:solidFill>
                  <a:srgbClr val="111111"/>
                </a:solidFill>
                <a:latin typeface="Century Gothic"/>
                <a:ea typeface="Yu Gothic"/>
              </a:rPr>
              <a:t>■ </a:t>
            </a:r>
            <a:r>
              <a:rPr sz="1400" lang="ja-JP" altLang="en-US">
                <a:solidFill>
                  <a:srgbClr val="111111"/>
                </a:solidFill>
                <a:latin typeface="Century Gothic"/>
                <a:ea typeface="Yu Gothic"/>
              </a:rPr>
              <a:t>機能別の塊：[5]吸水性(23)、[8]スチレン系(23)、[11]炭素繊維/ボード(9)</a:t>
            </a:r>
          </a:p>
          <a:p>
            <a:pPr eaLnBrk="1" hangingPunct="1">
              <a:lnSpc>
                <a:spcPct val="145000"/>
              </a:lnSpc>
              <a:spcAft>
                <a:spcPts val="600"/>
              </a:spcAft>
            </a:pPr>
            <a:r>
              <a:rPr sz="1400" lang="ja-JP" altLang="en-US">
                <a:solidFill>
                  <a:srgbClr val="111111"/>
                </a:solidFill>
                <a:latin typeface="Century Gothic"/>
                <a:ea typeface="Yu Gothic"/>
              </a:rPr>
              <a:t>■ </a:t>
            </a:r>
            <a:r>
              <a:rPr b="1" sz="1400" lang="ja-JP" altLang="en-US">
                <a:solidFill>
                  <a:srgbClr val="111111"/>
                </a:solidFill>
                <a:latin typeface="Century Gothic"/>
                <a:ea typeface="Yu Gothic"/>
              </a:rPr>
              <a:t>外縁テーマ</a:t>
            </a:r>
            <a:r>
              <a:rPr sz="1400" lang="ja-JP" altLang="en-US">
                <a:solidFill>
                  <a:srgbClr val="111111"/>
                </a:solidFill>
                <a:latin typeface="Century Gothic"/>
                <a:ea typeface="Yu Gothic"/>
              </a:rPr>
              <a:t>：[3]VOC/排泄物(6)、[10]繊維(6)など、応用フロンティアの種が点在</a:t>
            </a:r>
          </a:p>
        </p:txBody>
      </p:sp>
      <p:sp>
        <p:nvSpPr>
          <p:cNvPr id="11" name="TextBox 10"/>
          <p:cNvSpPr txBox="1"/>
          <p:nvPr/>
        </p:nvSpPr>
        <p:spPr>
          <a:xfrm>
            <a:off x="457200" y="6053328"/>
            <a:ext cx="11247120" cy="320040"/>
          </a:xfrm>
          <a:prstGeom prst="rect">
            <a:avLst/>
          </a:prstGeom>
          <a:noFill/>
          <a:effectLst/>
        </p:spPr>
        <p:txBody>
          <a:bodyPr wrap="square">
            <a:noAutofit/>
          </a:bodyPr>
          <a:lstStyle/>
          <a:p>
            <a:pPr eaLnBrk="1" hangingPunct="1"/>
            <a:r>
              <a:rPr sz="900" b="0" lang="ja-JP" altLang="en-US">
                <a:solidFill>
                  <a:srgbClr val="686868"/>
                </a:solidFill>
                <a:latin typeface="Century Gothic"/>
                <a:ea typeface="Yu Gothic"/>
              </a:rPr>
              <a:t>（出所）特許データベース Cyber patent desc（2026-06-14）</a:t>
            </a:r>
          </a:p>
        </p:txBody>
      </p:sp>
      <p:sp>
        <p:nvSpPr>
          <p:cNvPr id="12" name="TextBox 11"/>
          <p:cNvSpPr txBox="1"/>
          <p:nvPr/>
        </p:nvSpPr>
        <p:spPr>
          <a:xfrm>
            <a:off x="11384280" y="6419088"/>
            <a:ext cx="502920" cy="228600"/>
          </a:xfrm>
          <a:prstGeom prst="rect">
            <a:avLst/>
          </a:prstGeom>
          <a:noFill/>
          <a:effectLst/>
        </p:spPr>
        <p:txBody>
          <a:bodyPr wrap="none">
            <a:spAutoFit/>
          </a:bodyPr>
          <a:lstStyle/>
          <a:p>
            <a:pPr eaLnBrk="1" hangingPunct="1" algn="r"/>
            <a:r>
              <a:rPr sz="1000" b="0" lang="ja-JP" altLang="en-US">
                <a:solidFill>
                  <a:srgbClr val="686868"/>
                </a:solidFill>
                <a:latin typeface="Century Gothic"/>
                <a:ea typeface="Yu Gothic"/>
              </a:rPr>
              <a:t>19</a:t>
            </a:r>
          </a:p>
        </p:txBody>
      </p:sp>
      <p:cxnSp>
        <p:nvCxnSpPr>
          <p:cNvPr id="13" name="Connector 12"/>
          <p:cNvCxnSpPr/>
          <p:nvPr/>
        </p:nvCxnSpPr>
        <p:spPr>
          <a:xfrm>
            <a:off x="11859767" y="128016"/>
            <a:ext cx="201169" cy="0"/>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14" name="Connector 13"/>
          <p:cNvCxnSpPr/>
          <p:nvPr/>
        </p:nvCxnSpPr>
        <p:spPr>
          <a:xfrm>
            <a:off x="12060936" y="128016"/>
            <a:ext cx="0" cy="201168"/>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15" name="Connector 14"/>
          <p:cNvCxnSpPr/>
          <p:nvPr/>
        </p:nvCxnSpPr>
        <p:spPr>
          <a:xfrm>
            <a:off x="128016" y="6729984"/>
            <a:ext cx="201168" cy="0"/>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a:off x="128016" y="6528816"/>
            <a:ext cx="0" cy="201168"/>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22960" y="521208"/>
            <a:ext cx="365760" cy="1270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22960" y="630936"/>
            <a:ext cx="10725912" cy="713232"/>
          </a:xfrm>
          <a:prstGeom prst="rect">
            <a:avLst/>
          </a:prstGeom>
          <a:noFill/>
          <a:effectLst/>
        </p:spPr>
        <p:txBody>
          <a:bodyPr wrap="square">
            <a:noAutofit/>
          </a:bodyPr>
          <a:lstStyle/>
          <a:p>
            <a:pPr eaLnBrk="1" hangingPunct="1">
              <a:lnSpc>
                <a:spcPct val="118000"/>
              </a:lnSpc>
            </a:pPr>
            <a:r>
              <a:rPr b="1" sz="2700" lang="ja-JP" altLang="en-US">
                <a:solidFill>
                  <a:srgbClr val="111111"/>
                </a:solidFill>
                <a:latin typeface="Yu Mincho"/>
                <a:ea typeface="Yu Mincho"/>
              </a:rPr>
              <a:t>サブクラスタ・カタログ ～量の中心は汎用樹脂、外縁に応用の種</a:t>
            </a:r>
          </a:p>
        </p:txBody>
      </p:sp>
      <p:sp>
        <p:nvSpPr>
          <p:cNvPr id="4" name="Rectangle 3"/>
          <p:cNvSpPr/>
          <p:nvPr/>
        </p:nvSpPr>
        <p:spPr>
          <a:xfrm>
            <a:off x="822960" y="1399032"/>
            <a:ext cx="10725912" cy="822959"/>
          </a:xfrm>
          <a:prstGeom prst="rect">
            <a:avLst/>
          </a:prstGeom>
          <a:solidFill>
            <a:srgbClr val="F6F7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822960" y="1399032"/>
            <a:ext cx="36576" cy="822959"/>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60120" y="1472184"/>
            <a:ext cx="10451592" cy="676655"/>
          </a:xfrm>
          <a:prstGeom prst="rect">
            <a:avLst/>
          </a:prstGeom>
          <a:noFill/>
          <a:effectLst/>
        </p:spPr>
        <p:txBody>
          <a:bodyPr wrap="square">
            <a:noAutofit/>
          </a:bodyPr>
          <a:lstStyle/>
          <a:p>
            <a:pPr eaLnBrk="1" hangingPunct="1">
              <a:lnSpc>
                <a:spcPct val="150000"/>
              </a:lnSpc>
            </a:pPr>
            <a:r>
              <a:rPr sz="1500" b="1" lang="ja-JP" altLang="en-US">
                <a:solidFill>
                  <a:srgbClr val="C51212"/>
                </a:solidFill>
                <a:latin typeface="Century Gothic"/>
                <a:ea typeface="Yu Gothic"/>
              </a:rPr>
              <a:t>■ </a:t>
            </a:r>
            <a:r>
              <a:rPr sz="1500" lang="ja-JP" altLang="en-US">
                <a:solidFill>
                  <a:srgbClr val="111111"/>
                </a:solidFill>
                <a:latin typeface="Century Gothic"/>
                <a:ea typeface="Yu Gothic"/>
              </a:rPr>
              <a:t>件数上位は汎用再生・PO・PA系。</a:t>
            </a:r>
            <a:r>
              <a:rPr b="1" sz="1500" lang="ja-JP" altLang="en-US">
                <a:solidFill>
                  <a:srgbClr val="111111"/>
                </a:solidFill>
                <a:latin typeface="Century Gothic"/>
                <a:ea typeface="Yu Gothic"/>
              </a:rPr>
              <a:t>ペレットを冠した[16]</a:t>
            </a:r>
            <a:r>
              <a:rPr sz="1500" lang="ja-JP" altLang="en-US">
                <a:solidFill>
                  <a:srgbClr val="111111"/>
                </a:solidFill>
                <a:latin typeface="Century Gothic"/>
                <a:ea typeface="Yu Gothic"/>
              </a:rPr>
              <a:t>は再生ポリアミドを含み、素材外販型の新潮流を示す。</a:t>
            </a:r>
          </a:p>
        </p:txBody>
      </p:sp>
      <p:graphicFrame>
        <p:nvGraphicFramePr>
          <p:cNvPr id="7" name="Table 6"/>
          <p:cNvGraphicFramePr>
            <a:graphicFrameLocks noGrp="1"/>
          </p:cNvGraphicFramePr>
          <p:nvPr/>
        </p:nvGraphicFramePr>
        <p:xfrm>
          <a:off x="457200" y="2313432"/>
          <a:ext cx="11247120" cy="3493007"/>
        </p:xfrm>
        <a:graphic>
          <a:graphicData uri="http://schemas.openxmlformats.org/drawingml/2006/table">
            <a:tbl>
              <a:tblPr firstRow="1" bandRow="1">
                <a:tableStyleId>{5C22544A-7EE6-4342-B048-85BDC9FD1C3A}</a:tableStyleId>
              </a:tblPr>
              <a:tblGrid>
                <a:gridCol w="4572000"/>
                <a:gridCol w="1097280"/>
                <a:gridCol w="5577840"/>
              </a:tblGrid>
              <a:tr h="388111">
                <a:tc>
                  <a:txBody>
                    <a:bodyPr/>
                    <a:lstStyle/>
                    <a:p>
                      <a:pPr eaLnBrk="1" hangingPunct="1"/>
                      <a:r>
                        <a:rPr sz="1200" b="1" lang="ja-JP" altLang="en-US">
                          <a:solidFill>
                            <a:srgbClr val="FFFFFF"/>
                          </a:solidFill>
                          <a:latin typeface="Century Gothic"/>
                          <a:ea typeface="Yu Gothic"/>
                        </a:rPr>
                        <a:t>サブクラスタ（主要語）</a:t>
                      </a:r>
                    </a:p>
                  </a:txBody>
                  <a:tcPr>
                    <a:solidFill>
                      <a:srgbClr val="111111"/>
                    </a:solidFill>
                  </a:tcPr>
                </a:tc>
                <a:tc>
                  <a:txBody>
                    <a:bodyPr/>
                    <a:lstStyle/>
                    <a:p>
                      <a:pPr eaLnBrk="1" hangingPunct="1"/>
                      <a:r>
                        <a:rPr sz="1200" b="1" lang="ja-JP" altLang="en-US">
                          <a:solidFill>
                            <a:srgbClr val="FFFFFF"/>
                          </a:solidFill>
                          <a:latin typeface="Century Gothic"/>
                          <a:ea typeface="Yu Gothic"/>
                        </a:rPr>
                        <a:t>件数</a:t>
                      </a:r>
                    </a:p>
                  </a:txBody>
                  <a:tcPr>
                    <a:solidFill>
                      <a:srgbClr val="111111"/>
                    </a:solidFill>
                  </a:tcPr>
                </a:tc>
                <a:tc>
                  <a:txBody>
                    <a:bodyPr/>
                    <a:lstStyle/>
                    <a:p>
                      <a:pPr eaLnBrk="1" hangingPunct="1"/>
                      <a:r>
                        <a:rPr sz="1200" b="1" lang="ja-JP" altLang="en-US">
                          <a:solidFill>
                            <a:srgbClr val="FFFFFF"/>
                          </a:solidFill>
                          <a:latin typeface="Century Gothic"/>
                          <a:ea typeface="Yu Gothic"/>
                        </a:rPr>
                        <a:t>技術的な位置づけ</a:t>
                      </a:r>
                    </a:p>
                  </a:txBody>
                  <a:tcPr>
                    <a:solidFill>
                      <a:srgbClr val="111111"/>
                    </a:solidFill>
                  </a:tcPr>
                </a:tc>
              </a:tr>
              <a:tr h="388111">
                <a:tc>
                  <a:txBody>
                    <a:bodyPr/>
                    <a:lstStyle/>
                    <a:p>
                      <a:pPr eaLnBrk="1" hangingPunct="1"/>
                      <a:r>
                        <a:rPr sz="1100" b="0" lang="ja-JP" altLang="en-US">
                          <a:solidFill>
                            <a:srgbClr val="111111"/>
                          </a:solidFill>
                          <a:latin typeface="Century Gothic"/>
                          <a:ea typeface="Yu Gothic"/>
                        </a:rPr>
                        <a:t>[6] 再生・製造・リサイクル</a:t>
                      </a:r>
                    </a:p>
                  </a:txBody>
                  <a:tcPr/>
                </a:tc>
                <a:tc>
                  <a:txBody>
                    <a:bodyPr/>
                    <a:lstStyle/>
                    <a:p>
                      <a:pPr eaLnBrk="1" hangingPunct="1"/>
                      <a:r>
                        <a:rPr sz="1100" b="0" lang="ja-JP" altLang="en-US">
                          <a:solidFill>
                            <a:srgbClr val="111111"/>
                          </a:solidFill>
                          <a:latin typeface="Century Gothic"/>
                          <a:ea typeface="Yu Gothic"/>
                        </a:rPr>
                        <a:t>47</a:t>
                      </a:r>
                    </a:p>
                  </a:txBody>
                  <a:tcPr/>
                </a:tc>
                <a:tc>
                  <a:txBody>
                    <a:bodyPr/>
                    <a:lstStyle/>
                    <a:p>
                      <a:pPr eaLnBrk="1" hangingPunct="1"/>
                      <a:r>
                        <a:rPr sz="1100" b="0" lang="ja-JP" altLang="en-US">
                          <a:solidFill>
                            <a:srgbClr val="111111"/>
                          </a:solidFill>
                          <a:latin typeface="Century Gothic"/>
                          <a:ea typeface="Yu Gothic"/>
                        </a:rPr>
                        <a:t>再生プロセス一般の中核（基盤）</a:t>
                      </a:r>
                    </a:p>
                  </a:txBody>
                  <a:tcPr/>
                </a:tc>
              </a:tr>
              <a:tr h="388111">
                <a:tc>
                  <a:txBody>
                    <a:bodyPr/>
                    <a:lstStyle/>
                    <a:p>
                      <a:pPr eaLnBrk="1" hangingPunct="1"/>
                      <a:r>
                        <a:rPr sz="1100" b="0" lang="ja-JP" altLang="en-US">
                          <a:solidFill>
                            <a:srgbClr val="111111"/>
                          </a:solidFill>
                          <a:latin typeface="Century Gothic"/>
                          <a:ea typeface="Yu Gothic"/>
                        </a:rPr>
                        <a:t>[9] 可塑性・再生熱・重合体</a:t>
                      </a:r>
                    </a:p>
                  </a:txBody>
                  <a:tcPr>
                    <a:solidFill>
                      <a:srgbClr val="F1F2F3"/>
                    </a:solidFill>
                  </a:tcPr>
                </a:tc>
                <a:tc>
                  <a:txBody>
                    <a:bodyPr/>
                    <a:lstStyle/>
                    <a:p>
                      <a:pPr eaLnBrk="1" hangingPunct="1"/>
                      <a:r>
                        <a:rPr sz="1100" b="0" lang="ja-JP" altLang="en-US">
                          <a:solidFill>
                            <a:srgbClr val="111111"/>
                          </a:solidFill>
                          <a:latin typeface="Century Gothic"/>
                          <a:ea typeface="Yu Gothic"/>
                        </a:rPr>
                        <a:t>37</a:t>
                      </a:r>
                    </a:p>
                  </a:txBody>
                  <a:tcPr>
                    <a:solidFill>
                      <a:srgbClr val="F1F2F3"/>
                    </a:solidFill>
                  </a:tcPr>
                </a:tc>
                <a:tc>
                  <a:txBody>
                    <a:bodyPr/>
                    <a:lstStyle/>
                    <a:p>
                      <a:pPr eaLnBrk="1" hangingPunct="1"/>
                      <a:r>
                        <a:rPr sz="1100" b="0" lang="ja-JP" altLang="en-US">
                          <a:solidFill>
                            <a:srgbClr val="111111"/>
                          </a:solidFill>
                          <a:latin typeface="Century Gothic"/>
                          <a:ea typeface="Yu Gothic"/>
                        </a:rPr>
                        <a:t>熱可塑性再生材の物性回復</a:t>
                      </a:r>
                    </a:p>
                  </a:txBody>
                  <a:tcPr>
                    <a:solidFill>
                      <a:srgbClr val="F1F2F3"/>
                    </a:solidFill>
                  </a:tcPr>
                </a:tc>
              </a:tr>
              <a:tr h="388111">
                <a:tc>
                  <a:txBody>
                    <a:bodyPr/>
                    <a:lstStyle/>
                    <a:p>
                      <a:pPr eaLnBrk="1" hangingPunct="1"/>
                      <a:r>
                        <a:rPr sz="1100" b="0" lang="ja-JP" altLang="en-US">
                          <a:solidFill>
                            <a:srgbClr val="111111"/>
                          </a:solidFill>
                          <a:latin typeface="Century Gothic"/>
                          <a:ea typeface="Yu Gothic"/>
                        </a:rPr>
                        <a:t>[2] 塩化ビニル・核酸・抗生物質</a:t>
                      </a:r>
                    </a:p>
                  </a:txBody>
                  <a:tcPr/>
                </a:tc>
                <a:tc>
                  <a:txBody>
                    <a:bodyPr/>
                    <a:lstStyle/>
                    <a:p>
                      <a:pPr eaLnBrk="1" hangingPunct="1"/>
                      <a:r>
                        <a:rPr sz="1100" b="0" lang="ja-JP" altLang="en-US">
                          <a:solidFill>
                            <a:srgbClr val="111111"/>
                          </a:solidFill>
                          <a:latin typeface="Century Gothic"/>
                          <a:ea typeface="Yu Gothic"/>
                        </a:rPr>
                        <a:t>35</a:t>
                      </a:r>
                    </a:p>
                  </a:txBody>
                  <a:tcPr/>
                </a:tc>
                <a:tc>
                  <a:txBody>
                    <a:bodyPr/>
                    <a:lstStyle/>
                    <a:p>
                      <a:pPr eaLnBrk="1" hangingPunct="1"/>
                      <a:r>
                        <a:rPr sz="1100" b="0" lang="ja-JP" altLang="en-US">
                          <a:solidFill>
                            <a:srgbClr val="111111"/>
                          </a:solidFill>
                          <a:latin typeface="Century Gothic"/>
                          <a:ea typeface="Yu Gothic"/>
                        </a:rPr>
                        <a:t>塩ビ系＋医療系が混在する境界領域</a:t>
                      </a:r>
                    </a:p>
                  </a:txBody>
                  <a:tcPr/>
                </a:tc>
              </a:tr>
              <a:tr h="388111">
                <a:tc>
                  <a:txBody>
                    <a:bodyPr/>
                    <a:lstStyle/>
                    <a:p>
                      <a:pPr eaLnBrk="1" hangingPunct="1"/>
                      <a:r>
                        <a:rPr sz="1100" b="0" lang="ja-JP" altLang="en-US">
                          <a:solidFill>
                            <a:srgbClr val="111111"/>
                          </a:solidFill>
                          <a:latin typeface="Century Gothic"/>
                          <a:ea typeface="Yu Gothic"/>
                        </a:rPr>
                        <a:t>[13] ポリオレフィン・ポリカーボネート</a:t>
                      </a:r>
                    </a:p>
                  </a:txBody>
                  <a:tcPr>
                    <a:solidFill>
                      <a:srgbClr val="F1F2F3"/>
                    </a:solidFill>
                  </a:tcPr>
                </a:tc>
                <a:tc>
                  <a:txBody>
                    <a:bodyPr/>
                    <a:lstStyle/>
                    <a:p>
                      <a:pPr eaLnBrk="1" hangingPunct="1"/>
                      <a:r>
                        <a:rPr sz="1100" b="0" lang="ja-JP" altLang="en-US">
                          <a:solidFill>
                            <a:srgbClr val="111111"/>
                          </a:solidFill>
                          <a:latin typeface="Century Gothic"/>
                          <a:ea typeface="Yu Gothic"/>
                        </a:rPr>
                        <a:t>25</a:t>
                      </a:r>
                    </a:p>
                  </a:txBody>
                  <a:tcPr>
                    <a:solidFill>
                      <a:srgbClr val="F1F2F3"/>
                    </a:solidFill>
                  </a:tcPr>
                </a:tc>
                <a:tc>
                  <a:txBody>
                    <a:bodyPr/>
                    <a:lstStyle/>
                    <a:p>
                      <a:pPr eaLnBrk="1" hangingPunct="1"/>
                      <a:r>
                        <a:rPr sz="1100" b="0" lang="ja-JP" altLang="en-US">
                          <a:solidFill>
                            <a:srgbClr val="111111"/>
                          </a:solidFill>
                          <a:latin typeface="Century Gothic"/>
                          <a:ea typeface="Yu Gothic"/>
                        </a:rPr>
                        <a:t>汎用樹脂アロイ（量の主役）</a:t>
                      </a:r>
                    </a:p>
                  </a:txBody>
                  <a:tcPr>
                    <a:solidFill>
                      <a:srgbClr val="F1F2F3"/>
                    </a:solidFill>
                  </a:tcPr>
                </a:tc>
              </a:tr>
              <a:tr h="388111">
                <a:tc>
                  <a:txBody>
                    <a:bodyPr/>
                    <a:lstStyle/>
                    <a:p>
                      <a:pPr eaLnBrk="1" hangingPunct="1"/>
                      <a:r>
                        <a:rPr sz="1100" b="0" lang="ja-JP" altLang="en-US">
                          <a:solidFill>
                            <a:srgbClr val="111111"/>
                          </a:solidFill>
                          <a:latin typeface="Century Gothic"/>
                          <a:ea typeface="Yu Gothic"/>
                        </a:rPr>
                        <a:t>[5] 吸水性・再生吸水</a:t>
                      </a:r>
                    </a:p>
                  </a:txBody>
                  <a:tcPr/>
                </a:tc>
                <a:tc>
                  <a:txBody>
                    <a:bodyPr/>
                    <a:lstStyle/>
                    <a:p>
                      <a:pPr eaLnBrk="1" hangingPunct="1"/>
                      <a:r>
                        <a:rPr sz="1100" b="0" lang="ja-JP" altLang="en-US">
                          <a:solidFill>
                            <a:srgbClr val="111111"/>
                          </a:solidFill>
                          <a:latin typeface="Century Gothic"/>
                          <a:ea typeface="Yu Gothic"/>
                        </a:rPr>
                        <a:t>23</a:t>
                      </a:r>
                    </a:p>
                  </a:txBody>
                  <a:tcPr/>
                </a:tc>
                <a:tc>
                  <a:txBody>
                    <a:bodyPr/>
                    <a:lstStyle/>
                    <a:p>
                      <a:pPr eaLnBrk="1" hangingPunct="1"/>
                      <a:r>
                        <a:rPr sz="1100" b="0" lang="ja-JP" altLang="en-US">
                          <a:solidFill>
                            <a:srgbClr val="111111"/>
                          </a:solidFill>
                          <a:latin typeface="Century Gothic"/>
                          <a:ea typeface="Yu Gothic"/>
                        </a:rPr>
                        <a:t>機能性付与（吸水材）の応用</a:t>
                      </a:r>
                    </a:p>
                  </a:txBody>
                  <a:tcPr/>
                </a:tc>
              </a:tr>
              <a:tr h="388111">
                <a:tc>
                  <a:txBody>
                    <a:bodyPr/>
                    <a:lstStyle/>
                    <a:p>
                      <a:pPr eaLnBrk="1" hangingPunct="1"/>
                      <a:r>
                        <a:rPr sz="1100" b="0" lang="ja-JP" altLang="en-US">
                          <a:solidFill>
                            <a:srgbClr val="111111"/>
                          </a:solidFill>
                          <a:latin typeface="Century Gothic"/>
                          <a:ea typeface="Yu Gothic"/>
                        </a:rPr>
                        <a:t>[8] スチレン系・再生スチレン</a:t>
                      </a:r>
                    </a:p>
                  </a:txBody>
                  <a:tcPr>
                    <a:solidFill>
                      <a:srgbClr val="F1F2F3"/>
                    </a:solidFill>
                  </a:tcPr>
                </a:tc>
                <a:tc>
                  <a:txBody>
                    <a:bodyPr/>
                    <a:lstStyle/>
                    <a:p>
                      <a:pPr eaLnBrk="1" hangingPunct="1"/>
                      <a:r>
                        <a:rPr sz="1100" b="0" lang="ja-JP" altLang="en-US">
                          <a:solidFill>
                            <a:srgbClr val="111111"/>
                          </a:solidFill>
                          <a:latin typeface="Century Gothic"/>
                          <a:ea typeface="Yu Gothic"/>
                        </a:rPr>
                        <a:t>23</a:t>
                      </a:r>
                    </a:p>
                  </a:txBody>
                  <a:tcPr>
                    <a:solidFill>
                      <a:srgbClr val="F1F2F3"/>
                    </a:solidFill>
                  </a:tcPr>
                </a:tc>
                <a:tc>
                  <a:txBody>
                    <a:bodyPr/>
                    <a:lstStyle/>
                    <a:p>
                      <a:pPr eaLnBrk="1" hangingPunct="1"/>
                      <a:r>
                        <a:rPr sz="1100" b="0" lang="ja-JP" altLang="en-US">
                          <a:solidFill>
                            <a:srgbClr val="111111"/>
                          </a:solidFill>
                          <a:latin typeface="Century Gothic"/>
                          <a:ea typeface="Yu Gothic"/>
                        </a:rPr>
                        <a:t>ABS等の再生（家電筐体系）</a:t>
                      </a:r>
                    </a:p>
                  </a:txBody>
                  <a:tcPr>
                    <a:solidFill>
                      <a:srgbClr val="F1F2F3"/>
                    </a:solidFill>
                  </a:tcPr>
                </a:tc>
              </a:tr>
              <a:tr h="388111">
                <a:tc>
                  <a:txBody>
                    <a:bodyPr/>
                    <a:lstStyle/>
                    <a:p>
                      <a:pPr eaLnBrk="1" hangingPunct="1"/>
                      <a:r>
                        <a:rPr sz="1100" b="1" lang="ja-JP" altLang="en-US">
                          <a:solidFill>
                            <a:srgbClr val="C51212"/>
                          </a:solidFill>
                          <a:latin typeface="Century Gothic"/>
                          <a:ea typeface="Yu Gothic"/>
                        </a:rPr>
                        <a:t>[16] ポリエステル・再生ポリアミド・ペレット</a:t>
                      </a:r>
                    </a:p>
                  </a:txBody>
                  <a:tcPr>
                    <a:solidFill>
                      <a:srgbClr val="F6F7F8"/>
                    </a:solidFill>
                  </a:tcPr>
                </a:tc>
                <a:tc>
                  <a:txBody>
                    <a:bodyPr/>
                    <a:lstStyle/>
                    <a:p>
                      <a:pPr eaLnBrk="1" hangingPunct="1"/>
                      <a:r>
                        <a:rPr sz="1100" b="1" lang="ja-JP" altLang="en-US">
                          <a:solidFill>
                            <a:srgbClr val="111111"/>
                          </a:solidFill>
                          <a:latin typeface="Century Gothic"/>
                          <a:ea typeface="Yu Gothic"/>
                        </a:rPr>
                        <a:t>22</a:t>
                      </a:r>
                    </a:p>
                  </a:txBody>
                  <a:tcPr>
                    <a:solidFill>
                      <a:srgbClr val="F6F7F8"/>
                    </a:solidFill>
                  </a:tcPr>
                </a:tc>
                <a:tc>
                  <a:txBody>
                    <a:bodyPr/>
                    <a:lstStyle/>
                    <a:p>
                      <a:pPr eaLnBrk="1" hangingPunct="1"/>
                      <a:r>
                        <a:rPr sz="1100" b="1" lang="ja-JP" altLang="en-US">
                          <a:solidFill>
                            <a:srgbClr val="111111"/>
                          </a:solidFill>
                          <a:latin typeface="Century Gothic"/>
                          <a:ea typeface="Yu Gothic"/>
                        </a:rPr>
                        <a:t>ペレット外販・PA再生の新潮流</a:t>
                      </a:r>
                    </a:p>
                  </a:txBody>
                  <a:tcPr>
                    <a:solidFill>
                      <a:srgbClr val="F6F7F8"/>
                    </a:solidFill>
                  </a:tcPr>
                </a:tc>
              </a:tr>
              <a:tr h="388119">
                <a:tc>
                  <a:txBody>
                    <a:bodyPr/>
                    <a:lstStyle/>
                    <a:p>
                      <a:pPr eaLnBrk="1" hangingPunct="1"/>
                      <a:r>
                        <a:rPr sz="1100" b="0" lang="ja-JP" altLang="en-US">
                          <a:solidFill>
                            <a:srgbClr val="111111"/>
                          </a:solidFill>
                          <a:latin typeface="Century Gothic"/>
                          <a:ea typeface="Yu Gothic"/>
                        </a:rPr>
                        <a:t>[12] ポリカーボネート 60質量</a:t>
                      </a:r>
                    </a:p>
                  </a:txBody>
                  <a:tcPr>
                    <a:solidFill>
                      <a:srgbClr val="F1F2F3"/>
                    </a:solidFill>
                  </a:tcPr>
                </a:tc>
                <a:tc>
                  <a:txBody>
                    <a:bodyPr/>
                    <a:lstStyle/>
                    <a:p>
                      <a:pPr eaLnBrk="1" hangingPunct="1"/>
                      <a:r>
                        <a:rPr sz="1100" b="0" lang="ja-JP" altLang="en-US">
                          <a:solidFill>
                            <a:srgbClr val="111111"/>
                          </a:solidFill>
                          <a:latin typeface="Century Gothic"/>
                          <a:ea typeface="Yu Gothic"/>
                        </a:rPr>
                        <a:t>15</a:t>
                      </a:r>
                    </a:p>
                  </a:txBody>
                  <a:tcPr>
                    <a:solidFill>
                      <a:srgbClr val="F1F2F3"/>
                    </a:solidFill>
                  </a:tcPr>
                </a:tc>
                <a:tc>
                  <a:txBody>
                    <a:bodyPr/>
                    <a:lstStyle/>
                    <a:p>
                      <a:pPr eaLnBrk="1" hangingPunct="1"/>
                      <a:r>
                        <a:rPr sz="1100" b="0" lang="ja-JP" altLang="en-US">
                          <a:solidFill>
                            <a:srgbClr val="111111"/>
                          </a:solidFill>
                          <a:latin typeface="Century Gothic"/>
                          <a:ea typeface="Yu Gothic"/>
                        </a:rPr>
                        <a:t>PC高配合の耐久財向け</a:t>
                      </a:r>
                    </a:p>
                  </a:txBody>
                  <a:tcPr>
                    <a:solidFill>
                      <a:srgbClr val="F1F2F3"/>
                    </a:solidFill>
                  </a:tcPr>
                </a:tc>
              </a:tr>
            </a:tbl>
          </a:graphicData>
        </a:graphic>
      </p:graphicFrame>
      <p:sp>
        <p:nvSpPr>
          <p:cNvPr id="8" name="TextBox 7"/>
          <p:cNvSpPr txBox="1"/>
          <p:nvPr/>
        </p:nvSpPr>
        <p:spPr>
          <a:xfrm>
            <a:off x="457200" y="6053328"/>
            <a:ext cx="11247120" cy="320040"/>
          </a:xfrm>
          <a:prstGeom prst="rect">
            <a:avLst/>
          </a:prstGeom>
          <a:noFill/>
          <a:effectLst/>
        </p:spPr>
        <p:txBody>
          <a:bodyPr wrap="square">
            <a:noAutofit/>
          </a:bodyPr>
          <a:lstStyle/>
          <a:p>
            <a:pPr eaLnBrk="1" hangingPunct="1"/>
            <a:r>
              <a:rPr sz="900" b="0" lang="ja-JP" altLang="en-US">
                <a:solidFill>
                  <a:srgbClr val="686868"/>
                </a:solidFill>
                <a:latin typeface="Century Gothic"/>
                <a:ea typeface="Yu Gothic"/>
              </a:rPr>
              <a:t>（出所）特許データベース Cyber patent desc（2026-06-14）</a:t>
            </a:r>
          </a:p>
        </p:txBody>
      </p:sp>
      <p:sp>
        <p:nvSpPr>
          <p:cNvPr id="9" name="TextBox 8"/>
          <p:cNvSpPr txBox="1"/>
          <p:nvPr/>
        </p:nvSpPr>
        <p:spPr>
          <a:xfrm>
            <a:off x="11384280" y="6419088"/>
            <a:ext cx="502920" cy="228600"/>
          </a:xfrm>
          <a:prstGeom prst="rect">
            <a:avLst/>
          </a:prstGeom>
          <a:noFill/>
          <a:effectLst/>
        </p:spPr>
        <p:txBody>
          <a:bodyPr wrap="none">
            <a:spAutoFit/>
          </a:bodyPr>
          <a:lstStyle/>
          <a:p>
            <a:pPr eaLnBrk="1" hangingPunct="1" algn="r"/>
            <a:r>
              <a:rPr sz="1000" b="0" lang="ja-JP" altLang="en-US">
                <a:solidFill>
                  <a:srgbClr val="686868"/>
                </a:solidFill>
                <a:latin typeface="Century Gothic"/>
                <a:ea typeface="Yu Gothic"/>
              </a:rPr>
              <a:t>20</a:t>
            </a:r>
          </a:p>
        </p:txBody>
      </p:sp>
      <p:cxnSp>
        <p:nvCxnSpPr>
          <p:cNvPr id="10" name="Connector 9"/>
          <p:cNvCxnSpPr/>
          <p:nvPr/>
        </p:nvCxnSpPr>
        <p:spPr>
          <a:xfrm>
            <a:off x="11859767" y="128016"/>
            <a:ext cx="201169" cy="0"/>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11" name="Connector 10"/>
          <p:cNvCxnSpPr/>
          <p:nvPr/>
        </p:nvCxnSpPr>
        <p:spPr>
          <a:xfrm>
            <a:off x="12060936" y="128016"/>
            <a:ext cx="0" cy="201168"/>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12" name="Connector 11"/>
          <p:cNvCxnSpPr/>
          <p:nvPr/>
        </p:nvCxnSpPr>
        <p:spPr>
          <a:xfrm>
            <a:off x="128016" y="6729984"/>
            <a:ext cx="201168" cy="0"/>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13" name="Connector 12"/>
          <p:cNvCxnSpPr/>
          <p:nvPr/>
        </p:nvCxnSpPr>
        <p:spPr>
          <a:xfrm>
            <a:off x="128016" y="6528816"/>
            <a:ext cx="0" cy="201168"/>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22960" y="521208"/>
            <a:ext cx="365760" cy="1270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22960" y="630936"/>
            <a:ext cx="10725912" cy="256032"/>
          </a:xfrm>
          <a:prstGeom prst="rect">
            <a:avLst/>
          </a:prstGeom>
          <a:noFill/>
          <a:effectLst/>
        </p:spPr>
        <p:txBody>
          <a:bodyPr wrap="none">
            <a:spAutoFit/>
          </a:bodyPr>
          <a:lstStyle/>
          <a:p>
            <a:pPr eaLnBrk="1" hangingPunct="1"/>
            <a:r>
              <a:rPr sz="1000" b="1" lang="ja-JP" altLang="en-US">
                <a:solidFill>
                  <a:srgbClr val="C51212"/>
                </a:solidFill>
                <a:latin typeface="Yu Mincho"/>
                <a:ea typeface="Yu Mincho"/>
              </a:rPr>
              <a:t>代表特許 — 旧期/基盤</a:t>
            </a:r>
          </a:p>
        </p:txBody>
      </p:sp>
      <p:sp>
        <p:nvSpPr>
          <p:cNvPr id="4" name="TextBox 3"/>
          <p:cNvSpPr txBox="1"/>
          <p:nvPr/>
        </p:nvSpPr>
        <p:spPr>
          <a:xfrm>
            <a:off x="822960" y="905256"/>
            <a:ext cx="10725912" cy="841248"/>
          </a:xfrm>
          <a:prstGeom prst="rect">
            <a:avLst/>
          </a:prstGeom>
          <a:noFill/>
          <a:effectLst/>
        </p:spPr>
        <p:txBody>
          <a:bodyPr wrap="square">
            <a:noAutofit/>
          </a:bodyPr>
          <a:lstStyle/>
          <a:p>
            <a:pPr eaLnBrk="1" hangingPunct="1">
              <a:lnSpc>
                <a:spcPct val="118000"/>
              </a:lnSpc>
            </a:pPr>
            <a:r>
              <a:rPr b="1" sz="2300" lang="ja-JP" altLang="en-US">
                <a:solidFill>
                  <a:srgbClr val="111111"/>
                </a:solidFill>
                <a:latin typeface="Yu Mincho"/>
                <a:ea typeface="Yu Mincho"/>
              </a:rPr>
              <a:t>代表特許①：旧期の基盤特許 ～自社廃材の高機能再生（PC/ABS筐体系）</a:t>
            </a:r>
          </a:p>
        </p:txBody>
      </p:sp>
      <p:sp>
        <p:nvSpPr>
          <p:cNvPr id="5" name="Rectangle 4"/>
          <p:cNvSpPr/>
          <p:nvPr/>
        </p:nvSpPr>
        <p:spPr>
          <a:xfrm>
            <a:off x="822960" y="1801368"/>
            <a:ext cx="10725912" cy="822959"/>
          </a:xfrm>
          <a:prstGeom prst="rect">
            <a:avLst/>
          </a:prstGeom>
          <a:solidFill>
            <a:srgbClr val="F6F7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822960" y="1801368"/>
            <a:ext cx="36576" cy="822959"/>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960120" y="1874520"/>
            <a:ext cx="10451592" cy="676655"/>
          </a:xfrm>
          <a:prstGeom prst="rect">
            <a:avLst/>
          </a:prstGeom>
          <a:noFill/>
          <a:effectLst/>
        </p:spPr>
        <p:txBody>
          <a:bodyPr wrap="square">
            <a:noAutofit/>
          </a:bodyPr>
          <a:lstStyle/>
          <a:p>
            <a:pPr eaLnBrk="1" hangingPunct="1">
              <a:lnSpc>
                <a:spcPct val="150000"/>
              </a:lnSpc>
            </a:pPr>
            <a:r>
              <a:rPr sz="1500" b="1" lang="ja-JP" altLang="en-US">
                <a:solidFill>
                  <a:srgbClr val="C51212"/>
                </a:solidFill>
                <a:latin typeface="Century Gothic"/>
                <a:ea typeface="Yu Gothic"/>
              </a:rPr>
              <a:t>■ </a:t>
            </a:r>
            <a:r>
              <a:rPr sz="1500" lang="ja-JP" altLang="en-US">
                <a:solidFill>
                  <a:srgbClr val="111111"/>
                </a:solidFill>
                <a:latin typeface="Century Gothic"/>
                <a:ea typeface="Yu Gothic"/>
              </a:rPr>
              <a:t>2000年代は耐久財筐体の再生が中心。難燃性・耐衝撃性を保ちつつ廃材を戻す『垂直統合型』の技術。</a:t>
            </a:r>
          </a:p>
        </p:txBody>
      </p:sp>
      <p:sp>
        <p:nvSpPr>
          <p:cNvPr id="8" name="Rectangle 7"/>
          <p:cNvSpPr/>
          <p:nvPr/>
        </p:nvSpPr>
        <p:spPr>
          <a:xfrm>
            <a:off x="822960" y="2715768"/>
            <a:ext cx="10725912" cy="1051560"/>
          </a:xfrm>
          <a:prstGeom prst="rect">
            <a:avLst/>
          </a:prstGeom>
          <a:solidFill>
            <a:srgbClr val="F6F7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87552" y="2788920"/>
            <a:ext cx="10396728" cy="292608"/>
          </a:xfrm>
          <a:prstGeom prst="rect">
            <a:avLst/>
          </a:prstGeom>
          <a:noFill/>
          <a:effectLst/>
        </p:spPr>
        <p:txBody>
          <a:bodyPr wrap="none">
            <a:spAutoFit/>
          </a:bodyPr>
          <a:lstStyle/>
          <a:p>
            <a:r>
              <a:rPr sz="1200" b="1" lang="ja-JP" altLang="en-US">
                <a:solidFill>
                  <a:srgbClr val="C51212"/>
                </a:solidFill>
                <a:latin typeface="Century Gothic"/>
                <a:ea typeface="Yu Gothic"/>
              </a:rPr>
              <a:t>特開2004-238613  </a:t>
            </a:r>
            <a:r>
              <a:rPr sz="1200" b="1" lang="ja-JP" altLang="en-US">
                <a:solidFill>
                  <a:srgbClr val="111111"/>
                </a:solidFill>
                <a:latin typeface="Century Gothic"/>
                <a:ea typeface="Yu Gothic"/>
              </a:rPr>
              <a:t>再生樹脂組成物およびその成形品、製造方法、再利用方法</a:t>
            </a:r>
            <a:r>
              <a:rPr sz="1100" lang="ja-JP" altLang="en-US">
                <a:solidFill>
                  <a:srgbClr val="686868"/>
                </a:solidFill>
                <a:latin typeface="Century Gothic"/>
                <a:ea typeface="Yu Gothic"/>
              </a:rPr>
              <a:t>　（帝人化成）</a:t>
            </a:r>
          </a:p>
        </p:txBody>
      </p:sp>
      <p:sp>
        <p:nvSpPr>
          <p:cNvPr id="10" name="TextBox 9"/>
          <p:cNvSpPr txBox="1"/>
          <p:nvPr/>
        </p:nvSpPr>
        <p:spPr>
          <a:xfrm>
            <a:off x="987552" y="3081528"/>
            <a:ext cx="10396728" cy="630936"/>
          </a:xfrm>
          <a:prstGeom prst="rect">
            <a:avLst/>
          </a:prstGeom>
          <a:noFill/>
          <a:effectLst/>
        </p:spPr>
        <p:txBody>
          <a:bodyPr wrap="square">
            <a:noAutofit/>
          </a:bodyPr>
          <a:lstStyle/>
          <a:p>
            <a:pPr eaLnBrk="1" hangingPunct="1">
              <a:lnSpc>
                <a:spcPct val="130000"/>
              </a:lnSpc>
            </a:pPr>
            <a:r>
              <a:rPr sz="1100" b="0" lang="ja-JP" altLang="en-US">
                <a:solidFill>
                  <a:srgbClr val="111111"/>
                </a:solidFill>
                <a:latin typeface="Century Gothic"/>
                <a:ea typeface="Yu Gothic"/>
              </a:rPr>
              <a:t>硬化被膜付きPC成形品の廃棄物を、難燃性・機械特性・外観を保ったままOA機器筐体用途で再利用。旧勢力の垂直統合型リサイクルの典型。</a:t>
            </a:r>
          </a:p>
        </p:txBody>
      </p:sp>
      <p:sp>
        <p:nvSpPr>
          <p:cNvPr id="11" name="Rectangle 10"/>
          <p:cNvSpPr/>
          <p:nvPr/>
        </p:nvSpPr>
        <p:spPr>
          <a:xfrm>
            <a:off x="822960" y="3895344"/>
            <a:ext cx="10725912" cy="1051560"/>
          </a:xfrm>
          <a:prstGeom prst="rect">
            <a:avLst/>
          </a:prstGeom>
          <a:solidFill>
            <a:srgbClr val="F6F7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987552" y="3968496"/>
            <a:ext cx="10396728" cy="292608"/>
          </a:xfrm>
          <a:prstGeom prst="rect">
            <a:avLst/>
          </a:prstGeom>
          <a:noFill/>
          <a:effectLst/>
        </p:spPr>
        <p:txBody>
          <a:bodyPr wrap="none">
            <a:spAutoFit/>
          </a:bodyPr>
          <a:lstStyle/>
          <a:p>
            <a:r>
              <a:rPr sz="1200" b="1" lang="ja-JP" altLang="en-US">
                <a:solidFill>
                  <a:srgbClr val="C51212"/>
                </a:solidFill>
                <a:latin typeface="Century Gothic"/>
                <a:ea typeface="Yu Gothic"/>
              </a:rPr>
              <a:t>特開2010-202782 / 特許5278046  </a:t>
            </a:r>
            <a:r>
              <a:rPr sz="1200" b="1" lang="ja-JP" altLang="en-US">
                <a:solidFill>
                  <a:srgbClr val="111111"/>
                </a:solidFill>
                <a:latin typeface="Century Gothic"/>
                <a:ea typeface="Yu Gothic"/>
              </a:rPr>
              <a:t>再生樹脂組成物及びその製造方法、並びに樹脂成形体</a:t>
            </a:r>
            <a:r>
              <a:rPr sz="1100" lang="ja-JP" altLang="en-US">
                <a:solidFill>
                  <a:srgbClr val="686868"/>
                </a:solidFill>
                <a:latin typeface="Century Gothic"/>
                <a:ea typeface="Yu Gothic"/>
              </a:rPr>
              <a:t>　（富士ゼロックス）</a:t>
            </a:r>
          </a:p>
        </p:txBody>
      </p:sp>
      <p:sp>
        <p:nvSpPr>
          <p:cNvPr id="13" name="TextBox 12"/>
          <p:cNvSpPr txBox="1"/>
          <p:nvPr/>
        </p:nvSpPr>
        <p:spPr>
          <a:xfrm>
            <a:off x="987552" y="4261104"/>
            <a:ext cx="10396728" cy="630936"/>
          </a:xfrm>
          <a:prstGeom prst="rect">
            <a:avLst/>
          </a:prstGeom>
          <a:noFill/>
          <a:effectLst/>
        </p:spPr>
        <p:txBody>
          <a:bodyPr wrap="square">
            <a:noAutofit/>
          </a:bodyPr>
          <a:lstStyle/>
          <a:p>
            <a:pPr eaLnBrk="1" hangingPunct="1">
              <a:lnSpc>
                <a:spcPct val="130000"/>
              </a:lnSpc>
            </a:pPr>
            <a:r>
              <a:rPr sz="1100" b="0" lang="ja-JP" altLang="en-US">
                <a:solidFill>
                  <a:srgbClr val="111111"/>
                </a:solidFill>
                <a:latin typeface="Century Gothic"/>
                <a:ea typeface="Yu Gothic"/>
              </a:rPr>
              <a:t>回収PC/スチレンアロイに複合ゴムを配合し、難燃性と耐衝撃性を両立。事務機の自社回収材を高機能再生する設計。</a:t>
            </a:r>
          </a:p>
        </p:txBody>
      </p:sp>
      <p:sp>
        <p:nvSpPr>
          <p:cNvPr id="14" name="Rectangle 13"/>
          <p:cNvSpPr/>
          <p:nvPr/>
        </p:nvSpPr>
        <p:spPr>
          <a:xfrm>
            <a:off x="822960" y="5074920"/>
            <a:ext cx="10725912" cy="1051560"/>
          </a:xfrm>
          <a:prstGeom prst="rect">
            <a:avLst/>
          </a:prstGeom>
          <a:solidFill>
            <a:srgbClr val="F6F7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987552" y="5148072"/>
            <a:ext cx="10396728" cy="292608"/>
          </a:xfrm>
          <a:prstGeom prst="rect">
            <a:avLst/>
          </a:prstGeom>
          <a:noFill/>
          <a:effectLst/>
        </p:spPr>
        <p:txBody>
          <a:bodyPr wrap="none">
            <a:spAutoFit/>
          </a:bodyPr>
          <a:lstStyle/>
          <a:p>
            <a:r>
              <a:rPr sz="1200" b="1" lang="ja-JP" altLang="en-US">
                <a:solidFill>
                  <a:srgbClr val="C51212"/>
                </a:solidFill>
                <a:latin typeface="Century Gothic"/>
                <a:ea typeface="Yu Gothic"/>
              </a:rPr>
              <a:t>特開2010-106270  </a:t>
            </a:r>
            <a:r>
              <a:rPr sz="1200" b="1" lang="ja-JP" altLang="en-US">
                <a:solidFill>
                  <a:srgbClr val="111111"/>
                </a:solidFill>
                <a:latin typeface="Century Gothic"/>
                <a:ea typeface="Yu Gothic"/>
              </a:rPr>
              <a:t>樹脂組成物及び発泡成形体</a:t>
            </a:r>
            <a:r>
              <a:rPr sz="1100" lang="ja-JP" altLang="en-US">
                <a:solidFill>
                  <a:srgbClr val="686868"/>
                </a:solidFill>
                <a:latin typeface="Century Gothic"/>
                <a:ea typeface="Yu Gothic"/>
              </a:rPr>
              <a:t>　（ソニー・昭和電工ほか）</a:t>
            </a:r>
          </a:p>
        </p:txBody>
      </p:sp>
      <p:sp>
        <p:nvSpPr>
          <p:cNvPr id="16" name="TextBox 15"/>
          <p:cNvSpPr txBox="1"/>
          <p:nvPr/>
        </p:nvSpPr>
        <p:spPr>
          <a:xfrm>
            <a:off x="987552" y="5440680"/>
            <a:ext cx="10396728" cy="630936"/>
          </a:xfrm>
          <a:prstGeom prst="rect">
            <a:avLst/>
          </a:prstGeom>
          <a:noFill/>
          <a:effectLst/>
        </p:spPr>
        <p:txBody>
          <a:bodyPr wrap="square">
            <a:noAutofit/>
          </a:bodyPr>
          <a:lstStyle/>
          <a:p>
            <a:pPr eaLnBrk="1" hangingPunct="1">
              <a:lnSpc>
                <a:spcPct val="130000"/>
              </a:lnSpc>
            </a:pPr>
            <a:r>
              <a:rPr sz="1100" b="0" lang="ja-JP" altLang="en-US">
                <a:solidFill>
                  <a:srgbClr val="111111"/>
                </a:solidFill>
                <a:latin typeface="Century Gothic"/>
                <a:ea typeface="Yu Gothic"/>
              </a:rPr>
              <a:t>貝殻粉砕物等の充填材＋熱可塑性樹脂で光沢・寸法安定性を確保。家電メーカー主導の機能性フィラー活用例。</a:t>
            </a:r>
          </a:p>
        </p:txBody>
      </p:sp>
      <p:sp>
        <p:nvSpPr>
          <p:cNvPr id="17" name="TextBox 16"/>
          <p:cNvSpPr txBox="1"/>
          <p:nvPr/>
        </p:nvSpPr>
        <p:spPr>
          <a:xfrm>
            <a:off x="457200" y="6053328"/>
            <a:ext cx="11247120" cy="320040"/>
          </a:xfrm>
          <a:prstGeom prst="rect">
            <a:avLst/>
          </a:prstGeom>
          <a:noFill/>
          <a:effectLst/>
        </p:spPr>
        <p:txBody>
          <a:bodyPr wrap="square">
            <a:noAutofit/>
          </a:bodyPr>
          <a:lstStyle/>
          <a:p>
            <a:pPr eaLnBrk="1" hangingPunct="1"/>
            <a:r>
              <a:rPr sz="900" b="0" lang="ja-JP" altLang="en-US">
                <a:solidFill>
                  <a:srgbClr val="686868"/>
                </a:solidFill>
                <a:latin typeface="Century Gothic"/>
                <a:ea typeface="Yu Gothic"/>
              </a:rPr>
              <a:t>（出所）特許データベース Cyber patent desc（2026-06-14）</a:t>
            </a:r>
          </a:p>
        </p:txBody>
      </p:sp>
      <p:sp>
        <p:nvSpPr>
          <p:cNvPr id="18" name="TextBox 17"/>
          <p:cNvSpPr txBox="1"/>
          <p:nvPr/>
        </p:nvSpPr>
        <p:spPr>
          <a:xfrm>
            <a:off x="11384280" y="6419088"/>
            <a:ext cx="502920" cy="228600"/>
          </a:xfrm>
          <a:prstGeom prst="rect">
            <a:avLst/>
          </a:prstGeom>
          <a:noFill/>
          <a:effectLst/>
        </p:spPr>
        <p:txBody>
          <a:bodyPr wrap="none">
            <a:spAutoFit/>
          </a:bodyPr>
          <a:lstStyle/>
          <a:p>
            <a:pPr eaLnBrk="1" hangingPunct="1" algn="r"/>
            <a:r>
              <a:rPr sz="1000" b="0" lang="ja-JP" altLang="en-US">
                <a:solidFill>
                  <a:srgbClr val="686868"/>
                </a:solidFill>
                <a:latin typeface="Century Gothic"/>
                <a:ea typeface="Yu Gothic"/>
              </a:rPr>
              <a:t>21</a:t>
            </a:r>
          </a:p>
        </p:txBody>
      </p:sp>
      <p:cxnSp>
        <p:nvCxnSpPr>
          <p:cNvPr id="19" name="Connector 18"/>
          <p:cNvCxnSpPr/>
          <p:nvPr/>
        </p:nvCxnSpPr>
        <p:spPr>
          <a:xfrm>
            <a:off x="11859767" y="128016"/>
            <a:ext cx="201169" cy="0"/>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20" name="Connector 19"/>
          <p:cNvCxnSpPr/>
          <p:nvPr/>
        </p:nvCxnSpPr>
        <p:spPr>
          <a:xfrm>
            <a:off x="12060936" y="128016"/>
            <a:ext cx="0" cy="201168"/>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21" name="Connector 20"/>
          <p:cNvCxnSpPr/>
          <p:nvPr/>
        </p:nvCxnSpPr>
        <p:spPr>
          <a:xfrm>
            <a:off x="128016" y="6729984"/>
            <a:ext cx="201168" cy="0"/>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a:off x="128016" y="6528816"/>
            <a:ext cx="0" cy="201168"/>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22960" y="521208"/>
            <a:ext cx="365760" cy="1270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22960" y="630936"/>
            <a:ext cx="10725912" cy="256032"/>
          </a:xfrm>
          <a:prstGeom prst="rect">
            <a:avLst/>
          </a:prstGeom>
          <a:noFill/>
          <a:effectLst/>
        </p:spPr>
        <p:txBody>
          <a:bodyPr wrap="none">
            <a:spAutoFit/>
          </a:bodyPr>
          <a:lstStyle/>
          <a:p>
            <a:pPr eaLnBrk="1" hangingPunct="1"/>
            <a:r>
              <a:rPr sz="1000" b="1" lang="ja-JP" altLang="en-US">
                <a:solidFill>
                  <a:srgbClr val="C51212"/>
                </a:solidFill>
                <a:latin typeface="Yu Mincho"/>
                <a:ea typeface="Yu Mincho"/>
              </a:rPr>
              <a:t>代表特許 — 新期/急進</a:t>
            </a:r>
          </a:p>
        </p:txBody>
      </p:sp>
      <p:sp>
        <p:nvSpPr>
          <p:cNvPr id="4" name="TextBox 3"/>
          <p:cNvSpPr txBox="1"/>
          <p:nvPr/>
        </p:nvSpPr>
        <p:spPr>
          <a:xfrm>
            <a:off x="822960" y="905256"/>
            <a:ext cx="10725912" cy="841248"/>
          </a:xfrm>
          <a:prstGeom prst="rect">
            <a:avLst/>
          </a:prstGeom>
          <a:noFill/>
          <a:effectLst/>
        </p:spPr>
        <p:txBody>
          <a:bodyPr wrap="square">
            <a:noAutofit/>
          </a:bodyPr>
          <a:lstStyle/>
          <a:p>
            <a:pPr eaLnBrk="1" hangingPunct="1">
              <a:lnSpc>
                <a:spcPct val="118000"/>
              </a:lnSpc>
            </a:pPr>
            <a:r>
              <a:rPr b="1" sz="2300" lang="ja-JP" altLang="en-US">
                <a:solidFill>
                  <a:srgbClr val="111111"/>
                </a:solidFill>
                <a:latin typeface="Yu Mincho"/>
                <a:ea typeface="Yu Mincho"/>
              </a:rPr>
              <a:t>代表特許②：新期の急進特許 ～市中回収材の素材化と解重合への分岐</a:t>
            </a:r>
          </a:p>
        </p:txBody>
      </p:sp>
      <p:sp>
        <p:nvSpPr>
          <p:cNvPr id="5" name="Rectangle 4"/>
          <p:cNvSpPr/>
          <p:nvPr/>
        </p:nvSpPr>
        <p:spPr>
          <a:xfrm>
            <a:off x="822960" y="1801368"/>
            <a:ext cx="10725912" cy="822959"/>
          </a:xfrm>
          <a:prstGeom prst="rect">
            <a:avLst/>
          </a:prstGeom>
          <a:solidFill>
            <a:srgbClr val="F6F7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822960" y="1801368"/>
            <a:ext cx="36576" cy="822959"/>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960120" y="1874520"/>
            <a:ext cx="10451592" cy="676655"/>
          </a:xfrm>
          <a:prstGeom prst="rect">
            <a:avLst/>
          </a:prstGeom>
          <a:noFill/>
          <a:effectLst/>
        </p:spPr>
        <p:txBody>
          <a:bodyPr wrap="square">
            <a:noAutofit/>
          </a:bodyPr>
          <a:lstStyle/>
          <a:p>
            <a:pPr eaLnBrk="1" hangingPunct="1">
              <a:lnSpc>
                <a:spcPct val="150000"/>
              </a:lnSpc>
            </a:pPr>
            <a:r>
              <a:rPr sz="1500" b="1" lang="ja-JP" altLang="en-US">
                <a:solidFill>
                  <a:srgbClr val="C51212"/>
                </a:solidFill>
                <a:latin typeface="Century Gothic"/>
                <a:ea typeface="Yu Gothic"/>
              </a:rPr>
              <a:t>■ </a:t>
            </a:r>
            <a:r>
              <a:rPr sz="1500" lang="ja-JP" altLang="en-US">
                <a:solidFill>
                  <a:srgbClr val="111111"/>
                </a:solidFill>
                <a:latin typeface="Century Gothic"/>
                <a:ea typeface="Yu Gothic"/>
              </a:rPr>
              <a:t>直近は『市中回収材を素材として外販』する水平型と、東レの</a:t>
            </a:r>
            <a:r>
              <a:rPr b="1" sz="1500" lang="ja-JP" altLang="en-US">
                <a:solidFill>
                  <a:srgbClr val="111111"/>
                </a:solidFill>
                <a:latin typeface="Century Gothic"/>
                <a:ea typeface="Yu Gothic"/>
              </a:rPr>
              <a:t>化学的リサイクル(解重合)</a:t>
            </a:r>
            <a:r>
              <a:rPr sz="1500" lang="ja-JP" altLang="en-US">
                <a:solidFill>
                  <a:srgbClr val="111111"/>
                </a:solidFill>
                <a:latin typeface="Century Gothic"/>
                <a:ea typeface="Yu Gothic"/>
              </a:rPr>
              <a:t>という質的転換が並走。</a:t>
            </a:r>
          </a:p>
        </p:txBody>
      </p:sp>
      <p:sp>
        <p:nvSpPr>
          <p:cNvPr id="8" name="Rectangle 7"/>
          <p:cNvSpPr/>
          <p:nvPr/>
        </p:nvSpPr>
        <p:spPr>
          <a:xfrm>
            <a:off x="822960" y="2715768"/>
            <a:ext cx="10725912" cy="1051560"/>
          </a:xfrm>
          <a:prstGeom prst="rect">
            <a:avLst/>
          </a:prstGeom>
          <a:solidFill>
            <a:srgbClr val="F6F7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87552" y="2788920"/>
            <a:ext cx="10396728" cy="292608"/>
          </a:xfrm>
          <a:prstGeom prst="rect">
            <a:avLst/>
          </a:prstGeom>
          <a:noFill/>
          <a:effectLst/>
        </p:spPr>
        <p:txBody>
          <a:bodyPr wrap="none">
            <a:spAutoFit/>
          </a:bodyPr>
          <a:lstStyle/>
          <a:p>
            <a:r>
              <a:rPr sz="1200" b="1" lang="ja-JP" altLang="en-US">
                <a:solidFill>
                  <a:srgbClr val="C51212"/>
                </a:solidFill>
                <a:latin typeface="Century Gothic"/>
                <a:ea typeface="Yu Gothic"/>
              </a:rPr>
              <a:t>WO25-126806  </a:t>
            </a:r>
            <a:r>
              <a:rPr sz="1200" b="1" lang="ja-JP" altLang="en-US">
                <a:solidFill>
                  <a:srgbClr val="111111"/>
                </a:solidFill>
                <a:latin typeface="Century Gothic"/>
                <a:ea typeface="Yu Gothic"/>
              </a:rPr>
              <a:t>樹脂組成物・成形体・樹脂組成物ペレットの製造方法・分解回収方法・リサイクル材の製造方法</a:t>
            </a:r>
            <a:r>
              <a:rPr sz="1100" lang="ja-JP" altLang="en-US">
                <a:solidFill>
                  <a:srgbClr val="686868"/>
                </a:solidFill>
                <a:latin typeface="Century Gothic"/>
                <a:ea typeface="Yu Gothic"/>
              </a:rPr>
              <a:t>　（住友化学）</a:t>
            </a:r>
          </a:p>
        </p:txBody>
      </p:sp>
      <p:sp>
        <p:nvSpPr>
          <p:cNvPr id="10" name="TextBox 9"/>
          <p:cNvSpPr txBox="1"/>
          <p:nvPr/>
        </p:nvSpPr>
        <p:spPr>
          <a:xfrm>
            <a:off x="987552" y="3081528"/>
            <a:ext cx="10396728" cy="630936"/>
          </a:xfrm>
          <a:prstGeom prst="rect">
            <a:avLst/>
          </a:prstGeom>
          <a:noFill/>
          <a:effectLst/>
        </p:spPr>
        <p:txBody>
          <a:bodyPr wrap="square">
            <a:noAutofit/>
          </a:bodyPr>
          <a:lstStyle/>
          <a:p>
            <a:pPr eaLnBrk="1" hangingPunct="1">
              <a:lnSpc>
                <a:spcPct val="130000"/>
              </a:lnSpc>
            </a:pPr>
            <a:r>
              <a:rPr sz="1100" b="0" lang="ja-JP" altLang="en-US">
                <a:solidFill>
                  <a:srgbClr val="111111"/>
                </a:solidFill>
                <a:latin typeface="Century Gothic"/>
                <a:ea typeface="Yu Gothic"/>
              </a:rPr>
              <a:t>透明性と耐チッピング性を両立する組成物に加え、ペレット製造と分解回収まで一気通貫で権利化。素材化＋循環設計の新潮流。</a:t>
            </a:r>
          </a:p>
        </p:txBody>
      </p:sp>
      <p:sp>
        <p:nvSpPr>
          <p:cNvPr id="11" name="Rectangle 10"/>
          <p:cNvSpPr/>
          <p:nvPr/>
        </p:nvSpPr>
        <p:spPr>
          <a:xfrm>
            <a:off x="822960" y="3895344"/>
            <a:ext cx="10725912" cy="1051560"/>
          </a:xfrm>
          <a:prstGeom prst="rect">
            <a:avLst/>
          </a:prstGeom>
          <a:solidFill>
            <a:srgbClr val="F6F7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987552" y="3968496"/>
            <a:ext cx="10396728" cy="292608"/>
          </a:xfrm>
          <a:prstGeom prst="rect">
            <a:avLst/>
          </a:prstGeom>
          <a:noFill/>
          <a:effectLst/>
        </p:spPr>
        <p:txBody>
          <a:bodyPr wrap="none">
            <a:spAutoFit/>
          </a:bodyPr>
          <a:lstStyle/>
          <a:p>
            <a:r>
              <a:rPr sz="1200" b="1" lang="ja-JP" altLang="en-US">
                <a:solidFill>
                  <a:srgbClr val="C51212"/>
                </a:solidFill>
                <a:latin typeface="Century Gothic"/>
                <a:ea typeface="Yu Gothic"/>
              </a:rPr>
              <a:t>特表2025-540089  </a:t>
            </a:r>
            <a:r>
              <a:rPr sz="1200" b="1" lang="ja-JP" altLang="en-US">
                <a:solidFill>
                  <a:srgbClr val="111111"/>
                </a:solidFill>
                <a:latin typeface="Century Gothic"/>
                <a:ea typeface="Yu Gothic"/>
              </a:rPr>
              <a:t>再生樹脂組成物</a:t>
            </a:r>
            <a:r>
              <a:rPr sz="1100" lang="ja-JP" altLang="en-US">
                <a:solidFill>
                  <a:srgbClr val="686868"/>
                </a:solidFill>
                <a:latin typeface="Century Gothic"/>
                <a:ea typeface="Yu Gothic"/>
              </a:rPr>
              <a:t>　（LG化学）</a:t>
            </a:r>
          </a:p>
        </p:txBody>
      </p:sp>
      <p:sp>
        <p:nvSpPr>
          <p:cNvPr id="13" name="TextBox 12"/>
          <p:cNvSpPr txBox="1"/>
          <p:nvPr/>
        </p:nvSpPr>
        <p:spPr>
          <a:xfrm>
            <a:off x="987552" y="4261104"/>
            <a:ext cx="10396728" cy="630936"/>
          </a:xfrm>
          <a:prstGeom prst="rect">
            <a:avLst/>
          </a:prstGeom>
          <a:noFill/>
          <a:effectLst/>
        </p:spPr>
        <p:txBody>
          <a:bodyPr wrap="square">
            <a:noAutofit/>
          </a:bodyPr>
          <a:lstStyle/>
          <a:p>
            <a:pPr eaLnBrk="1" hangingPunct="1">
              <a:lnSpc>
                <a:spcPct val="130000"/>
              </a:lnSpc>
            </a:pPr>
            <a:r>
              <a:rPr sz="1100" b="0" lang="ja-JP" altLang="en-US">
                <a:solidFill>
                  <a:srgbClr val="111111"/>
                </a:solidFill>
                <a:latin typeface="Century Gothic"/>
                <a:ea typeface="Yu Gothic"/>
              </a:rPr>
              <a:t>再生グラフト樹脂の熱変形温度・引張強度を数値規定し、再生ABSの物性を担保。海外勢の高機能再生への本格参入。</a:t>
            </a:r>
          </a:p>
        </p:txBody>
      </p:sp>
      <p:sp>
        <p:nvSpPr>
          <p:cNvPr id="14" name="Rectangle 13"/>
          <p:cNvSpPr/>
          <p:nvPr/>
        </p:nvSpPr>
        <p:spPr>
          <a:xfrm>
            <a:off x="822960" y="5074920"/>
            <a:ext cx="10725912" cy="1051560"/>
          </a:xfrm>
          <a:prstGeom prst="rect">
            <a:avLst/>
          </a:prstGeom>
          <a:solidFill>
            <a:srgbClr val="F6F7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987552" y="5148072"/>
            <a:ext cx="10396728" cy="292608"/>
          </a:xfrm>
          <a:prstGeom prst="rect">
            <a:avLst/>
          </a:prstGeom>
          <a:noFill/>
          <a:effectLst/>
        </p:spPr>
        <p:txBody>
          <a:bodyPr wrap="none">
            <a:spAutoFit/>
          </a:bodyPr>
          <a:lstStyle/>
          <a:p>
            <a:r>
              <a:rPr sz="1200" b="1" lang="ja-JP" altLang="en-US">
                <a:solidFill>
                  <a:srgbClr val="C51212"/>
                </a:solidFill>
                <a:latin typeface="Century Gothic"/>
                <a:ea typeface="Yu Gothic"/>
              </a:rPr>
              <a:t>特開2026-52764  </a:t>
            </a:r>
            <a:r>
              <a:rPr sz="1200" b="1" lang="ja-JP" altLang="en-US">
                <a:solidFill>
                  <a:srgbClr val="111111"/>
                </a:solidFill>
                <a:latin typeface="Century Gothic"/>
                <a:ea typeface="Yu Gothic"/>
              </a:rPr>
              <a:t>ポリエステル樹脂組成物の解重合方法</a:t>
            </a:r>
            <a:r>
              <a:rPr sz="1100" lang="ja-JP" altLang="en-US">
                <a:solidFill>
                  <a:srgbClr val="686868"/>
                </a:solidFill>
                <a:latin typeface="Century Gothic"/>
                <a:ea typeface="Yu Gothic"/>
              </a:rPr>
              <a:t>　（東レ）</a:t>
            </a:r>
          </a:p>
        </p:txBody>
      </p:sp>
      <p:sp>
        <p:nvSpPr>
          <p:cNvPr id="16" name="TextBox 15"/>
          <p:cNvSpPr txBox="1"/>
          <p:nvPr/>
        </p:nvSpPr>
        <p:spPr>
          <a:xfrm>
            <a:off x="987552" y="5440680"/>
            <a:ext cx="10396728" cy="630936"/>
          </a:xfrm>
          <a:prstGeom prst="rect">
            <a:avLst/>
          </a:prstGeom>
          <a:noFill/>
          <a:effectLst/>
        </p:spPr>
        <p:txBody>
          <a:bodyPr wrap="square">
            <a:noAutofit/>
          </a:bodyPr>
          <a:lstStyle/>
          <a:p>
            <a:pPr eaLnBrk="1" hangingPunct="1">
              <a:lnSpc>
                <a:spcPct val="130000"/>
              </a:lnSpc>
            </a:pPr>
            <a:r>
              <a:rPr sz="1100" b="0" lang="ja-JP" altLang="en-US">
                <a:solidFill>
                  <a:srgbClr val="111111"/>
                </a:solidFill>
                <a:latin typeface="Century Gothic"/>
                <a:ea typeface="Yu Gothic"/>
              </a:rPr>
              <a:t>配合技術ではなく解重合＝モノマーへ戻す化学的リサイクル。不純物問題を根本回避する次世代経路で、本命プレイヤーの軸足移動を示す。</a:t>
            </a:r>
          </a:p>
        </p:txBody>
      </p:sp>
      <p:sp>
        <p:nvSpPr>
          <p:cNvPr id="17" name="TextBox 16"/>
          <p:cNvSpPr txBox="1"/>
          <p:nvPr/>
        </p:nvSpPr>
        <p:spPr>
          <a:xfrm>
            <a:off x="457200" y="6053328"/>
            <a:ext cx="11247120" cy="320040"/>
          </a:xfrm>
          <a:prstGeom prst="rect">
            <a:avLst/>
          </a:prstGeom>
          <a:noFill/>
          <a:effectLst/>
        </p:spPr>
        <p:txBody>
          <a:bodyPr wrap="square">
            <a:noAutofit/>
          </a:bodyPr>
          <a:lstStyle/>
          <a:p>
            <a:pPr eaLnBrk="1" hangingPunct="1"/>
            <a:r>
              <a:rPr sz="900" b="0" lang="ja-JP" altLang="en-US">
                <a:solidFill>
                  <a:srgbClr val="686868"/>
                </a:solidFill>
                <a:latin typeface="Century Gothic"/>
                <a:ea typeface="Yu Gothic"/>
              </a:rPr>
              <a:t>（出所）特許データベース Cyber patent desc（2026-06-14）</a:t>
            </a:r>
          </a:p>
        </p:txBody>
      </p:sp>
      <p:sp>
        <p:nvSpPr>
          <p:cNvPr id="18" name="TextBox 17"/>
          <p:cNvSpPr txBox="1"/>
          <p:nvPr/>
        </p:nvSpPr>
        <p:spPr>
          <a:xfrm>
            <a:off x="11384280" y="6419088"/>
            <a:ext cx="502920" cy="228600"/>
          </a:xfrm>
          <a:prstGeom prst="rect">
            <a:avLst/>
          </a:prstGeom>
          <a:noFill/>
          <a:effectLst/>
        </p:spPr>
        <p:txBody>
          <a:bodyPr wrap="none">
            <a:spAutoFit/>
          </a:bodyPr>
          <a:lstStyle/>
          <a:p>
            <a:pPr eaLnBrk="1" hangingPunct="1" algn="r"/>
            <a:r>
              <a:rPr sz="1000" b="0" lang="ja-JP" altLang="en-US">
                <a:solidFill>
                  <a:srgbClr val="686868"/>
                </a:solidFill>
                <a:latin typeface="Century Gothic"/>
                <a:ea typeface="Yu Gothic"/>
              </a:rPr>
              <a:t>22</a:t>
            </a:r>
          </a:p>
        </p:txBody>
      </p:sp>
      <p:cxnSp>
        <p:nvCxnSpPr>
          <p:cNvPr id="19" name="Connector 18"/>
          <p:cNvCxnSpPr/>
          <p:nvPr/>
        </p:nvCxnSpPr>
        <p:spPr>
          <a:xfrm>
            <a:off x="11859767" y="128016"/>
            <a:ext cx="201169" cy="0"/>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20" name="Connector 19"/>
          <p:cNvCxnSpPr/>
          <p:nvPr/>
        </p:nvCxnSpPr>
        <p:spPr>
          <a:xfrm>
            <a:off x="12060936" y="128016"/>
            <a:ext cx="0" cy="201168"/>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21" name="Connector 20"/>
          <p:cNvCxnSpPr/>
          <p:nvPr/>
        </p:nvCxnSpPr>
        <p:spPr>
          <a:xfrm>
            <a:off x="128016" y="6729984"/>
            <a:ext cx="201168" cy="0"/>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a:off x="128016" y="6528816"/>
            <a:ext cx="0" cy="201168"/>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22960" y="521208"/>
            <a:ext cx="365760" cy="1270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22960" y="630936"/>
            <a:ext cx="10725912" cy="256032"/>
          </a:xfrm>
          <a:prstGeom prst="rect">
            <a:avLst/>
          </a:prstGeom>
          <a:noFill/>
          <a:effectLst/>
        </p:spPr>
        <p:txBody>
          <a:bodyPr wrap="none">
            <a:spAutoFit/>
          </a:bodyPr>
          <a:lstStyle/>
          <a:p>
            <a:pPr eaLnBrk="1" hangingPunct="1"/>
            <a:r>
              <a:rPr sz="1000" b="1" lang="ja-JP" altLang="en-US">
                <a:solidFill>
                  <a:srgbClr val="C51212"/>
                </a:solidFill>
                <a:latin typeface="Yu Mincho"/>
                <a:ea typeface="Yu Mincho"/>
              </a:rPr>
              <a:t>読んだ原文（要約抜粋）</a:t>
            </a:r>
          </a:p>
        </p:txBody>
      </p:sp>
      <p:sp>
        <p:nvSpPr>
          <p:cNvPr id="4" name="TextBox 3"/>
          <p:cNvSpPr txBox="1"/>
          <p:nvPr/>
        </p:nvSpPr>
        <p:spPr>
          <a:xfrm>
            <a:off x="822960" y="905256"/>
            <a:ext cx="10725912" cy="841248"/>
          </a:xfrm>
          <a:prstGeom prst="rect">
            <a:avLst/>
          </a:prstGeom>
          <a:noFill/>
          <a:effectLst/>
        </p:spPr>
        <p:txBody>
          <a:bodyPr wrap="square">
            <a:noAutofit/>
          </a:bodyPr>
          <a:lstStyle/>
          <a:p>
            <a:pPr eaLnBrk="1" hangingPunct="1">
              <a:lnSpc>
                <a:spcPct val="118000"/>
              </a:lnSpc>
            </a:pPr>
            <a:r>
              <a:rPr b="1" sz="2300" lang="ja-JP" altLang="en-US">
                <a:solidFill>
                  <a:srgbClr val="111111"/>
                </a:solidFill>
                <a:latin typeface="Yu Mincho"/>
                <a:ea typeface="Yu Mincho"/>
              </a:rPr>
              <a:t>原文エビデンス ～『再生材で従来同等の物性を出す』という共通課題</a:t>
            </a:r>
          </a:p>
        </p:txBody>
      </p:sp>
      <p:sp>
        <p:nvSpPr>
          <p:cNvPr id="5" name="Rectangle 4"/>
          <p:cNvSpPr/>
          <p:nvPr/>
        </p:nvSpPr>
        <p:spPr>
          <a:xfrm>
            <a:off x="822960" y="1801368"/>
            <a:ext cx="10725912" cy="822959"/>
          </a:xfrm>
          <a:prstGeom prst="rect">
            <a:avLst/>
          </a:prstGeom>
          <a:solidFill>
            <a:srgbClr val="F6F7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822960" y="1801368"/>
            <a:ext cx="36576" cy="822959"/>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960120" y="1874520"/>
            <a:ext cx="10451592" cy="676655"/>
          </a:xfrm>
          <a:prstGeom prst="rect">
            <a:avLst/>
          </a:prstGeom>
          <a:noFill/>
          <a:effectLst/>
        </p:spPr>
        <p:txBody>
          <a:bodyPr wrap="square">
            <a:noAutofit/>
          </a:bodyPr>
          <a:lstStyle/>
          <a:p>
            <a:pPr eaLnBrk="1" hangingPunct="1">
              <a:lnSpc>
                <a:spcPct val="150000"/>
              </a:lnSpc>
            </a:pPr>
            <a:r>
              <a:rPr sz="1500" b="1" lang="ja-JP" altLang="en-US">
                <a:solidFill>
                  <a:srgbClr val="C51212"/>
                </a:solidFill>
                <a:latin typeface="Century Gothic"/>
                <a:ea typeface="Yu Gothic"/>
              </a:rPr>
              <a:t>■ </a:t>
            </a:r>
            <a:r>
              <a:rPr sz="1500" lang="ja-JP" altLang="en-US">
                <a:solidFill>
                  <a:srgbClr val="111111"/>
                </a:solidFill>
                <a:latin typeface="Century Gothic"/>
                <a:ea typeface="Yu Gothic"/>
              </a:rPr>
              <a:t>新旧いずれも【課題】は再生材使用と物性維持の両立。解法が配合からプロセス・化学反応へ広がっている。</a:t>
            </a:r>
          </a:p>
        </p:txBody>
      </p:sp>
      <p:sp>
        <p:nvSpPr>
          <p:cNvPr id="8" name="Rectangle 7"/>
          <p:cNvSpPr/>
          <p:nvPr/>
        </p:nvSpPr>
        <p:spPr>
          <a:xfrm>
            <a:off x="822960" y="2715768"/>
            <a:ext cx="10725912" cy="1039368"/>
          </a:xfrm>
          <a:prstGeom prst="rect">
            <a:avLst/>
          </a:prstGeom>
          <a:solidFill>
            <a:srgbClr val="F6F7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822960" y="2715768"/>
            <a:ext cx="36576" cy="1039368"/>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987552" y="2770632"/>
            <a:ext cx="10396728" cy="274320"/>
          </a:xfrm>
          <a:prstGeom prst="rect">
            <a:avLst/>
          </a:prstGeom>
          <a:noFill/>
          <a:effectLst/>
        </p:spPr>
        <p:txBody>
          <a:bodyPr wrap="none">
            <a:spAutoFit/>
          </a:bodyPr>
          <a:lstStyle/>
          <a:p>
            <a:pPr eaLnBrk="1" hangingPunct="1"/>
            <a:r>
              <a:rPr sz="1150" b="1" lang="ja-JP" altLang="en-US">
                <a:solidFill>
                  <a:srgbClr val="C51212"/>
                </a:solidFill>
                <a:latin typeface="Century Gothic"/>
                <a:ea typeface="Yu Gothic"/>
              </a:rPr>
              <a:t>[特開2024-115085] 株式会社プライムポリマー — ポリエチレン系樹脂組成物および中空成形体</a:t>
            </a:r>
          </a:p>
        </p:txBody>
      </p:sp>
      <p:sp>
        <p:nvSpPr>
          <p:cNvPr id="11" name="TextBox 10"/>
          <p:cNvSpPr txBox="1"/>
          <p:nvPr/>
        </p:nvSpPr>
        <p:spPr>
          <a:xfrm>
            <a:off x="987552" y="3063240"/>
            <a:ext cx="10360152" cy="637032"/>
          </a:xfrm>
          <a:prstGeom prst="rect">
            <a:avLst/>
          </a:prstGeom>
          <a:noFill/>
          <a:effectLst/>
        </p:spPr>
        <p:txBody>
          <a:bodyPr wrap="square">
            <a:noAutofit/>
          </a:bodyPr>
          <a:lstStyle/>
          <a:p>
            <a:pPr eaLnBrk="1" hangingPunct="1">
              <a:lnSpc>
                <a:spcPct val="118000"/>
              </a:lnSpc>
            </a:pPr>
            <a:r>
              <a:rPr sz="950" b="0" lang="ja-JP" altLang="en-US">
                <a:solidFill>
                  <a:srgbClr val="111111"/>
                </a:solidFill>
                <a:latin typeface="Century Gothic"/>
                <a:ea typeface="Yu Gothic"/>
              </a:rPr>
              <a:t>「リサイクル材の使用量を高めつつ、従来品と同程度以上の機械強度や耐環境応力破壊性等の物理的性質を有する中空成形体を製造することが可能な樹脂組成物を提供する。」</a:t>
            </a:r>
          </a:p>
        </p:txBody>
      </p:sp>
      <p:sp>
        <p:nvSpPr>
          <p:cNvPr id="12" name="Rectangle 11"/>
          <p:cNvSpPr/>
          <p:nvPr/>
        </p:nvSpPr>
        <p:spPr>
          <a:xfrm>
            <a:off x="822960" y="3901440"/>
            <a:ext cx="10725912" cy="1039368"/>
          </a:xfrm>
          <a:prstGeom prst="rect">
            <a:avLst/>
          </a:prstGeom>
          <a:solidFill>
            <a:srgbClr val="F6F7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822960" y="3901440"/>
            <a:ext cx="36576" cy="1039368"/>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987552" y="3956303"/>
            <a:ext cx="10396728" cy="274320"/>
          </a:xfrm>
          <a:prstGeom prst="rect">
            <a:avLst/>
          </a:prstGeom>
          <a:noFill/>
          <a:effectLst/>
        </p:spPr>
        <p:txBody>
          <a:bodyPr wrap="none">
            <a:spAutoFit/>
          </a:bodyPr>
          <a:lstStyle/>
          <a:p>
            <a:pPr eaLnBrk="1" hangingPunct="1"/>
            <a:r>
              <a:rPr sz="1150" b="1" lang="ja-JP" altLang="en-US">
                <a:solidFill>
                  <a:srgbClr val="C51212"/>
                </a:solidFill>
                <a:latin typeface="Century Gothic"/>
                <a:ea typeface="Yu Gothic"/>
              </a:rPr>
              <a:t>[WO25-126806] 住友化学 — 樹脂組成物ペレットの製造方法ほか</a:t>
            </a:r>
          </a:p>
        </p:txBody>
      </p:sp>
      <p:sp>
        <p:nvSpPr>
          <p:cNvPr id="15" name="TextBox 14"/>
          <p:cNvSpPr txBox="1"/>
          <p:nvPr/>
        </p:nvSpPr>
        <p:spPr>
          <a:xfrm>
            <a:off x="987552" y="4248912"/>
            <a:ext cx="10360152" cy="637032"/>
          </a:xfrm>
          <a:prstGeom prst="rect">
            <a:avLst/>
          </a:prstGeom>
          <a:noFill/>
          <a:effectLst/>
        </p:spPr>
        <p:txBody>
          <a:bodyPr wrap="square">
            <a:noAutofit/>
          </a:bodyPr>
          <a:lstStyle/>
          <a:p>
            <a:pPr eaLnBrk="1" hangingPunct="1">
              <a:lnSpc>
                <a:spcPct val="118000"/>
              </a:lnSpc>
            </a:pPr>
            <a:r>
              <a:rPr sz="950" b="0" lang="ja-JP" altLang="en-US">
                <a:solidFill>
                  <a:srgbClr val="111111"/>
                </a:solidFill>
                <a:latin typeface="Century Gothic"/>
                <a:ea typeface="Yu Gothic"/>
              </a:rPr>
              <a:t>「透明性が良好であると共に、耐チッピング性に比較的優れた成形体を得ることが可能な樹脂組成物、成形体、樹脂組成物ペレットの製造方法、樹脂組成物の分解回収方法、およびリサイクル材の製造方法を提供する。」</a:t>
            </a:r>
          </a:p>
        </p:txBody>
      </p:sp>
      <p:sp>
        <p:nvSpPr>
          <p:cNvPr id="16" name="Rectangle 15"/>
          <p:cNvSpPr/>
          <p:nvPr/>
        </p:nvSpPr>
        <p:spPr>
          <a:xfrm>
            <a:off x="822960" y="5087112"/>
            <a:ext cx="10725912" cy="1039368"/>
          </a:xfrm>
          <a:prstGeom prst="rect">
            <a:avLst/>
          </a:prstGeom>
          <a:solidFill>
            <a:srgbClr val="F6F7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822960" y="5087112"/>
            <a:ext cx="36576" cy="1039368"/>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987552" y="5141976"/>
            <a:ext cx="10396728" cy="274320"/>
          </a:xfrm>
          <a:prstGeom prst="rect">
            <a:avLst/>
          </a:prstGeom>
          <a:noFill/>
          <a:effectLst/>
        </p:spPr>
        <p:txBody>
          <a:bodyPr wrap="none">
            <a:spAutoFit/>
          </a:bodyPr>
          <a:lstStyle/>
          <a:p>
            <a:pPr eaLnBrk="1" hangingPunct="1"/>
            <a:r>
              <a:rPr sz="1150" b="1" lang="ja-JP" altLang="en-US">
                <a:solidFill>
                  <a:srgbClr val="C51212"/>
                </a:solidFill>
                <a:latin typeface="Century Gothic"/>
                <a:ea typeface="Yu Gothic"/>
              </a:rPr>
              <a:t>[特表2025-540089] LG化学 — 再生樹脂組成物</a:t>
            </a:r>
          </a:p>
        </p:txBody>
      </p:sp>
      <p:sp>
        <p:nvSpPr>
          <p:cNvPr id="19" name="TextBox 18"/>
          <p:cNvSpPr txBox="1"/>
          <p:nvPr/>
        </p:nvSpPr>
        <p:spPr>
          <a:xfrm>
            <a:off x="987552" y="5434584"/>
            <a:ext cx="10360152" cy="637032"/>
          </a:xfrm>
          <a:prstGeom prst="rect">
            <a:avLst/>
          </a:prstGeom>
          <a:noFill/>
          <a:effectLst/>
        </p:spPr>
        <p:txBody>
          <a:bodyPr wrap="square">
            <a:noAutofit/>
          </a:bodyPr>
          <a:lstStyle/>
          <a:p>
            <a:pPr eaLnBrk="1" hangingPunct="1">
              <a:lnSpc>
                <a:spcPct val="118000"/>
              </a:lnSpc>
            </a:pPr>
            <a:r>
              <a:rPr sz="950" b="0" lang="ja-JP" altLang="en-US">
                <a:solidFill>
                  <a:srgbClr val="111111"/>
                </a:solidFill>
                <a:latin typeface="Century Gothic"/>
                <a:ea typeface="Yu Gothic"/>
              </a:rPr>
              <a:t>「再生グラフト樹脂は、熱変形温度が82℃〜90℃であり、引張強度が41MPa〜54MPaであることを特徴とし、これにより環境にやさしく…（物性を数値で規定）。」</a:t>
            </a:r>
          </a:p>
        </p:txBody>
      </p:sp>
      <p:sp>
        <p:nvSpPr>
          <p:cNvPr id="20" name="TextBox 19"/>
          <p:cNvSpPr txBox="1"/>
          <p:nvPr/>
        </p:nvSpPr>
        <p:spPr>
          <a:xfrm>
            <a:off x="457200" y="6053328"/>
            <a:ext cx="11247120" cy="320040"/>
          </a:xfrm>
          <a:prstGeom prst="rect">
            <a:avLst/>
          </a:prstGeom>
          <a:noFill/>
          <a:effectLst/>
        </p:spPr>
        <p:txBody>
          <a:bodyPr wrap="square">
            <a:noAutofit/>
          </a:bodyPr>
          <a:lstStyle/>
          <a:p>
            <a:pPr eaLnBrk="1" hangingPunct="1"/>
            <a:r>
              <a:rPr sz="900" b="0" lang="ja-JP" altLang="en-US">
                <a:solidFill>
                  <a:srgbClr val="686868"/>
                </a:solidFill>
                <a:latin typeface="Century Gothic"/>
                <a:ea typeface="Yu Gothic"/>
              </a:rPr>
              <a:t>（出所）特許データベース Cyber patent desc（2026-06-14）</a:t>
            </a:r>
          </a:p>
        </p:txBody>
      </p:sp>
      <p:sp>
        <p:nvSpPr>
          <p:cNvPr id="21" name="TextBox 20"/>
          <p:cNvSpPr txBox="1"/>
          <p:nvPr/>
        </p:nvSpPr>
        <p:spPr>
          <a:xfrm>
            <a:off x="11384280" y="6419088"/>
            <a:ext cx="502920" cy="228600"/>
          </a:xfrm>
          <a:prstGeom prst="rect">
            <a:avLst/>
          </a:prstGeom>
          <a:noFill/>
          <a:effectLst/>
        </p:spPr>
        <p:txBody>
          <a:bodyPr wrap="none">
            <a:spAutoFit/>
          </a:bodyPr>
          <a:lstStyle/>
          <a:p>
            <a:pPr eaLnBrk="1" hangingPunct="1" algn="r"/>
            <a:r>
              <a:rPr sz="1000" b="0" lang="ja-JP" altLang="en-US">
                <a:solidFill>
                  <a:srgbClr val="686868"/>
                </a:solidFill>
                <a:latin typeface="Century Gothic"/>
                <a:ea typeface="Yu Gothic"/>
              </a:rPr>
              <a:t>23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22960" y="521208"/>
            <a:ext cx="365760" cy="1270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22960" y="630936"/>
            <a:ext cx="10725912" cy="256032"/>
          </a:xfrm>
          <a:prstGeom prst="rect">
            <a:avLst/>
          </a:prstGeom>
          <a:noFill/>
          <a:effectLst/>
        </p:spPr>
        <p:txBody>
          <a:bodyPr wrap="none">
            <a:spAutoFit/>
          </a:bodyPr>
          <a:lstStyle/>
          <a:p>
            <a:pPr eaLnBrk="1" hangingPunct="1"/>
            <a:r>
              <a:rPr sz="1000" b="1" lang="ja-JP" altLang="en-US">
                <a:solidFill>
                  <a:srgbClr val="C51212"/>
                </a:solidFill>
                <a:latin typeface="Yu Mincho"/>
                <a:ea typeface="Yu Mincho"/>
              </a:rPr>
              <a:t>出願人プロファイル</a:t>
            </a:r>
          </a:p>
        </p:txBody>
      </p:sp>
      <p:sp>
        <p:nvSpPr>
          <p:cNvPr id="4" name="TextBox 3"/>
          <p:cNvSpPr txBox="1"/>
          <p:nvPr/>
        </p:nvSpPr>
        <p:spPr>
          <a:xfrm>
            <a:off x="822960" y="905256"/>
            <a:ext cx="10725912" cy="713232"/>
          </a:xfrm>
          <a:prstGeom prst="rect">
            <a:avLst/>
          </a:prstGeom>
          <a:noFill/>
          <a:effectLst/>
        </p:spPr>
        <p:txBody>
          <a:bodyPr wrap="square">
            <a:noAutofit/>
          </a:bodyPr>
          <a:lstStyle/>
          <a:p>
            <a:pPr eaLnBrk="1" hangingPunct="1">
              <a:lnSpc>
                <a:spcPct val="118000"/>
              </a:lnSpc>
            </a:pPr>
            <a:r>
              <a:rPr b="1" sz="2700" lang="ja-JP" altLang="en-US">
                <a:solidFill>
                  <a:srgbClr val="111111"/>
                </a:solidFill>
                <a:latin typeface="Yu Mincho"/>
                <a:ea typeface="Yu Mincho"/>
              </a:rPr>
              <a:t>出願人プロファイル①：本命・東レ と 急進・東ソー</a:t>
            </a:r>
          </a:p>
        </p:txBody>
      </p:sp>
      <p:sp>
        <p:nvSpPr>
          <p:cNvPr id="5" name="Rectangle 4"/>
          <p:cNvSpPr/>
          <p:nvPr/>
        </p:nvSpPr>
        <p:spPr>
          <a:xfrm>
            <a:off x="822960" y="1673352"/>
            <a:ext cx="10725912" cy="822959"/>
          </a:xfrm>
          <a:prstGeom prst="rect">
            <a:avLst/>
          </a:prstGeom>
          <a:solidFill>
            <a:srgbClr val="F6F7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822960" y="1673352"/>
            <a:ext cx="36576" cy="822959"/>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960120" y="1746504"/>
            <a:ext cx="10451592" cy="676655"/>
          </a:xfrm>
          <a:prstGeom prst="rect">
            <a:avLst/>
          </a:prstGeom>
          <a:noFill/>
          <a:effectLst/>
        </p:spPr>
        <p:txBody>
          <a:bodyPr wrap="square">
            <a:noAutofit/>
          </a:bodyPr>
          <a:lstStyle/>
          <a:p>
            <a:pPr eaLnBrk="1" hangingPunct="1">
              <a:lnSpc>
                <a:spcPct val="150000"/>
              </a:lnSpc>
            </a:pPr>
            <a:r>
              <a:rPr sz="1500" b="1" lang="ja-JP" altLang="en-US">
                <a:solidFill>
                  <a:srgbClr val="C51212"/>
                </a:solidFill>
                <a:latin typeface="Century Gothic"/>
                <a:ea typeface="Yu Gothic"/>
              </a:rPr>
              <a:t>■ </a:t>
            </a:r>
            <a:r>
              <a:rPr sz="1500" lang="ja-JP" altLang="en-US">
                <a:solidFill>
                  <a:srgbClr val="111111"/>
                </a:solidFill>
                <a:latin typeface="Century Gothic"/>
                <a:ea typeface="Yu Gothic"/>
              </a:rPr>
              <a:t>継続性で突出する東レ（解重合へ軸足移動中）と、件数すべてが直近の東ソー（汎用樹脂で一気参入）。</a:t>
            </a:r>
          </a:p>
        </p:txBody>
      </p:sp>
      <p:sp>
        <p:nvSpPr>
          <p:cNvPr id="8" name="Rectangle 7"/>
          <p:cNvSpPr/>
          <p:nvPr/>
        </p:nvSpPr>
        <p:spPr>
          <a:xfrm>
            <a:off x="822960" y="2587752"/>
            <a:ext cx="10725912" cy="1655064"/>
          </a:xfrm>
          <a:prstGeom prst="rect">
            <a:avLst/>
          </a:prstGeom>
          <a:solidFill>
            <a:srgbClr val="F1F2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822960" y="2587752"/>
            <a:ext cx="36576" cy="1655064"/>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1005840" y="2679192"/>
            <a:ext cx="10360152" cy="292608"/>
          </a:xfrm>
          <a:prstGeom prst="rect">
            <a:avLst/>
          </a:prstGeom>
          <a:noFill/>
          <a:effectLst/>
        </p:spPr>
        <p:txBody>
          <a:bodyPr wrap="none">
            <a:spAutoFit/>
          </a:bodyPr>
          <a:lstStyle/>
          <a:p>
            <a:r>
              <a:rPr sz="1500" b="1" lang="ja-JP" altLang="en-US">
                <a:solidFill>
                  <a:srgbClr val="111111"/>
                </a:solidFill>
                <a:latin typeface="Century Gothic"/>
                <a:ea typeface="Yu Gothic"/>
              </a:rPr>
              <a:t>東レ</a:t>
            </a:r>
            <a:r>
              <a:rPr sz="1100" lang="ja-JP" altLang="en-US">
                <a:solidFill>
                  <a:srgbClr val="686868"/>
                </a:solidFill>
                <a:latin typeface="Century Gothic"/>
                <a:ea typeface="Yu Gothic"/>
              </a:rPr>
              <a:t>　18–19件 / 中央値2013年 / 出願期間2004–2025 / 直近44%</a:t>
            </a:r>
          </a:p>
        </p:txBody>
      </p:sp>
      <p:sp>
        <p:nvSpPr>
          <p:cNvPr id="11" name="TextBox 10"/>
          <p:cNvSpPr txBox="1"/>
          <p:nvPr/>
        </p:nvSpPr>
        <p:spPr>
          <a:xfrm>
            <a:off x="1005840" y="3008376"/>
            <a:ext cx="10360152" cy="1179576"/>
          </a:xfrm>
          <a:prstGeom prst="rect">
            <a:avLst/>
          </a:prstGeom>
          <a:noFill/>
          <a:effectLst/>
        </p:spPr>
        <p:txBody>
          <a:bodyPr wrap="square">
            <a:noAutofit/>
          </a:bodyPr>
          <a:lstStyle/>
          <a:p>
            <a:pPr>
              <a:lnSpc>
                <a:spcPct val="130000"/>
              </a:lnSpc>
            </a:pPr>
            <a:r>
              <a:rPr sz="1200" lang="ja-JP" altLang="en-US">
                <a:solidFill>
                  <a:srgbClr val="111111"/>
                </a:solidFill>
                <a:latin typeface="Century Gothic"/>
                <a:ea typeface="Yu Gothic"/>
              </a:rPr>
              <a:t>・本母集団で唯一、20年超にわたり継続出願する真の本命プレイヤー。撤退・休眠が相次ぐ中での継続性が際立つ。</a:t>
            </a:r>
          </a:p>
          <a:p>
            <a:pPr>
              <a:lnSpc>
                <a:spcPct val="130000"/>
              </a:lnSpc>
            </a:pPr>
            <a:r>
              <a:rPr sz="1200" lang="ja-JP" altLang="en-US">
                <a:solidFill>
                  <a:srgbClr val="111111"/>
                </a:solidFill>
                <a:latin typeface="Century Gothic"/>
                <a:ea typeface="Yu Gothic"/>
              </a:rPr>
              <a:t>・技術領域はポリエステル系が中心。バージン材ブレンド・プロセス制御で再生PETの物性を担保する系譜。</a:t>
            </a:r>
          </a:p>
          <a:p>
            <a:pPr>
              <a:lnSpc>
                <a:spcPct val="130000"/>
              </a:lnSpc>
            </a:pPr>
            <a:r>
              <a:rPr sz="1200" lang="ja-JP" altLang="en-US">
                <a:solidFill>
                  <a:srgbClr val="111111"/>
                </a:solidFill>
                <a:latin typeface="Century Gothic"/>
                <a:ea typeface="Yu Gothic"/>
              </a:rPr>
              <a:t>・直近は[特開2026-52764]の解重合方法など**化学的リサイクル**へ軸足を移し、配合技術から一段進化。</a:t>
            </a:r>
          </a:p>
          <a:p>
            <a:pPr>
              <a:lnSpc>
                <a:spcPct val="130000"/>
              </a:lnSpc>
            </a:pPr>
            <a:r>
              <a:rPr sz="1200" lang="ja-JP" altLang="en-US">
                <a:solidFill>
                  <a:srgbClr val="111111"/>
                </a:solidFill>
                <a:latin typeface="Century Gothic"/>
                <a:ea typeface="Yu Gothic"/>
              </a:rPr>
              <a:t>・再生材の判別方法（[特開2025-187058]）も出願し、原料の素性管理＝品質安定化まで押さえる。</a:t>
            </a:r>
          </a:p>
          <a:p>
            <a:pPr>
              <a:lnSpc>
                <a:spcPct val="130000"/>
              </a:lnSpc>
            </a:pPr>
            <a:r>
              <a:rPr sz="1200" lang="ja-JP" altLang="en-US">
                <a:solidFill>
                  <a:srgbClr val="111111"/>
                </a:solidFill>
                <a:latin typeface="Century Gothic"/>
                <a:ea typeface="Yu Gothic"/>
              </a:rPr>
              <a:t>・戦略含意：配合と化学リサイクルの両建てで、不純物問題の『回避』と『克服』を同時に保険化している。</a:t>
            </a:r>
          </a:p>
        </p:txBody>
      </p:sp>
      <p:sp>
        <p:nvSpPr>
          <p:cNvPr id="12" name="Rectangle 11"/>
          <p:cNvSpPr/>
          <p:nvPr/>
        </p:nvSpPr>
        <p:spPr>
          <a:xfrm>
            <a:off x="822960" y="4471416"/>
            <a:ext cx="10725912" cy="1655064"/>
          </a:xfrm>
          <a:prstGeom prst="rect">
            <a:avLst/>
          </a:prstGeom>
          <a:solidFill>
            <a:srgbClr val="F1F2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822960" y="4471416"/>
            <a:ext cx="36576" cy="1655064"/>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1005840" y="4562856"/>
            <a:ext cx="10360152" cy="292608"/>
          </a:xfrm>
          <a:prstGeom prst="rect">
            <a:avLst/>
          </a:prstGeom>
          <a:noFill/>
          <a:effectLst/>
        </p:spPr>
        <p:txBody>
          <a:bodyPr wrap="none">
            <a:spAutoFit/>
          </a:bodyPr>
          <a:lstStyle/>
          <a:p>
            <a:r>
              <a:rPr sz="1500" b="1" lang="ja-JP" altLang="en-US">
                <a:solidFill>
                  <a:srgbClr val="111111"/>
                </a:solidFill>
                <a:latin typeface="Century Gothic"/>
                <a:ea typeface="Yu Gothic"/>
              </a:rPr>
              <a:t>東ソー</a:t>
            </a:r>
            <a:r>
              <a:rPr sz="1100" lang="ja-JP" altLang="en-US">
                <a:solidFill>
                  <a:srgbClr val="686868"/>
                </a:solidFill>
                <a:latin typeface="Century Gothic"/>
                <a:ea typeface="Yu Gothic"/>
              </a:rPr>
              <a:t>　19件 / 中央値2023年 / 出願期間2020–2024 / 直近100%</a:t>
            </a:r>
          </a:p>
        </p:txBody>
      </p:sp>
      <p:sp>
        <p:nvSpPr>
          <p:cNvPr id="15" name="TextBox 14"/>
          <p:cNvSpPr txBox="1"/>
          <p:nvPr/>
        </p:nvSpPr>
        <p:spPr>
          <a:xfrm>
            <a:off x="1005840" y="4892040"/>
            <a:ext cx="10360152" cy="1179576"/>
          </a:xfrm>
          <a:prstGeom prst="rect">
            <a:avLst/>
          </a:prstGeom>
          <a:noFill/>
          <a:effectLst/>
        </p:spPr>
        <p:txBody>
          <a:bodyPr wrap="square">
            <a:noAutofit/>
          </a:bodyPr>
          <a:lstStyle/>
          <a:p>
            <a:pPr>
              <a:lnSpc>
                <a:spcPct val="130000"/>
              </a:lnSpc>
            </a:pPr>
            <a:r>
              <a:rPr sz="1200" lang="ja-JP" altLang="en-US">
                <a:solidFill>
                  <a:srgbClr val="111111"/>
                </a:solidFill>
                <a:latin typeface="Century Gothic"/>
                <a:ea typeface="Yu Gothic"/>
              </a:rPr>
              <a:t>・件数同率トップだが出願は全て直近5年＝本母集団で最も勢いのある新規急進プレイヤー。</a:t>
            </a:r>
          </a:p>
          <a:p>
            <a:pPr>
              <a:lnSpc>
                <a:spcPct val="130000"/>
              </a:lnSpc>
            </a:pPr>
            <a:r>
              <a:rPr sz="1200" lang="ja-JP" altLang="en-US">
                <a:solidFill>
                  <a:srgbClr val="111111"/>
                </a:solidFill>
                <a:latin typeface="Century Gothic"/>
                <a:ea typeface="Yu Gothic"/>
              </a:rPr>
              <a:t>・PO系・PC系のリサイクル樹脂組成物やフィルム用途（[特開2026-61583]等）で短期間に集中出願。</a:t>
            </a:r>
          </a:p>
          <a:p>
            <a:pPr>
              <a:lnSpc>
                <a:spcPct val="130000"/>
              </a:lnSpc>
            </a:pPr>
            <a:r>
              <a:rPr sz="1200" lang="ja-JP" altLang="en-US">
                <a:solidFill>
                  <a:srgbClr val="111111"/>
                </a:solidFill>
                <a:latin typeface="Century Gothic"/>
                <a:ea typeface="Yu Gothic"/>
              </a:rPr>
              <a:t>・汎用樹脂メーカーとして容器包装・フィルムという大量消費財の再生材化を狙う水平展開型。</a:t>
            </a:r>
          </a:p>
          <a:p>
            <a:pPr>
              <a:lnSpc>
                <a:spcPct val="130000"/>
              </a:lnSpc>
            </a:pPr>
            <a:r>
              <a:rPr sz="1200" lang="ja-JP" altLang="en-US">
                <a:solidFill>
                  <a:srgbClr val="111111"/>
                </a:solidFill>
                <a:latin typeface="Century Gothic"/>
                <a:ea typeface="Yu Gothic"/>
              </a:rPr>
              <a:t>・MEGAでもCAGR正・活動量上位の『リーダー』象限に布置し、定量的にも勢いが裏づく。</a:t>
            </a:r>
          </a:p>
          <a:p>
            <a:pPr>
              <a:lnSpc>
                <a:spcPct val="130000"/>
              </a:lnSpc>
            </a:pPr>
            <a:r>
              <a:rPr sz="1200" lang="ja-JP" altLang="en-US">
                <a:solidFill>
                  <a:srgbClr val="111111"/>
                </a:solidFill>
                <a:latin typeface="Century Gothic"/>
                <a:ea typeface="Yu Gothic"/>
              </a:rPr>
              <a:t>・戦略含意：参入は新しいが投下密度が高く、用途特化で素早く権利網を張る要警戒の競合。</a:t>
            </a:r>
          </a:p>
        </p:txBody>
      </p:sp>
      <p:sp>
        <p:nvSpPr>
          <p:cNvPr id="16" name="TextBox 15"/>
          <p:cNvSpPr txBox="1"/>
          <p:nvPr/>
        </p:nvSpPr>
        <p:spPr>
          <a:xfrm>
            <a:off x="457200" y="6053328"/>
            <a:ext cx="11247120" cy="320040"/>
          </a:xfrm>
          <a:prstGeom prst="rect">
            <a:avLst/>
          </a:prstGeom>
          <a:noFill/>
          <a:effectLst/>
        </p:spPr>
        <p:txBody>
          <a:bodyPr wrap="square">
            <a:noAutofit/>
          </a:bodyPr>
          <a:lstStyle/>
          <a:p>
            <a:pPr eaLnBrk="1" hangingPunct="1"/>
            <a:r>
              <a:rPr sz="900" b="0" lang="ja-JP" altLang="en-US">
                <a:solidFill>
                  <a:srgbClr val="686868"/>
                </a:solidFill>
                <a:latin typeface="Century Gothic"/>
                <a:ea typeface="Yu Gothic"/>
              </a:rPr>
              <a:t>（出所）特許データベース Cyber patent desc（2026-06-14）</a:t>
            </a:r>
          </a:p>
        </p:txBody>
      </p:sp>
      <p:sp>
        <p:nvSpPr>
          <p:cNvPr id="17" name="TextBox 16"/>
          <p:cNvSpPr txBox="1"/>
          <p:nvPr/>
        </p:nvSpPr>
        <p:spPr>
          <a:xfrm>
            <a:off x="11384280" y="6419088"/>
            <a:ext cx="502920" cy="228600"/>
          </a:xfrm>
          <a:prstGeom prst="rect">
            <a:avLst/>
          </a:prstGeom>
          <a:noFill/>
          <a:effectLst/>
        </p:spPr>
        <p:txBody>
          <a:bodyPr wrap="none">
            <a:spAutoFit/>
          </a:bodyPr>
          <a:lstStyle/>
          <a:p>
            <a:pPr eaLnBrk="1" hangingPunct="1" algn="r"/>
            <a:r>
              <a:rPr sz="1000" b="0" lang="ja-JP" altLang="en-US">
                <a:solidFill>
                  <a:srgbClr val="686868"/>
                </a:solidFill>
                <a:latin typeface="Century Gothic"/>
                <a:ea typeface="Yu Gothic"/>
              </a:rPr>
              <a:t>24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22960" y="521208"/>
            <a:ext cx="365760" cy="1270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22960" y="630936"/>
            <a:ext cx="10725912" cy="256032"/>
          </a:xfrm>
          <a:prstGeom prst="rect">
            <a:avLst/>
          </a:prstGeom>
          <a:noFill/>
          <a:effectLst/>
        </p:spPr>
        <p:txBody>
          <a:bodyPr wrap="none">
            <a:spAutoFit/>
          </a:bodyPr>
          <a:lstStyle/>
          <a:p>
            <a:pPr eaLnBrk="1" hangingPunct="1"/>
            <a:r>
              <a:rPr sz="1000" b="1" lang="ja-JP" altLang="en-US">
                <a:solidFill>
                  <a:srgbClr val="C51212"/>
                </a:solidFill>
                <a:latin typeface="Yu Mincho"/>
                <a:ea typeface="Yu Mincho"/>
              </a:rPr>
              <a:t>出願人プロファイル</a:t>
            </a:r>
          </a:p>
        </p:txBody>
      </p:sp>
      <p:sp>
        <p:nvSpPr>
          <p:cNvPr id="4" name="TextBox 3"/>
          <p:cNvSpPr txBox="1"/>
          <p:nvPr/>
        </p:nvSpPr>
        <p:spPr>
          <a:xfrm>
            <a:off x="822960" y="905256"/>
            <a:ext cx="10725912" cy="841248"/>
          </a:xfrm>
          <a:prstGeom prst="rect">
            <a:avLst/>
          </a:prstGeom>
          <a:noFill/>
          <a:effectLst/>
        </p:spPr>
        <p:txBody>
          <a:bodyPr wrap="square">
            <a:noAutofit/>
          </a:bodyPr>
          <a:lstStyle/>
          <a:p>
            <a:pPr eaLnBrk="1" hangingPunct="1">
              <a:lnSpc>
                <a:spcPct val="118000"/>
              </a:lnSpc>
            </a:pPr>
            <a:r>
              <a:rPr b="1" sz="2300" lang="ja-JP" altLang="en-US">
                <a:solidFill>
                  <a:srgbClr val="111111"/>
                </a:solidFill>
                <a:latin typeface="Yu Mincho"/>
                <a:ea typeface="Yu Mincho"/>
              </a:rPr>
              <a:t>出願人プロファイル②：新規急進・LG化学 と 旧勢力・帝人化成</a:t>
            </a:r>
          </a:p>
        </p:txBody>
      </p:sp>
      <p:sp>
        <p:nvSpPr>
          <p:cNvPr id="5" name="Rectangle 4"/>
          <p:cNvSpPr/>
          <p:nvPr/>
        </p:nvSpPr>
        <p:spPr>
          <a:xfrm>
            <a:off x="822960" y="1801368"/>
            <a:ext cx="10725912" cy="822959"/>
          </a:xfrm>
          <a:prstGeom prst="rect">
            <a:avLst/>
          </a:prstGeom>
          <a:solidFill>
            <a:srgbClr val="F6F7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822960" y="1801368"/>
            <a:ext cx="36576" cy="822959"/>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960120" y="1874520"/>
            <a:ext cx="10451592" cy="676655"/>
          </a:xfrm>
          <a:prstGeom prst="rect">
            <a:avLst/>
          </a:prstGeom>
          <a:noFill/>
          <a:effectLst/>
        </p:spPr>
        <p:txBody>
          <a:bodyPr wrap="square">
            <a:noAutofit/>
          </a:bodyPr>
          <a:lstStyle/>
          <a:p>
            <a:pPr eaLnBrk="1" hangingPunct="1">
              <a:lnSpc>
                <a:spcPct val="150000"/>
              </a:lnSpc>
            </a:pPr>
            <a:r>
              <a:rPr sz="1500" b="1" lang="ja-JP" altLang="en-US">
                <a:solidFill>
                  <a:srgbClr val="C51212"/>
                </a:solidFill>
                <a:latin typeface="Century Gothic"/>
                <a:ea typeface="Yu Gothic"/>
              </a:rPr>
              <a:t>■ </a:t>
            </a:r>
            <a:r>
              <a:rPr sz="1500" lang="ja-JP" altLang="en-US">
                <a:solidFill>
                  <a:srgbClr val="111111"/>
                </a:solidFill>
                <a:latin typeface="Century Gothic"/>
                <a:ea typeface="Yu Gothic"/>
              </a:rPr>
              <a:t>海外から高機能再生で参入するLG化学と、2000年代で開発が止まった旧盟主・帝人化成の対比。</a:t>
            </a:r>
          </a:p>
        </p:txBody>
      </p:sp>
      <p:sp>
        <p:nvSpPr>
          <p:cNvPr id="8" name="Rectangle 7"/>
          <p:cNvSpPr/>
          <p:nvPr/>
        </p:nvSpPr>
        <p:spPr>
          <a:xfrm>
            <a:off x="822960" y="2715768"/>
            <a:ext cx="10725912" cy="1591056"/>
          </a:xfrm>
          <a:prstGeom prst="rect">
            <a:avLst/>
          </a:prstGeom>
          <a:solidFill>
            <a:srgbClr val="F1F2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822960" y="2715768"/>
            <a:ext cx="36576" cy="1591056"/>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1005840" y="2807208"/>
            <a:ext cx="10360152" cy="292608"/>
          </a:xfrm>
          <a:prstGeom prst="rect">
            <a:avLst/>
          </a:prstGeom>
          <a:noFill/>
          <a:effectLst/>
        </p:spPr>
        <p:txBody>
          <a:bodyPr wrap="none">
            <a:spAutoFit/>
          </a:bodyPr>
          <a:lstStyle/>
          <a:p>
            <a:r>
              <a:rPr sz="1500" b="1" lang="ja-JP" altLang="en-US">
                <a:solidFill>
                  <a:srgbClr val="111111"/>
                </a:solidFill>
                <a:latin typeface="Century Gothic"/>
                <a:ea typeface="Yu Gothic"/>
              </a:rPr>
              <a:t>LG化学（エルジー・ケム）</a:t>
            </a:r>
            <a:r>
              <a:rPr sz="1100" lang="ja-JP" altLang="en-US">
                <a:solidFill>
                  <a:srgbClr val="686868"/>
                </a:solidFill>
                <a:latin typeface="Century Gothic"/>
                <a:ea typeface="Yu Gothic"/>
              </a:rPr>
              <a:t>　18件 / 中央値2023年 / 出願期間2021–2024 / 直近100%</a:t>
            </a:r>
          </a:p>
        </p:txBody>
      </p:sp>
      <p:sp>
        <p:nvSpPr>
          <p:cNvPr id="11" name="TextBox 10"/>
          <p:cNvSpPr txBox="1"/>
          <p:nvPr/>
        </p:nvSpPr>
        <p:spPr>
          <a:xfrm>
            <a:off x="1005840" y="3136392"/>
            <a:ext cx="10360152" cy="1115568"/>
          </a:xfrm>
          <a:prstGeom prst="rect">
            <a:avLst/>
          </a:prstGeom>
          <a:noFill/>
          <a:effectLst/>
        </p:spPr>
        <p:txBody>
          <a:bodyPr wrap="square">
            <a:noAutofit/>
          </a:bodyPr>
          <a:lstStyle/>
          <a:p>
            <a:pPr>
              <a:lnSpc>
                <a:spcPct val="130000"/>
              </a:lnSpc>
            </a:pPr>
            <a:r>
              <a:rPr sz="1200" lang="ja-JP" altLang="en-US">
                <a:solidFill>
                  <a:srgbClr val="111111"/>
                </a:solidFill>
                <a:latin typeface="Century Gothic"/>
                <a:ea typeface="Yu Gothic"/>
              </a:rPr>
              <a:t>・件数3位、出願はすべて直近。海外勢として高機能再生樹脂で本格参入した代表格。</a:t>
            </a:r>
          </a:p>
          <a:p>
            <a:pPr>
              <a:lnSpc>
                <a:spcPct val="130000"/>
              </a:lnSpc>
            </a:pPr>
            <a:r>
              <a:rPr sz="1200" lang="ja-JP" altLang="en-US">
                <a:solidFill>
                  <a:srgbClr val="111111"/>
                </a:solidFill>
                <a:latin typeface="Century Gothic"/>
                <a:ea typeface="Yu Gothic"/>
              </a:rPr>
              <a:t>・再生ABS（グラフト樹脂）の熱変形温度・引張強度を数値規定する物性担保型の権利化が特徴。</a:t>
            </a:r>
          </a:p>
          <a:p>
            <a:pPr>
              <a:lnSpc>
                <a:spcPct val="130000"/>
              </a:lnSpc>
            </a:pPr>
            <a:r>
              <a:rPr sz="1200" lang="ja-JP" altLang="en-US">
                <a:solidFill>
                  <a:srgbClr val="111111"/>
                </a:solidFill>
                <a:latin typeface="Century Gothic"/>
                <a:ea typeface="Yu Gothic"/>
              </a:rPr>
              <a:t>・スチレン系・耐熱樹脂ブレンドで家電・電子機器筐体の再生材高機能化を志向。</a:t>
            </a:r>
          </a:p>
          <a:p>
            <a:pPr>
              <a:lnSpc>
                <a:spcPct val="130000"/>
              </a:lnSpc>
            </a:pPr>
            <a:r>
              <a:rPr sz="1200" lang="ja-JP" altLang="en-US">
                <a:solidFill>
                  <a:srgbClr val="111111"/>
                </a:solidFill>
                <a:latin typeface="Century Gothic"/>
                <a:ea typeface="Yu Gothic"/>
              </a:rPr>
              <a:t>・MEGAでは活動量16と最大だがCAGR算定が負に出るため自動判定は『成熟』寄り＝新規参入を取りこぼす定量の癖に注意。</a:t>
            </a:r>
          </a:p>
          <a:p>
            <a:pPr>
              <a:lnSpc>
                <a:spcPct val="130000"/>
              </a:lnSpc>
            </a:pPr>
            <a:r>
              <a:rPr sz="1200" lang="ja-JP" altLang="en-US">
                <a:solidFill>
                  <a:srgbClr val="111111"/>
                </a:solidFill>
                <a:latin typeface="Century Gothic"/>
                <a:ea typeface="Yu Gothic"/>
              </a:rPr>
              <a:t>・戦略含意：物性スペックを明示する欧米型クレーム戦略で、用途メーカーへの採用を狙う実装志向。</a:t>
            </a:r>
          </a:p>
        </p:txBody>
      </p:sp>
      <p:sp>
        <p:nvSpPr>
          <p:cNvPr id="12" name="Rectangle 11"/>
          <p:cNvSpPr/>
          <p:nvPr/>
        </p:nvSpPr>
        <p:spPr>
          <a:xfrm>
            <a:off x="822960" y="4535424"/>
            <a:ext cx="10725912" cy="1591056"/>
          </a:xfrm>
          <a:prstGeom prst="rect">
            <a:avLst/>
          </a:prstGeom>
          <a:solidFill>
            <a:srgbClr val="F1F2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822960" y="4535424"/>
            <a:ext cx="36576" cy="1591056"/>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1005840" y="4626864"/>
            <a:ext cx="10360152" cy="292608"/>
          </a:xfrm>
          <a:prstGeom prst="rect">
            <a:avLst/>
          </a:prstGeom>
          <a:noFill/>
          <a:effectLst/>
        </p:spPr>
        <p:txBody>
          <a:bodyPr wrap="none">
            <a:spAutoFit/>
          </a:bodyPr>
          <a:lstStyle/>
          <a:p>
            <a:r>
              <a:rPr sz="1500" b="1" lang="ja-JP" altLang="en-US">
                <a:solidFill>
                  <a:srgbClr val="111111"/>
                </a:solidFill>
                <a:latin typeface="Century Gothic"/>
                <a:ea typeface="Yu Gothic"/>
              </a:rPr>
              <a:t>帝人化成</a:t>
            </a:r>
            <a:r>
              <a:rPr sz="1100" lang="ja-JP" altLang="en-US">
                <a:solidFill>
                  <a:srgbClr val="686868"/>
                </a:solidFill>
                <a:latin typeface="Century Gothic"/>
                <a:ea typeface="Yu Gothic"/>
              </a:rPr>
              <a:t>　11件 / 中央値2002年 / 出願期間2000–2005 / 直近0%</a:t>
            </a:r>
          </a:p>
        </p:txBody>
      </p:sp>
      <p:sp>
        <p:nvSpPr>
          <p:cNvPr id="15" name="TextBox 14"/>
          <p:cNvSpPr txBox="1"/>
          <p:nvPr/>
        </p:nvSpPr>
        <p:spPr>
          <a:xfrm>
            <a:off x="1005840" y="4956048"/>
            <a:ext cx="10360152" cy="1115568"/>
          </a:xfrm>
          <a:prstGeom prst="rect">
            <a:avLst/>
          </a:prstGeom>
          <a:noFill/>
          <a:effectLst/>
        </p:spPr>
        <p:txBody>
          <a:bodyPr wrap="square">
            <a:noAutofit/>
          </a:bodyPr>
          <a:lstStyle/>
          <a:p>
            <a:pPr>
              <a:lnSpc>
                <a:spcPct val="130000"/>
              </a:lnSpc>
            </a:pPr>
            <a:r>
              <a:rPr sz="1200" lang="ja-JP" altLang="en-US">
                <a:solidFill>
                  <a:srgbClr val="111111"/>
                </a:solidFill>
                <a:latin typeface="Century Gothic"/>
                <a:ea typeface="Yu Gothic"/>
              </a:rPr>
              <a:t>・総件数では上位だが、出願は2000–2005年に限られ直近はゼロ＝撤退/休眠と判定。</a:t>
            </a:r>
          </a:p>
          <a:p>
            <a:pPr>
              <a:lnSpc>
                <a:spcPct val="130000"/>
              </a:lnSpc>
            </a:pPr>
            <a:r>
              <a:rPr sz="1200" lang="ja-JP" altLang="en-US">
                <a:solidFill>
                  <a:srgbClr val="111111"/>
                </a:solidFill>
                <a:latin typeface="Century Gothic"/>
                <a:ea typeface="Yu Gothic"/>
              </a:rPr>
              <a:t>・PC成形品の自社廃材を筐体用途へ戻す垂直統合型リサイクルが技術の中心だった。</a:t>
            </a:r>
          </a:p>
          <a:p>
            <a:pPr>
              <a:lnSpc>
                <a:spcPct val="130000"/>
              </a:lnSpc>
            </a:pPr>
            <a:r>
              <a:rPr sz="1200" lang="ja-JP" altLang="en-US">
                <a:solidFill>
                  <a:srgbClr val="111111"/>
                </a:solidFill>
                <a:latin typeface="Century Gothic"/>
                <a:ea typeface="Yu Gothic"/>
              </a:rPr>
              <a:t>・第1の山（2000年代）を象徴する旧勢力で、市場縮小と共に開発が停止した可能性が高い。</a:t>
            </a:r>
          </a:p>
          <a:p>
            <a:pPr>
              <a:lnSpc>
                <a:spcPct val="130000"/>
              </a:lnSpc>
            </a:pPr>
            <a:r>
              <a:rPr sz="1200" lang="ja-JP" altLang="en-US">
                <a:solidFill>
                  <a:srgbClr val="111111"/>
                </a:solidFill>
                <a:latin typeface="Century Gothic"/>
                <a:ea typeface="Yu Gothic"/>
              </a:rPr>
              <a:t>・件数ランキングだけ見ると現役の脅威に見えるが、実態は過去の蓄積。誤読を避けるべき典型例。</a:t>
            </a:r>
          </a:p>
          <a:p>
            <a:pPr>
              <a:lnSpc>
                <a:spcPct val="130000"/>
              </a:lnSpc>
            </a:pPr>
            <a:r>
              <a:rPr sz="1200" lang="ja-JP" altLang="en-US">
                <a:solidFill>
                  <a:srgbClr val="111111"/>
                </a:solidFill>
                <a:latin typeface="Century Gothic"/>
                <a:ea typeface="Yu Gothic"/>
              </a:rPr>
              <a:t>・戦略含意：旧権利網の満了で空く設計空間は、新興勢力にとっての再オープン機会となる。</a:t>
            </a:r>
          </a:p>
        </p:txBody>
      </p:sp>
      <p:sp>
        <p:nvSpPr>
          <p:cNvPr id="16" name="TextBox 15"/>
          <p:cNvSpPr txBox="1"/>
          <p:nvPr/>
        </p:nvSpPr>
        <p:spPr>
          <a:xfrm>
            <a:off x="457200" y="6053328"/>
            <a:ext cx="11247120" cy="320040"/>
          </a:xfrm>
          <a:prstGeom prst="rect">
            <a:avLst/>
          </a:prstGeom>
          <a:noFill/>
          <a:effectLst/>
        </p:spPr>
        <p:txBody>
          <a:bodyPr wrap="square">
            <a:noAutofit/>
          </a:bodyPr>
          <a:lstStyle/>
          <a:p>
            <a:pPr eaLnBrk="1" hangingPunct="1"/>
            <a:r>
              <a:rPr sz="900" b="0" lang="ja-JP" altLang="en-US">
                <a:solidFill>
                  <a:srgbClr val="686868"/>
                </a:solidFill>
                <a:latin typeface="Century Gothic"/>
                <a:ea typeface="Yu Gothic"/>
              </a:rPr>
              <a:t>（出所）特許データベース Cyber patent desc（2026-06-14）</a:t>
            </a:r>
          </a:p>
        </p:txBody>
      </p:sp>
      <p:sp>
        <p:nvSpPr>
          <p:cNvPr id="17" name="TextBox 16"/>
          <p:cNvSpPr txBox="1"/>
          <p:nvPr/>
        </p:nvSpPr>
        <p:spPr>
          <a:xfrm>
            <a:off x="11384280" y="6419088"/>
            <a:ext cx="502920" cy="228600"/>
          </a:xfrm>
          <a:prstGeom prst="rect">
            <a:avLst/>
          </a:prstGeom>
          <a:noFill/>
          <a:effectLst/>
        </p:spPr>
        <p:txBody>
          <a:bodyPr wrap="none">
            <a:spAutoFit/>
          </a:bodyPr>
          <a:lstStyle/>
          <a:p>
            <a:pPr eaLnBrk="1" hangingPunct="1" algn="r"/>
            <a:r>
              <a:rPr sz="1000" b="0" lang="ja-JP" altLang="en-US">
                <a:solidFill>
                  <a:srgbClr val="686868"/>
                </a:solidFill>
                <a:latin typeface="Century Gothic"/>
                <a:ea typeface="Yu Gothic"/>
              </a:rPr>
              <a:t>25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01011"/>
        </a:solidFill>
        <a:effectLst/>
      </p:bgPr>
    </p:bg>
    <p:spTree>
      <p:nvGrpSpPr>
        <p:cNvPr id="1" name=""/>
        <p:cNvGrpSpPr/>
        <p:nvPr/>
      </p:nvGrpSpPr>
      <p:grpSpPr/>
      <p:sp>
        <p:nvSpPr>
          <p:cNvPr id="2" name="TextBox 1"/>
          <p:cNvSpPr txBox="1"/>
          <p:nvPr/>
        </p:nvSpPr>
        <p:spPr>
          <a:xfrm>
            <a:off x="4754880" y="960120"/>
            <a:ext cx="6949440" cy="4937760"/>
          </a:xfrm>
          <a:prstGeom prst="rect">
            <a:avLst/>
          </a:prstGeom>
          <a:noFill/>
          <a:effectLst/>
        </p:spPr>
        <p:txBody>
          <a:bodyPr wrap="none">
            <a:noAutofit/>
          </a:bodyPr>
          <a:lstStyle/>
          <a:p>
            <a:pPr algn="r"/>
            <a:r>
              <a:rPr sz="30000" b="1" lang="ja-JP" altLang="en-US">
                <a:solidFill>
                  <a:srgbClr val="4A4A52"/>
                </a:solidFill>
                <a:latin typeface="Yu Mincho"/>
                <a:ea typeface="Yu Mincho"/>
              </a:rPr>
              <a:t>05</a:t>
            </a:r>
          </a:p>
        </p:txBody>
      </p:sp>
      <p:sp>
        <p:nvSpPr>
          <p:cNvPr id="3" name="Rectangle 2"/>
          <p:cNvSpPr/>
          <p:nvPr/>
        </p:nvSpPr>
        <p:spPr>
          <a:xfrm>
            <a:off x="0" y="0"/>
            <a:ext cx="274320" cy="685800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1051560" y="2514600"/>
            <a:ext cx="5486400" cy="365760"/>
          </a:xfrm>
          <a:prstGeom prst="rect">
            <a:avLst/>
          </a:prstGeom>
          <a:noFill/>
          <a:effectLst/>
        </p:spPr>
        <p:txBody>
          <a:bodyPr wrap="square">
            <a:noAutofit/>
          </a:bodyPr>
          <a:lstStyle/>
          <a:p>
            <a:r>
              <a:rPr sz="1500" b="1" lang="ja-JP" altLang="en-US" spc="260">
                <a:solidFill>
                  <a:srgbClr val="FF7070"/>
                </a:solidFill>
                <a:latin typeface="Yu Mincho"/>
                <a:ea typeface="Yu Mincho"/>
              </a:rPr>
              <a:t>SECTION 05</a:t>
            </a:r>
          </a:p>
        </p:txBody>
      </p:sp>
      <p:sp>
        <p:nvSpPr>
          <p:cNvPr id="5" name="Rectangle 4"/>
          <p:cNvSpPr/>
          <p:nvPr/>
        </p:nvSpPr>
        <p:spPr>
          <a:xfrm>
            <a:off x="1078992" y="3035808"/>
            <a:ext cx="2560320" cy="9144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1051560" y="3246120"/>
            <a:ext cx="7315200" cy="1554480"/>
          </a:xfrm>
          <a:prstGeom prst="rect">
            <a:avLst/>
          </a:prstGeom>
          <a:noFill/>
          <a:effectLst/>
        </p:spPr>
        <p:txBody>
          <a:bodyPr wrap="square">
            <a:noAutofit/>
          </a:bodyPr>
          <a:lstStyle/>
          <a:p>
            <a:pPr eaLnBrk="1" hangingPunct="1">
              <a:lnSpc>
                <a:spcPct val="115000"/>
              </a:lnSpc>
            </a:pPr>
            <a:r>
              <a:rPr sz="4000" b="1" lang="ja-JP" altLang="en-US">
                <a:solidFill>
                  <a:srgbClr val="FFFFFF"/>
                </a:solidFill>
                <a:latin typeface="Yu Mincho"/>
                <a:ea typeface="Yu Mincho"/>
              </a:rPr>
              <a:t>動態分析</a:t>
            </a:r>
          </a:p>
        </p:txBody>
      </p:sp>
      <p:sp>
        <p:nvSpPr>
          <p:cNvPr id="7" name="TextBox 6"/>
          <p:cNvSpPr txBox="1"/>
          <p:nvPr/>
        </p:nvSpPr>
        <p:spPr>
          <a:xfrm>
            <a:off x="1078992" y="4892040"/>
            <a:ext cx="6949440" cy="731520"/>
          </a:xfrm>
          <a:prstGeom prst="rect">
            <a:avLst/>
          </a:prstGeom>
          <a:noFill/>
          <a:effectLst/>
        </p:spPr>
        <p:txBody>
          <a:bodyPr wrap="square">
            <a:noAutofit/>
          </a:bodyPr>
          <a:lstStyle/>
          <a:p>
            <a:pPr eaLnBrk="1" hangingPunct="1"/>
            <a:r>
              <a:rPr sz="1500" b="0" lang="ja-JP" altLang="en-US">
                <a:solidFill>
                  <a:srgbClr val="C2C2C6"/>
                </a:solidFill>
                <a:latin typeface="Yu Mincho"/>
                <a:ea typeface="Yu Mincho"/>
              </a:rPr>
              <a:t>件数（規模）と直近活動量（勢い）の乖離を読む</a:t>
            </a:r>
          </a:p>
        </p:txBody>
      </p:sp>
      <p:sp>
        <p:nvSpPr>
          <p:cNvPr id="8" name="Rectangle 7"/>
          <p:cNvSpPr/>
          <p:nvPr/>
        </p:nvSpPr>
        <p:spPr>
          <a:xfrm>
            <a:off x="0" y="6492240"/>
            <a:ext cx="12188952" cy="27432"/>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22960" y="1952243"/>
            <a:ext cx="45720" cy="2496312"/>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1024128" y="1906524"/>
            <a:ext cx="4206240" cy="320040"/>
          </a:xfrm>
          <a:prstGeom prst="rect">
            <a:avLst/>
          </a:prstGeom>
          <a:noFill/>
          <a:effectLst/>
        </p:spPr>
        <p:txBody>
          <a:bodyPr wrap="square">
            <a:noAutofit/>
          </a:bodyPr>
          <a:lstStyle/>
          <a:p>
            <a:pPr eaLnBrk="1" hangingPunct="1"/>
            <a:r>
              <a:rPr sz="1100" b="1" lang="ja-JP" altLang="en-US">
                <a:solidFill>
                  <a:srgbClr val="C51212"/>
                </a:solidFill>
                <a:latin typeface="Yu Mincho"/>
                <a:ea typeface="Yu Mincho"/>
              </a:rPr>
              <a:t>SECTION 05 / 動態分析</a:t>
            </a:r>
          </a:p>
        </p:txBody>
      </p:sp>
      <p:sp>
        <p:nvSpPr>
          <p:cNvPr id="4" name="TextBox 3"/>
          <p:cNvSpPr txBox="1"/>
          <p:nvPr/>
        </p:nvSpPr>
        <p:spPr>
          <a:xfrm>
            <a:off x="1024128" y="2290572"/>
            <a:ext cx="4206240" cy="2203704"/>
          </a:xfrm>
          <a:prstGeom prst="rect">
            <a:avLst/>
          </a:prstGeom>
          <a:noFill/>
          <a:effectLst/>
        </p:spPr>
        <p:txBody>
          <a:bodyPr wrap="square">
            <a:noAutofit/>
          </a:bodyPr>
          <a:lstStyle/>
          <a:p>
            <a:pPr eaLnBrk="1" hangingPunct="1">
              <a:lnSpc>
                <a:spcPct val="122000"/>
              </a:lnSpc>
            </a:pPr>
            <a:r>
              <a:rPr sz="2400" b="1" lang="ja-JP" altLang="en-US">
                <a:solidFill>
                  <a:srgbClr val="111111"/>
                </a:solidFill>
                <a:latin typeface="Yu Mincho"/>
                <a:ea typeface="Yu Mincho"/>
              </a:rPr>
              <a:t>規模と勢いは別物 ～誰が今動いているか</a:t>
            </a:r>
          </a:p>
        </p:txBody>
      </p:sp>
      <p:sp>
        <p:nvSpPr>
          <p:cNvPr id="5" name="TextBox 4"/>
          <p:cNvSpPr txBox="1"/>
          <p:nvPr/>
        </p:nvSpPr>
        <p:spPr>
          <a:xfrm>
            <a:off x="5577840" y="1906524"/>
            <a:ext cx="5971032" cy="2587752"/>
          </a:xfrm>
          <a:prstGeom prst="rect">
            <a:avLst/>
          </a:prstGeom>
          <a:noFill/>
          <a:effectLst/>
        </p:spPr>
        <p:txBody>
          <a:bodyPr wrap="square">
            <a:noAutofit/>
          </a:bodyPr>
          <a:lstStyle/>
          <a:p>
            <a:pPr eaLnBrk="1" hangingPunct="1">
              <a:lnSpc>
                <a:spcPct val="140000"/>
              </a:lnSpc>
              <a:spcAft>
                <a:spcPts val="800"/>
              </a:spcAft>
            </a:pPr>
            <a:r>
              <a:rPr b="1" sz="1400" lang="ja-JP" altLang="en-US">
                <a:solidFill>
                  <a:srgbClr val="111111"/>
                </a:solidFill>
                <a:latin typeface="Century Gothic"/>
                <a:ea typeface="Yu Gothic"/>
              </a:rPr>
              <a:t>何を</a:t>
            </a:r>
            <a:r>
              <a:rPr b="0" sz="1400" lang="ja-JP" altLang="en-US">
                <a:solidFill>
                  <a:srgbClr val="111111"/>
                </a:solidFill>
                <a:latin typeface="Century Gothic"/>
                <a:ea typeface="Yu Gothic"/>
              </a:rPr>
              <a:t>: 出願人を累積件数（規模）と直近活動量（勢い）の2軸で布置する</a:t>
            </a:r>
          </a:p>
          <a:p>
            <a:pPr eaLnBrk="1" hangingPunct="1">
              <a:lnSpc>
                <a:spcPct val="140000"/>
              </a:lnSpc>
              <a:spcAft>
                <a:spcPts val="800"/>
              </a:spcAft>
            </a:pPr>
            <a:r>
              <a:rPr b="1" sz="1400" lang="ja-JP" altLang="en-US">
                <a:solidFill>
                  <a:srgbClr val="111111"/>
                </a:solidFill>
                <a:latin typeface="Century Gothic"/>
                <a:ea typeface="Yu Gothic"/>
              </a:rPr>
              <a:t>なぜ</a:t>
            </a:r>
            <a:r>
              <a:rPr b="0" sz="1400" lang="ja-JP" altLang="en-US">
                <a:solidFill>
                  <a:srgbClr val="111111"/>
                </a:solidFill>
                <a:latin typeface="Century Gothic"/>
                <a:ea typeface="Yu Gothic"/>
              </a:rPr>
              <a:t>: 累積件数が大きくても直近に動いていなければ現在の脅威ではない</a:t>
            </a:r>
          </a:p>
          <a:p>
            <a:pPr eaLnBrk="1" hangingPunct="1">
              <a:lnSpc>
                <a:spcPct val="140000"/>
              </a:lnSpc>
              <a:spcAft>
                <a:spcPts val="800"/>
              </a:spcAft>
            </a:pPr>
            <a:r>
              <a:rPr b="1" sz="1400" lang="ja-JP" altLang="en-US">
                <a:solidFill>
                  <a:srgbClr val="111111"/>
                </a:solidFill>
                <a:latin typeface="Century Gothic"/>
                <a:ea typeface="Yu Gothic"/>
              </a:rPr>
              <a:t>着眼</a:t>
            </a:r>
            <a:r>
              <a:rPr b="0" sz="1400" lang="ja-JP" altLang="en-US">
                <a:solidFill>
                  <a:srgbClr val="111111"/>
                </a:solidFill>
                <a:latin typeface="Century Gothic"/>
                <a:ea typeface="Yu Gothic"/>
              </a:rPr>
              <a:t>: 東ソー・旭化成は勢い側、帝人化成は規模あるが勢いゼロ</a:t>
            </a:r>
          </a:p>
          <a:p>
            <a:pPr eaLnBrk="1" hangingPunct="1">
              <a:lnSpc>
                <a:spcPct val="140000"/>
              </a:lnSpc>
              <a:spcAft>
                <a:spcPts val="800"/>
              </a:spcAft>
            </a:pPr>
            <a:r>
              <a:rPr b="1" sz="1400" lang="ja-JP" altLang="en-US">
                <a:solidFill>
                  <a:srgbClr val="111111"/>
                </a:solidFill>
                <a:latin typeface="Century Gothic"/>
                <a:ea typeface="Yu Gothic"/>
              </a:rPr>
              <a:t>留意</a:t>
            </a:r>
            <a:r>
              <a:rPr b="0" sz="1400" lang="ja-JP" altLang="en-US">
                <a:solidFill>
                  <a:srgbClr val="111111"/>
                </a:solidFill>
                <a:latin typeface="Century Gothic"/>
                <a:ea typeface="Yu Gothic"/>
              </a:rPr>
              <a:t>: 新規参入はCAGR算定が不安定。自動象限ラベルは活動量軸で補正して読む</a:t>
            </a:r>
          </a:p>
        </p:txBody>
      </p:sp>
      <p:sp>
        <p:nvSpPr>
          <p:cNvPr id="6" name="TextBox 5"/>
          <p:cNvSpPr txBox="1"/>
          <p:nvPr/>
        </p:nvSpPr>
        <p:spPr>
          <a:xfrm>
            <a:off x="11384280" y="6419088"/>
            <a:ext cx="502920" cy="228600"/>
          </a:xfrm>
          <a:prstGeom prst="rect">
            <a:avLst/>
          </a:prstGeom>
          <a:noFill/>
          <a:effectLst/>
        </p:spPr>
        <p:txBody>
          <a:bodyPr wrap="none">
            <a:spAutoFit/>
          </a:bodyPr>
          <a:lstStyle/>
          <a:p>
            <a:pPr eaLnBrk="1" hangingPunct="1" algn="r"/>
            <a:r>
              <a:rPr sz="1000" b="0" lang="ja-JP" altLang="en-US">
                <a:solidFill>
                  <a:srgbClr val="686868"/>
                </a:solidFill>
                <a:latin typeface="Century Gothic"/>
                <a:ea typeface="Yu Gothic"/>
              </a:rPr>
              <a:t>26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22960" y="521208"/>
            <a:ext cx="365760" cy="1270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22960" y="630936"/>
            <a:ext cx="10725912" cy="713232"/>
          </a:xfrm>
          <a:prstGeom prst="rect">
            <a:avLst/>
          </a:prstGeom>
          <a:noFill/>
          <a:effectLst/>
        </p:spPr>
        <p:txBody>
          <a:bodyPr wrap="square">
            <a:noAutofit/>
          </a:bodyPr>
          <a:lstStyle/>
          <a:p>
            <a:pPr eaLnBrk="1" hangingPunct="1">
              <a:lnSpc>
                <a:spcPct val="118000"/>
              </a:lnSpc>
            </a:pPr>
            <a:r>
              <a:rPr b="1" sz="2700" lang="ja-JP" altLang="en-US">
                <a:solidFill>
                  <a:srgbClr val="111111"/>
                </a:solidFill>
                <a:latin typeface="Yu Mincho"/>
                <a:ea typeface="Yu Mincho"/>
              </a:rPr>
              <a:t>動態マップ：勢いの中心は東ソー・旭化成・東レ、帝人化成は失速</a:t>
            </a:r>
          </a:p>
        </p:txBody>
      </p:sp>
      <p:sp>
        <p:nvSpPr>
          <p:cNvPr id="4" name="Rectangle 3"/>
          <p:cNvSpPr/>
          <p:nvPr/>
        </p:nvSpPr>
        <p:spPr>
          <a:xfrm>
            <a:off x="822960" y="1399032"/>
            <a:ext cx="10725912" cy="822959"/>
          </a:xfrm>
          <a:prstGeom prst="rect">
            <a:avLst/>
          </a:prstGeom>
          <a:solidFill>
            <a:srgbClr val="F6F7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822960" y="1399032"/>
            <a:ext cx="36576" cy="822959"/>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60120" y="1472184"/>
            <a:ext cx="10451592" cy="676655"/>
          </a:xfrm>
          <a:prstGeom prst="rect">
            <a:avLst/>
          </a:prstGeom>
          <a:noFill/>
          <a:effectLst/>
        </p:spPr>
        <p:txBody>
          <a:bodyPr wrap="square">
            <a:noAutofit/>
          </a:bodyPr>
          <a:lstStyle/>
          <a:p>
            <a:pPr eaLnBrk="1" hangingPunct="1">
              <a:lnSpc>
                <a:spcPct val="150000"/>
              </a:lnSpc>
            </a:pPr>
            <a:r>
              <a:rPr sz="1500" b="1" lang="ja-JP" altLang="en-US">
                <a:solidFill>
                  <a:srgbClr val="C51212"/>
                </a:solidFill>
                <a:latin typeface="Century Gothic"/>
                <a:ea typeface="Yu Gothic"/>
              </a:rPr>
              <a:t>■ </a:t>
            </a:r>
            <a:r>
              <a:rPr sz="1500" lang="ja-JP" altLang="en-US">
                <a:solidFill>
                  <a:srgbClr val="111111"/>
                </a:solidFill>
                <a:latin typeface="Century Gothic"/>
                <a:ea typeface="Yu Gothic"/>
              </a:rPr>
              <a:t>直近活動量で見ると東ソー(12)・旭化成(9)・東レ(8)が上位。帝人化成は活動量0＝勢いを失った旧勢力。</a:t>
            </a:r>
          </a:p>
        </p:txBody>
      </p:sp>
      <p:sp>
        <p:nvSpPr>
          <p:cNvPr id="7" name="TextBox 6"/>
          <p:cNvSpPr txBox="1"/>
          <p:nvPr/>
        </p:nvSpPr>
        <p:spPr>
          <a:xfrm>
            <a:off x="822960" y="2313432"/>
            <a:ext cx="7266553" cy="320040"/>
          </a:xfrm>
          <a:prstGeom prst="rect">
            <a:avLst/>
          </a:prstGeom>
          <a:noFill/>
          <a:effectLst/>
        </p:spPr>
        <p:txBody>
          <a:bodyPr wrap="none">
            <a:spAutoFit/>
          </a:bodyPr>
          <a:lstStyle/>
          <a:p>
            <a:pPr eaLnBrk="1" hangingPunct="1"/>
            <a:r>
              <a:rPr sz="1400" b="1" lang="ja-JP" altLang="en-US">
                <a:solidFill>
                  <a:srgbClr val="111111"/>
                </a:solidFill>
                <a:latin typeface="Yu Mincho"/>
                <a:ea typeface="Yu Mincho"/>
              </a:rPr>
              <a:t>MEGA PULSE 動態マップ（出願人軸）</a:t>
            </a:r>
          </a:p>
        </p:txBody>
      </p:sp>
      <p:pic>
        <p:nvPicPr>
          <p:cNvPr id="8" name="Picture 7" descr="mega_pulse_snap.png"/>
          <p:cNvPicPr>
            <a:picLocks noChangeAspect="1"/>
          </p:cNvPicPr>
          <p:nvPr/>
        </p:nvPicPr>
        <p:blipFill>
          <a:blip r:embed="rId2"/>
          <a:stretch>
            <a:fillRect/>
          </a:stretch>
        </p:blipFill>
        <p:spPr>
          <a:xfrm>
            <a:off x="1717100" y="2633472"/>
            <a:ext cx="5478272" cy="3081527"/>
          </a:xfrm>
          <a:prstGeom prst="rect">
            <a:avLst/>
          </a:prstGeom>
          <a:effectLst/>
        </p:spPr>
      </p:pic>
      <p:sp>
        <p:nvSpPr>
          <p:cNvPr id="9" name="TextBox 8"/>
          <p:cNvSpPr txBox="1"/>
          <p:nvPr/>
        </p:nvSpPr>
        <p:spPr>
          <a:xfrm>
            <a:off x="822960" y="5788152"/>
            <a:ext cx="7266553" cy="228600"/>
          </a:xfrm>
          <a:prstGeom prst="rect">
            <a:avLst/>
          </a:prstGeom>
          <a:noFill/>
          <a:effectLst/>
        </p:spPr>
        <p:txBody>
          <a:bodyPr wrap="none">
            <a:spAutoFit/>
          </a:bodyPr>
          <a:lstStyle/>
          <a:p>
            <a:pPr eaLnBrk="1" hangingPunct="1" algn="ctr"/>
            <a:r>
              <a:rPr sz="1000" b="0" lang="ja-JP" altLang="en-US">
                <a:solidFill>
                  <a:srgbClr val="686868"/>
                </a:solidFill>
                <a:latin typeface="Century Gothic"/>
                <a:ea typeface="Yu Gothic"/>
              </a:rPr>
              <a:t>CAGR × 直近活動量 の4象限（バブル=総件数）</a:t>
            </a:r>
          </a:p>
        </p:txBody>
      </p:sp>
      <p:sp>
        <p:nvSpPr>
          <p:cNvPr id="10" name="TextBox 9"/>
          <p:cNvSpPr txBox="1"/>
          <p:nvPr/>
        </p:nvSpPr>
        <p:spPr>
          <a:xfrm>
            <a:off x="8427841" y="2386584"/>
            <a:ext cx="3468502" cy="3346703"/>
          </a:xfrm>
          <a:prstGeom prst="rect">
            <a:avLst/>
          </a:prstGeom>
          <a:noFill/>
          <a:effectLst/>
        </p:spPr>
        <p:txBody>
          <a:bodyPr wrap="square">
            <a:noAutofit/>
          </a:bodyPr>
          <a:lstStyle/>
          <a:p>
            <a:pPr eaLnBrk="1" hangingPunct="1">
              <a:lnSpc>
                <a:spcPct val="145000"/>
              </a:lnSpc>
              <a:spcAft>
                <a:spcPts val="600"/>
              </a:spcAft>
            </a:pPr>
            <a:r>
              <a:rPr sz="1400" lang="ja-JP" altLang="en-US">
                <a:solidFill>
                  <a:srgbClr val="111111"/>
                </a:solidFill>
                <a:latin typeface="Century Gothic"/>
                <a:ea typeface="Yu Gothic"/>
              </a:rPr>
              <a:t>■ </a:t>
            </a:r>
            <a:r>
              <a:rPr b="1" sz="1400" lang="ja-JP" altLang="en-US">
                <a:solidFill>
                  <a:srgbClr val="111111"/>
                </a:solidFill>
                <a:latin typeface="Century Gothic"/>
                <a:ea typeface="Yu Gothic"/>
              </a:rPr>
              <a:t>リーダー（規模×勢い）</a:t>
            </a:r>
            <a:r>
              <a:rPr sz="1400" lang="ja-JP" altLang="en-US">
                <a:solidFill>
                  <a:srgbClr val="111111"/>
                </a:solidFill>
                <a:latin typeface="Century Gothic"/>
                <a:ea typeface="Yu Gothic"/>
              </a:rPr>
              <a:t>：東ソー・東レ・旭化成 — 継続/急進が交差する現在の主役群</a:t>
            </a:r>
          </a:p>
          <a:p>
            <a:pPr eaLnBrk="1" hangingPunct="1">
              <a:lnSpc>
                <a:spcPct val="145000"/>
              </a:lnSpc>
              <a:spcAft>
                <a:spcPts val="600"/>
              </a:spcAft>
            </a:pPr>
            <a:r>
              <a:rPr sz="1400" lang="ja-JP" altLang="en-US">
                <a:solidFill>
                  <a:srgbClr val="111111"/>
                </a:solidFill>
                <a:latin typeface="Century Gothic"/>
                <a:ea typeface="Yu Gothic"/>
              </a:rPr>
              <a:t>■ </a:t>
            </a:r>
            <a:r>
              <a:rPr b="1" sz="1400" lang="ja-JP" altLang="en-US">
                <a:solidFill>
                  <a:srgbClr val="111111"/>
                </a:solidFill>
                <a:latin typeface="Century Gothic"/>
                <a:ea typeface="Yu Gothic"/>
              </a:rPr>
              <a:t>勢い喪失</a:t>
            </a:r>
            <a:r>
              <a:rPr sz="1400" lang="ja-JP" altLang="en-US">
                <a:solidFill>
                  <a:srgbClr val="111111"/>
                </a:solidFill>
                <a:latin typeface="Century Gothic"/>
                <a:ea typeface="Yu Gothic"/>
              </a:rPr>
              <a:t>：帝人化成（活動量0）— 規模は残るが現役ではない</a:t>
            </a:r>
          </a:p>
          <a:p>
            <a:pPr eaLnBrk="1" hangingPunct="1">
              <a:lnSpc>
                <a:spcPct val="145000"/>
              </a:lnSpc>
              <a:spcAft>
                <a:spcPts val="600"/>
              </a:spcAft>
            </a:pPr>
            <a:r>
              <a:rPr sz="1400" lang="ja-JP" altLang="en-US">
                <a:solidFill>
                  <a:srgbClr val="111111"/>
                </a:solidFill>
                <a:latin typeface="Century Gothic"/>
                <a:ea typeface="Yu Gothic"/>
              </a:rPr>
              <a:t>■ </a:t>
            </a:r>
            <a:r>
              <a:rPr sz="1400" lang="ja-JP" altLang="en-US">
                <a:solidFill>
                  <a:srgbClr val="111111"/>
                </a:solidFill>
                <a:latin typeface="Century Gothic"/>
                <a:ea typeface="Yu Gothic"/>
              </a:rPr>
              <a:t>LG化学は活動量16で最大級だが、新規ゆえCAGRが負に出て自動判定は『成熟』寄り＝</a:t>
            </a:r>
            <a:r>
              <a:rPr b="1" sz="1400" lang="ja-JP" altLang="en-US">
                <a:solidFill>
                  <a:srgbClr val="111111"/>
                </a:solidFill>
                <a:latin typeface="Century Gothic"/>
                <a:ea typeface="Yu Gothic"/>
              </a:rPr>
              <a:t>定量の癖</a:t>
            </a:r>
          </a:p>
          <a:p>
            <a:pPr eaLnBrk="1" hangingPunct="1">
              <a:lnSpc>
                <a:spcPct val="145000"/>
              </a:lnSpc>
              <a:spcAft>
                <a:spcPts val="600"/>
              </a:spcAft>
            </a:pPr>
            <a:r>
              <a:rPr sz="1400" lang="ja-JP" altLang="en-US">
                <a:solidFill>
                  <a:srgbClr val="111111"/>
                </a:solidFill>
                <a:latin typeface="Century Gothic"/>
                <a:ea typeface="Yu Gothic"/>
              </a:rPr>
              <a:t>■ </a:t>
            </a:r>
            <a:r>
              <a:rPr b="1" sz="1400" lang="ja-JP" altLang="en-US">
                <a:solidFill>
                  <a:srgbClr val="111111"/>
                </a:solidFill>
                <a:latin typeface="Century Gothic"/>
                <a:ea typeface="Yu Gothic"/>
              </a:rPr>
              <a:t>含意</a:t>
            </a:r>
            <a:r>
              <a:rPr sz="1400" lang="ja-JP" altLang="en-US">
                <a:solidFill>
                  <a:srgbClr val="111111"/>
                </a:solidFill>
                <a:latin typeface="Century Gothic"/>
                <a:ea typeface="Yu Gothic"/>
              </a:rPr>
              <a:t>：競合評価は累積件数でなく直近活動量を主軸に。LGは事実上の急進リーダーとして扱う</a:t>
            </a:r>
          </a:p>
        </p:txBody>
      </p:sp>
      <p:sp>
        <p:nvSpPr>
          <p:cNvPr id="11" name="TextBox 10"/>
          <p:cNvSpPr txBox="1"/>
          <p:nvPr/>
        </p:nvSpPr>
        <p:spPr>
          <a:xfrm>
            <a:off x="457200" y="6053328"/>
            <a:ext cx="11247120" cy="320040"/>
          </a:xfrm>
          <a:prstGeom prst="rect">
            <a:avLst/>
          </a:prstGeom>
          <a:noFill/>
          <a:effectLst/>
        </p:spPr>
        <p:txBody>
          <a:bodyPr wrap="square">
            <a:noAutofit/>
          </a:bodyPr>
          <a:lstStyle/>
          <a:p>
            <a:pPr eaLnBrk="1" hangingPunct="1"/>
            <a:r>
              <a:rPr sz="900" b="0" lang="ja-JP" altLang="en-US">
                <a:solidFill>
                  <a:srgbClr val="686868"/>
                </a:solidFill>
                <a:latin typeface="Century Gothic"/>
                <a:ea typeface="Yu Gothic"/>
              </a:rPr>
              <a:t>（出所）特許データベース Cyber patent desc（2026-06-14）</a:t>
            </a:r>
          </a:p>
        </p:txBody>
      </p:sp>
      <p:sp>
        <p:nvSpPr>
          <p:cNvPr id="12" name="TextBox 11"/>
          <p:cNvSpPr txBox="1"/>
          <p:nvPr/>
        </p:nvSpPr>
        <p:spPr>
          <a:xfrm>
            <a:off x="11384280" y="6419088"/>
            <a:ext cx="502920" cy="228600"/>
          </a:xfrm>
          <a:prstGeom prst="rect">
            <a:avLst/>
          </a:prstGeom>
          <a:noFill/>
          <a:effectLst/>
        </p:spPr>
        <p:txBody>
          <a:bodyPr wrap="none">
            <a:spAutoFit/>
          </a:bodyPr>
          <a:lstStyle/>
          <a:p>
            <a:pPr eaLnBrk="1" hangingPunct="1" algn="r"/>
            <a:r>
              <a:rPr sz="1000" b="0" lang="ja-JP" altLang="en-US">
                <a:solidFill>
                  <a:srgbClr val="686868"/>
                </a:solidFill>
                <a:latin typeface="Century Gothic"/>
                <a:ea typeface="Yu Gothic"/>
              </a:rPr>
              <a:t>27</a:t>
            </a:r>
          </a:p>
        </p:txBody>
      </p:sp>
      <p:cxnSp>
        <p:nvCxnSpPr>
          <p:cNvPr id="13" name="Connector 12"/>
          <p:cNvCxnSpPr/>
          <p:nvPr/>
        </p:nvCxnSpPr>
        <p:spPr>
          <a:xfrm>
            <a:off x="11859767" y="128016"/>
            <a:ext cx="201169" cy="0"/>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14" name="Connector 13"/>
          <p:cNvCxnSpPr/>
          <p:nvPr/>
        </p:nvCxnSpPr>
        <p:spPr>
          <a:xfrm>
            <a:off x="12060936" y="128016"/>
            <a:ext cx="0" cy="201168"/>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15" name="Connector 14"/>
          <p:cNvCxnSpPr/>
          <p:nvPr/>
        </p:nvCxnSpPr>
        <p:spPr>
          <a:xfrm>
            <a:off x="128016" y="6729984"/>
            <a:ext cx="201168" cy="0"/>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a:off x="128016" y="6528816"/>
            <a:ext cx="0" cy="201168"/>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22960" y="521208"/>
            <a:ext cx="365760" cy="1270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22960" y="630936"/>
            <a:ext cx="10725912" cy="713232"/>
          </a:xfrm>
          <a:prstGeom prst="rect">
            <a:avLst/>
          </a:prstGeom>
          <a:noFill/>
          <a:effectLst/>
        </p:spPr>
        <p:txBody>
          <a:bodyPr wrap="square">
            <a:noAutofit/>
          </a:bodyPr>
          <a:lstStyle/>
          <a:p>
            <a:pPr eaLnBrk="1" hangingPunct="1">
              <a:lnSpc>
                <a:spcPct val="118000"/>
              </a:lnSpc>
            </a:pPr>
            <a:r>
              <a:rPr b="1" sz="2700" lang="ja-JP" altLang="en-US">
                <a:solidFill>
                  <a:srgbClr val="111111"/>
                </a:solidFill>
                <a:latin typeface="Yu Mincho"/>
                <a:ea typeface="Yu Mincho"/>
              </a:rPr>
              <a:t>規模×勢いの2軸で競合を再配置 ～監視すべきは右側（勢い）</a:t>
            </a:r>
          </a:p>
        </p:txBody>
      </p:sp>
      <p:sp>
        <p:nvSpPr>
          <p:cNvPr id="4" name="Rectangle 3"/>
          <p:cNvSpPr/>
          <p:nvPr/>
        </p:nvSpPr>
        <p:spPr>
          <a:xfrm>
            <a:off x="822960" y="1399032"/>
            <a:ext cx="10725912" cy="822959"/>
          </a:xfrm>
          <a:prstGeom prst="rect">
            <a:avLst/>
          </a:prstGeom>
          <a:solidFill>
            <a:srgbClr val="F6F7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822960" y="1399032"/>
            <a:ext cx="36576" cy="822959"/>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60120" y="1472184"/>
            <a:ext cx="10451592" cy="676655"/>
          </a:xfrm>
          <a:prstGeom prst="rect">
            <a:avLst/>
          </a:prstGeom>
          <a:noFill/>
          <a:effectLst/>
        </p:spPr>
        <p:txBody>
          <a:bodyPr wrap="square">
            <a:noAutofit/>
          </a:bodyPr>
          <a:lstStyle/>
          <a:p>
            <a:pPr eaLnBrk="1" hangingPunct="1">
              <a:lnSpc>
                <a:spcPct val="150000"/>
              </a:lnSpc>
            </a:pPr>
            <a:r>
              <a:rPr sz="1500" b="1" lang="ja-JP" altLang="en-US">
                <a:solidFill>
                  <a:srgbClr val="C51212"/>
                </a:solidFill>
                <a:latin typeface="Century Gothic"/>
                <a:ea typeface="Yu Gothic"/>
              </a:rPr>
              <a:t>■ </a:t>
            </a:r>
            <a:r>
              <a:rPr sz="1500" lang="ja-JP" altLang="en-US">
                <a:solidFill>
                  <a:srgbClr val="111111"/>
                </a:solidFill>
                <a:latin typeface="Century Gothic"/>
                <a:ea typeface="Yu Gothic"/>
              </a:rPr>
              <a:t>累積件数（縦）と直近活動量（横）で4象限化。右側＝今動いている企業を最優先で監視する。</a:t>
            </a:r>
          </a:p>
        </p:txBody>
      </p:sp>
      <p:sp>
        <p:nvSpPr>
          <p:cNvPr id="7" name="Rectangle 6"/>
          <p:cNvSpPr/>
          <p:nvPr/>
        </p:nvSpPr>
        <p:spPr>
          <a:xfrm>
            <a:off x="1280160" y="2496312"/>
            <a:ext cx="2606040" cy="1495044"/>
          </a:xfrm>
          <a:prstGeom prst="rect">
            <a:avLst/>
          </a:prstGeom>
          <a:solidFill>
            <a:srgbClr val="F1F2F3"/>
          </a:solidFill>
          <a:ln w="9525">
            <a:solidFill>
              <a:srgbClr val="D8DA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1389888" y="2587752"/>
            <a:ext cx="2377440" cy="320040"/>
          </a:xfrm>
          <a:prstGeom prst="rect">
            <a:avLst/>
          </a:prstGeom>
          <a:noFill/>
          <a:effectLst/>
        </p:spPr>
        <p:txBody>
          <a:bodyPr wrap="none">
            <a:spAutoFit/>
          </a:bodyPr>
          <a:lstStyle/>
          <a:p>
            <a:pPr eaLnBrk="1" hangingPunct="1"/>
            <a:r>
              <a:rPr sz="1300" b="1" lang="ja-JP" altLang="en-US">
                <a:solidFill>
                  <a:srgbClr val="686868"/>
                </a:solidFill>
                <a:latin typeface="Century Gothic"/>
                <a:ea typeface="Yu Gothic"/>
              </a:rPr>
              <a:t>規模あり・勢い低（休眠/縮小）</a:t>
            </a:r>
          </a:p>
        </p:txBody>
      </p:sp>
      <p:sp>
        <p:nvSpPr>
          <p:cNvPr id="9" name="TextBox 8"/>
          <p:cNvSpPr txBox="1"/>
          <p:nvPr/>
        </p:nvSpPr>
        <p:spPr>
          <a:xfrm>
            <a:off x="1417319" y="2953512"/>
            <a:ext cx="2286000" cy="900684"/>
          </a:xfrm>
          <a:prstGeom prst="rect">
            <a:avLst/>
          </a:prstGeom>
          <a:noFill/>
          <a:effectLst/>
        </p:spPr>
        <p:txBody>
          <a:bodyPr wrap="square">
            <a:spAutoFit/>
          </a:bodyPr>
          <a:lstStyle/>
          <a:p>
            <a:pPr eaLnBrk="1" hangingPunct="1"/>
            <a:r>
              <a:rPr sz="1050" b="0" lang="ja-JP" altLang="en-US">
                <a:solidFill>
                  <a:srgbClr val="111111"/>
                </a:solidFill>
                <a:latin typeface="Century Gothic"/>
                <a:ea typeface="Yu Gothic"/>
              </a:rPr>
              <a:t>・帝人化成（撤退）</a:t>
            </a:r>
          </a:p>
          <a:p>
            <a:pPr eaLnBrk="1" hangingPunct="1"/>
            <a:r>
              <a:rPr sz="1050" b="0" lang="ja-JP" altLang="en-US">
                <a:solidFill>
                  <a:srgbClr val="111111"/>
                </a:solidFill>
                <a:latin typeface="Century Gothic"/>
                <a:ea typeface="Yu Gothic"/>
              </a:rPr>
              <a:t>・三菱電機（縮小）</a:t>
            </a:r>
          </a:p>
          <a:p>
            <a:pPr eaLnBrk="1" hangingPunct="1"/>
            <a:r>
              <a:rPr sz="1050" b="0" lang="ja-JP" altLang="en-US">
                <a:solidFill>
                  <a:srgbClr val="111111"/>
                </a:solidFill>
                <a:latin typeface="Century Gothic"/>
                <a:ea typeface="Yu Gothic"/>
              </a:rPr>
              <a:t>・出光興産（休眠）</a:t>
            </a:r>
          </a:p>
        </p:txBody>
      </p:sp>
      <p:sp>
        <p:nvSpPr>
          <p:cNvPr id="10" name="Rectangle 9"/>
          <p:cNvSpPr/>
          <p:nvPr/>
        </p:nvSpPr>
        <p:spPr>
          <a:xfrm>
            <a:off x="3931920" y="2496312"/>
            <a:ext cx="2606040" cy="1495044"/>
          </a:xfrm>
          <a:prstGeom prst="rect">
            <a:avLst/>
          </a:prstGeom>
          <a:solidFill>
            <a:srgbClr val="F1F2F3"/>
          </a:solidFill>
          <a:ln w="9525">
            <a:solidFill>
              <a:srgbClr val="D8DA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4041648" y="2587752"/>
            <a:ext cx="2377440" cy="320040"/>
          </a:xfrm>
          <a:prstGeom prst="rect">
            <a:avLst/>
          </a:prstGeom>
          <a:noFill/>
          <a:effectLst/>
        </p:spPr>
        <p:txBody>
          <a:bodyPr wrap="none">
            <a:spAutoFit/>
          </a:bodyPr>
          <a:lstStyle/>
          <a:p>
            <a:pPr eaLnBrk="1" hangingPunct="1"/>
            <a:r>
              <a:rPr sz="1300" b="1" lang="ja-JP" altLang="en-US">
                <a:solidFill>
                  <a:srgbClr val="C51212"/>
                </a:solidFill>
                <a:latin typeface="Century Gothic"/>
                <a:ea typeface="Yu Gothic"/>
              </a:rPr>
              <a:t>規模あり・勢い高（現役リーダー）</a:t>
            </a:r>
          </a:p>
        </p:txBody>
      </p:sp>
      <p:sp>
        <p:nvSpPr>
          <p:cNvPr id="12" name="TextBox 11"/>
          <p:cNvSpPr txBox="1"/>
          <p:nvPr/>
        </p:nvSpPr>
        <p:spPr>
          <a:xfrm>
            <a:off x="4069080" y="2953512"/>
            <a:ext cx="2286000" cy="900684"/>
          </a:xfrm>
          <a:prstGeom prst="rect">
            <a:avLst/>
          </a:prstGeom>
          <a:noFill/>
          <a:effectLst/>
        </p:spPr>
        <p:txBody>
          <a:bodyPr wrap="square">
            <a:spAutoFit/>
          </a:bodyPr>
          <a:lstStyle/>
          <a:p>
            <a:pPr eaLnBrk="1" hangingPunct="1"/>
            <a:r>
              <a:rPr sz="1050" b="0" lang="ja-JP" altLang="en-US">
                <a:solidFill>
                  <a:srgbClr val="111111"/>
                </a:solidFill>
                <a:latin typeface="Century Gothic"/>
                <a:ea typeface="Yu Gothic"/>
              </a:rPr>
              <a:t>・東レ（継続・本命）</a:t>
            </a:r>
          </a:p>
          <a:p>
            <a:pPr eaLnBrk="1" hangingPunct="1"/>
            <a:r>
              <a:rPr sz="1050" b="0" lang="ja-JP" altLang="en-US">
                <a:solidFill>
                  <a:srgbClr val="111111"/>
                </a:solidFill>
                <a:latin typeface="Century Gothic"/>
                <a:ea typeface="Yu Gothic"/>
              </a:rPr>
              <a:t>・東ソー（急進）</a:t>
            </a:r>
          </a:p>
          <a:p>
            <a:pPr eaLnBrk="1" hangingPunct="1"/>
            <a:r>
              <a:rPr sz="1050" b="0" lang="ja-JP" altLang="en-US">
                <a:solidFill>
                  <a:srgbClr val="111111"/>
                </a:solidFill>
                <a:latin typeface="Century Gothic"/>
                <a:ea typeface="Yu Gothic"/>
              </a:rPr>
              <a:t>・LG化学（急進・海外）</a:t>
            </a:r>
          </a:p>
        </p:txBody>
      </p:sp>
      <p:sp>
        <p:nvSpPr>
          <p:cNvPr id="13" name="Rectangle 12"/>
          <p:cNvSpPr/>
          <p:nvPr/>
        </p:nvSpPr>
        <p:spPr>
          <a:xfrm>
            <a:off x="1280160" y="4037076"/>
            <a:ext cx="2606040" cy="1495044"/>
          </a:xfrm>
          <a:prstGeom prst="rect">
            <a:avLst/>
          </a:prstGeom>
          <a:solidFill>
            <a:srgbClr val="F1F2F3"/>
          </a:solidFill>
          <a:ln w="9525">
            <a:solidFill>
              <a:srgbClr val="D8DA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1389888" y="4128516"/>
            <a:ext cx="2377440" cy="320040"/>
          </a:xfrm>
          <a:prstGeom prst="rect">
            <a:avLst/>
          </a:prstGeom>
          <a:noFill/>
          <a:effectLst/>
        </p:spPr>
        <p:txBody>
          <a:bodyPr wrap="none">
            <a:spAutoFit/>
          </a:bodyPr>
          <a:lstStyle/>
          <a:p>
            <a:pPr eaLnBrk="1" hangingPunct="1"/>
            <a:r>
              <a:rPr sz="1300" b="1" lang="ja-JP" altLang="en-US">
                <a:solidFill>
                  <a:srgbClr val="686868"/>
                </a:solidFill>
                <a:latin typeface="Century Gothic"/>
                <a:ea typeface="Yu Gothic"/>
              </a:rPr>
              <a:t>規模小・勢い低（限定/撤退）</a:t>
            </a:r>
          </a:p>
        </p:txBody>
      </p:sp>
      <p:sp>
        <p:nvSpPr>
          <p:cNvPr id="15" name="TextBox 14"/>
          <p:cNvSpPr txBox="1"/>
          <p:nvPr/>
        </p:nvSpPr>
        <p:spPr>
          <a:xfrm>
            <a:off x="1417319" y="4494276"/>
            <a:ext cx="2286000" cy="900684"/>
          </a:xfrm>
          <a:prstGeom prst="rect">
            <a:avLst/>
          </a:prstGeom>
          <a:noFill/>
          <a:effectLst/>
        </p:spPr>
        <p:txBody>
          <a:bodyPr wrap="square">
            <a:spAutoFit/>
          </a:bodyPr>
          <a:lstStyle/>
          <a:p>
            <a:pPr eaLnBrk="1" hangingPunct="1"/>
            <a:r>
              <a:rPr sz="1050" b="0" lang="ja-JP" altLang="en-US">
                <a:solidFill>
                  <a:srgbClr val="111111"/>
                </a:solidFill>
                <a:latin typeface="Century Gothic"/>
                <a:ea typeface="Yu Gothic"/>
              </a:rPr>
              <a:t>・ソニー</a:t>
            </a:r>
          </a:p>
          <a:p>
            <a:pPr eaLnBrk="1" hangingPunct="1"/>
            <a:r>
              <a:rPr sz="1050" b="0" lang="ja-JP" altLang="en-US">
                <a:solidFill>
                  <a:srgbClr val="111111"/>
                </a:solidFill>
                <a:latin typeface="Century Gothic"/>
                <a:ea typeface="Yu Gothic"/>
              </a:rPr>
              <a:t>・ダイセルポリマー</a:t>
            </a:r>
          </a:p>
          <a:p>
            <a:pPr eaLnBrk="1" hangingPunct="1"/>
            <a:r>
              <a:rPr sz="1050" b="0" lang="ja-JP" altLang="en-US">
                <a:solidFill>
                  <a:srgbClr val="111111"/>
                </a:solidFill>
                <a:latin typeface="Century Gothic"/>
                <a:ea typeface="Yu Gothic"/>
              </a:rPr>
              <a:t>・ベクトン・ディキンソン</a:t>
            </a:r>
          </a:p>
        </p:txBody>
      </p:sp>
      <p:sp>
        <p:nvSpPr>
          <p:cNvPr id="16" name="Rectangle 15"/>
          <p:cNvSpPr/>
          <p:nvPr/>
        </p:nvSpPr>
        <p:spPr>
          <a:xfrm>
            <a:off x="3931920" y="4037076"/>
            <a:ext cx="2606040" cy="1495044"/>
          </a:xfrm>
          <a:prstGeom prst="rect">
            <a:avLst/>
          </a:prstGeom>
          <a:solidFill>
            <a:srgbClr val="F1F2F3"/>
          </a:solidFill>
          <a:ln w="9525">
            <a:solidFill>
              <a:srgbClr val="D8DA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041648" y="4128516"/>
            <a:ext cx="2377440" cy="320040"/>
          </a:xfrm>
          <a:prstGeom prst="rect">
            <a:avLst/>
          </a:prstGeom>
          <a:noFill/>
          <a:effectLst/>
        </p:spPr>
        <p:txBody>
          <a:bodyPr wrap="none">
            <a:spAutoFit/>
          </a:bodyPr>
          <a:lstStyle/>
          <a:p>
            <a:pPr eaLnBrk="1" hangingPunct="1"/>
            <a:r>
              <a:rPr sz="1300" b="1" lang="ja-JP" altLang="en-US">
                <a:solidFill>
                  <a:srgbClr val="111111"/>
                </a:solidFill>
                <a:latin typeface="Century Gothic"/>
                <a:ea typeface="Yu Gothic"/>
              </a:rPr>
              <a:t>規模小・勢い高（新興）</a:t>
            </a:r>
          </a:p>
        </p:txBody>
      </p:sp>
      <p:sp>
        <p:nvSpPr>
          <p:cNvPr id="18" name="TextBox 17"/>
          <p:cNvSpPr txBox="1"/>
          <p:nvPr/>
        </p:nvSpPr>
        <p:spPr>
          <a:xfrm>
            <a:off x="4069080" y="4494276"/>
            <a:ext cx="2286000" cy="900684"/>
          </a:xfrm>
          <a:prstGeom prst="rect">
            <a:avLst/>
          </a:prstGeom>
          <a:noFill/>
          <a:effectLst/>
        </p:spPr>
        <p:txBody>
          <a:bodyPr wrap="square">
            <a:spAutoFit/>
          </a:bodyPr>
          <a:lstStyle/>
          <a:p>
            <a:pPr eaLnBrk="1" hangingPunct="1"/>
            <a:r>
              <a:rPr sz="1050" b="0" lang="ja-JP" altLang="en-US">
                <a:solidFill>
                  <a:srgbClr val="111111"/>
                </a:solidFill>
                <a:latin typeface="Century Gothic"/>
                <a:ea typeface="Yu Gothic"/>
              </a:rPr>
              <a:t>・旭化成（急進）</a:t>
            </a:r>
          </a:p>
          <a:p>
            <a:pPr eaLnBrk="1" hangingPunct="1"/>
            <a:r>
              <a:rPr sz="1050" b="0" lang="ja-JP" altLang="en-US">
                <a:solidFill>
                  <a:srgbClr val="111111"/>
                </a:solidFill>
                <a:latin typeface="Century Gothic"/>
                <a:ea typeface="Yu Gothic"/>
              </a:rPr>
              <a:t>・住友化学（急進）</a:t>
            </a:r>
          </a:p>
          <a:p>
            <a:pPr eaLnBrk="1" hangingPunct="1"/>
            <a:r>
              <a:rPr sz="1050" b="0" lang="ja-JP" altLang="en-US">
                <a:solidFill>
                  <a:srgbClr val="111111"/>
                </a:solidFill>
                <a:latin typeface="Century Gothic"/>
                <a:ea typeface="Yu Gothic"/>
              </a:rPr>
              <a:t>・プライムポリマー</a:t>
            </a:r>
          </a:p>
        </p:txBody>
      </p:sp>
      <p:sp>
        <p:nvSpPr>
          <p:cNvPr id="19" name="TextBox 18"/>
          <p:cNvSpPr txBox="1"/>
          <p:nvPr/>
        </p:nvSpPr>
        <p:spPr>
          <a:xfrm>
            <a:off x="3017520" y="5623560"/>
            <a:ext cx="2286000" cy="228600"/>
          </a:xfrm>
          <a:prstGeom prst="rect">
            <a:avLst/>
          </a:prstGeom>
          <a:noFill/>
          <a:effectLst/>
        </p:spPr>
        <p:txBody>
          <a:bodyPr wrap="none">
            <a:spAutoFit/>
          </a:bodyPr>
          <a:lstStyle/>
          <a:p>
            <a:pPr eaLnBrk="1" hangingPunct="1"/>
            <a:r>
              <a:rPr sz="1000" b="0" lang="ja-JP" altLang="en-US">
                <a:solidFill>
                  <a:srgbClr val="686868"/>
                </a:solidFill>
                <a:latin typeface="Century Gothic"/>
                <a:ea typeface="Yu Gothic"/>
              </a:rPr>
              <a:t>→ 直近5年の活動量（勢い）</a:t>
            </a:r>
          </a:p>
        </p:txBody>
      </p:sp>
      <p:sp>
        <p:nvSpPr>
          <p:cNvPr id="20" name="TextBox 19"/>
          <p:cNvSpPr txBox="1"/>
          <p:nvPr/>
        </p:nvSpPr>
        <p:spPr>
          <a:xfrm>
            <a:off x="640080" y="3899916"/>
            <a:ext cx="1828800" cy="274320"/>
          </a:xfrm>
          <a:prstGeom prst="rect">
            <a:avLst/>
          </a:prstGeom>
          <a:noFill/>
          <a:effectLst/>
        </p:spPr>
        <p:txBody>
          <a:bodyPr wrap="none">
            <a:spAutoFit/>
          </a:bodyPr>
          <a:lstStyle/>
          <a:p>
            <a:pPr eaLnBrk="1" hangingPunct="1"/>
            <a:r>
              <a:rPr sz="1000" b="0" lang="ja-JP" altLang="en-US">
                <a:solidFill>
                  <a:srgbClr val="686868"/>
                </a:solidFill>
                <a:latin typeface="Century Gothic"/>
                <a:ea typeface="Yu Gothic"/>
              </a:rPr>
              <a:t>↑ 累積出願件数（規模）</a:t>
            </a:r>
          </a:p>
        </p:txBody>
      </p:sp>
      <p:sp>
        <p:nvSpPr>
          <p:cNvPr id="21" name="Rectangle 20"/>
          <p:cNvSpPr/>
          <p:nvPr/>
        </p:nvSpPr>
        <p:spPr>
          <a:xfrm>
            <a:off x="7040879" y="2496312"/>
            <a:ext cx="4599432" cy="3081528"/>
          </a:xfrm>
          <a:prstGeom prst="rect">
            <a:avLst/>
          </a:prstGeom>
          <a:solidFill>
            <a:srgbClr val="F6F7F8"/>
          </a:solidFill>
          <a:ln w="9525">
            <a:solidFill>
              <a:srgbClr val="D8DA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7150607" y="2569464"/>
            <a:ext cx="4379976" cy="2935224"/>
          </a:xfrm>
          <a:prstGeom prst="rect">
            <a:avLst/>
          </a:prstGeom>
          <a:noFill/>
          <a:effectLst/>
        </p:spPr>
        <p:txBody>
          <a:bodyPr wrap="square">
            <a:noAutofit/>
          </a:bodyPr>
          <a:lstStyle/>
          <a:p>
            <a:pPr eaLnBrk="1" hangingPunct="1">
              <a:lnSpc>
                <a:spcPct val="145000"/>
              </a:lnSpc>
              <a:spcAft>
                <a:spcPts val="600"/>
              </a:spcAft>
            </a:pPr>
            <a:r>
              <a:rPr sz="1300" lang="ja-JP" altLang="en-US">
                <a:solidFill>
                  <a:srgbClr val="111111"/>
                </a:solidFill>
                <a:latin typeface="Century Gothic"/>
                <a:ea typeface="Yu Gothic"/>
              </a:rPr>
              <a:t>■ </a:t>
            </a:r>
            <a:r>
              <a:rPr b="1" sz="1300" lang="ja-JP" altLang="en-US">
                <a:solidFill>
                  <a:srgbClr val="111111"/>
                </a:solidFill>
                <a:latin typeface="Century Gothic"/>
                <a:ea typeface="Yu Gothic"/>
              </a:rPr>
              <a:t>右上＝現役リーダー</a:t>
            </a:r>
            <a:r>
              <a:rPr sz="1300" lang="ja-JP" altLang="en-US">
                <a:solidFill>
                  <a:srgbClr val="111111"/>
                </a:solidFill>
                <a:latin typeface="Century Gothic"/>
                <a:ea typeface="Yu Gothic"/>
              </a:rPr>
              <a:t>：継続の東レ＋急進の東ソー/LGを最優先監視</a:t>
            </a:r>
          </a:p>
          <a:p>
            <a:pPr eaLnBrk="1" hangingPunct="1">
              <a:lnSpc>
                <a:spcPct val="145000"/>
              </a:lnSpc>
              <a:spcAft>
                <a:spcPts val="600"/>
              </a:spcAft>
            </a:pPr>
            <a:r>
              <a:rPr sz="1300" lang="ja-JP" altLang="en-US">
                <a:solidFill>
                  <a:srgbClr val="111111"/>
                </a:solidFill>
                <a:latin typeface="Century Gothic"/>
                <a:ea typeface="Yu Gothic"/>
              </a:rPr>
              <a:t>■ </a:t>
            </a:r>
            <a:r>
              <a:rPr b="1" sz="1300" lang="ja-JP" altLang="en-US">
                <a:solidFill>
                  <a:srgbClr val="111111"/>
                </a:solidFill>
                <a:latin typeface="Century Gothic"/>
                <a:ea typeface="Yu Gothic"/>
              </a:rPr>
              <a:t>右下＝新興</a:t>
            </a:r>
            <a:r>
              <a:rPr sz="1300" lang="ja-JP" altLang="en-US">
                <a:solidFill>
                  <a:srgbClr val="111111"/>
                </a:solidFill>
                <a:latin typeface="Century Gothic"/>
                <a:ea typeface="Yu Gothic"/>
              </a:rPr>
              <a:t>：旭化成・住友化学・プライムポリマーが追い上げ</a:t>
            </a:r>
          </a:p>
          <a:p>
            <a:pPr eaLnBrk="1" hangingPunct="1">
              <a:lnSpc>
                <a:spcPct val="145000"/>
              </a:lnSpc>
              <a:spcAft>
                <a:spcPts val="600"/>
              </a:spcAft>
            </a:pPr>
            <a:r>
              <a:rPr sz="1300" lang="ja-JP" altLang="en-US">
                <a:solidFill>
                  <a:srgbClr val="111111"/>
                </a:solidFill>
                <a:latin typeface="Century Gothic"/>
                <a:ea typeface="Yu Gothic"/>
              </a:rPr>
              <a:t>■ </a:t>
            </a:r>
            <a:r>
              <a:rPr b="1" sz="1300" lang="ja-JP" altLang="en-US">
                <a:solidFill>
                  <a:srgbClr val="111111"/>
                </a:solidFill>
                <a:latin typeface="Century Gothic"/>
                <a:ea typeface="Yu Gothic"/>
              </a:rPr>
              <a:t>左上＝罠</a:t>
            </a:r>
            <a:r>
              <a:rPr sz="1300" lang="ja-JP" altLang="en-US">
                <a:solidFill>
                  <a:srgbClr val="111111"/>
                </a:solidFill>
                <a:latin typeface="Century Gothic"/>
                <a:ea typeface="Yu Gothic"/>
              </a:rPr>
              <a:t>：帝人化成は件数で過大評価されやすい休眠勢</a:t>
            </a:r>
          </a:p>
          <a:p>
            <a:pPr eaLnBrk="1" hangingPunct="1">
              <a:lnSpc>
                <a:spcPct val="145000"/>
              </a:lnSpc>
              <a:spcAft>
                <a:spcPts val="600"/>
              </a:spcAft>
            </a:pPr>
            <a:r>
              <a:rPr sz="1300" lang="ja-JP" altLang="en-US">
                <a:solidFill>
                  <a:srgbClr val="111111"/>
                </a:solidFill>
                <a:latin typeface="Century Gothic"/>
                <a:ea typeface="Yu Gothic"/>
              </a:rPr>
              <a:t>■ </a:t>
            </a:r>
            <a:r>
              <a:rPr b="1" sz="1300" lang="ja-JP" altLang="en-US">
                <a:solidFill>
                  <a:srgbClr val="111111"/>
                </a:solidFill>
                <a:latin typeface="Century Gothic"/>
                <a:ea typeface="Yu Gothic"/>
              </a:rPr>
              <a:t>示唆</a:t>
            </a:r>
            <a:r>
              <a:rPr sz="1300" lang="ja-JP" altLang="en-US">
                <a:solidFill>
                  <a:srgbClr val="111111"/>
                </a:solidFill>
                <a:latin typeface="Century Gothic"/>
                <a:ea typeface="Yu Gothic"/>
              </a:rPr>
              <a:t>：右側（勢い）の動きが本母集団の今後を決める</a:t>
            </a:r>
          </a:p>
        </p:txBody>
      </p:sp>
      <p:sp>
        <p:nvSpPr>
          <p:cNvPr id="23" name="TextBox 22"/>
          <p:cNvSpPr txBox="1"/>
          <p:nvPr/>
        </p:nvSpPr>
        <p:spPr>
          <a:xfrm>
            <a:off x="457200" y="6053328"/>
            <a:ext cx="11247120" cy="320040"/>
          </a:xfrm>
          <a:prstGeom prst="rect">
            <a:avLst/>
          </a:prstGeom>
          <a:noFill/>
          <a:effectLst/>
        </p:spPr>
        <p:txBody>
          <a:bodyPr wrap="square">
            <a:noAutofit/>
          </a:bodyPr>
          <a:lstStyle/>
          <a:p>
            <a:pPr eaLnBrk="1" hangingPunct="1"/>
            <a:r>
              <a:rPr sz="900" b="0" lang="ja-JP" altLang="en-US">
                <a:solidFill>
                  <a:srgbClr val="686868"/>
                </a:solidFill>
                <a:latin typeface="Century Gothic"/>
                <a:ea typeface="Yu Gothic"/>
              </a:rPr>
              <a:t>（出所）特許データベース Cyber patent desc（2026-06-14）</a:t>
            </a:r>
          </a:p>
        </p:txBody>
      </p:sp>
      <p:sp>
        <p:nvSpPr>
          <p:cNvPr id="24" name="TextBox 23"/>
          <p:cNvSpPr txBox="1"/>
          <p:nvPr/>
        </p:nvSpPr>
        <p:spPr>
          <a:xfrm>
            <a:off x="11384280" y="6419088"/>
            <a:ext cx="502920" cy="228600"/>
          </a:xfrm>
          <a:prstGeom prst="rect">
            <a:avLst/>
          </a:prstGeom>
          <a:noFill/>
          <a:effectLst/>
        </p:spPr>
        <p:txBody>
          <a:bodyPr wrap="none">
            <a:spAutoFit/>
          </a:bodyPr>
          <a:lstStyle/>
          <a:p>
            <a:pPr eaLnBrk="1" hangingPunct="1" algn="r"/>
            <a:r>
              <a:rPr sz="1000" b="0" lang="ja-JP" altLang="en-US">
                <a:solidFill>
                  <a:srgbClr val="686868"/>
                </a:solidFill>
                <a:latin typeface="Century Gothic"/>
                <a:ea typeface="Yu Gothic"/>
              </a:rPr>
              <a:t>28</a:t>
            </a:r>
          </a:p>
        </p:txBody>
      </p:sp>
      <p:cxnSp>
        <p:nvCxnSpPr>
          <p:cNvPr id="25" name="Connector 24"/>
          <p:cNvCxnSpPr/>
          <p:nvPr/>
        </p:nvCxnSpPr>
        <p:spPr>
          <a:xfrm>
            <a:off x="11859767" y="128016"/>
            <a:ext cx="201169" cy="0"/>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26" name="Connector 25"/>
          <p:cNvCxnSpPr/>
          <p:nvPr/>
        </p:nvCxnSpPr>
        <p:spPr>
          <a:xfrm>
            <a:off x="12060936" y="128016"/>
            <a:ext cx="0" cy="201168"/>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27" name="Connector 26"/>
          <p:cNvCxnSpPr/>
          <p:nvPr/>
        </p:nvCxnSpPr>
        <p:spPr>
          <a:xfrm>
            <a:off x="128016" y="6729984"/>
            <a:ext cx="201168" cy="0"/>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28" name="Connector 27"/>
          <p:cNvCxnSpPr/>
          <p:nvPr/>
        </p:nvCxnSpPr>
        <p:spPr>
          <a:xfrm>
            <a:off x="128016" y="6528816"/>
            <a:ext cx="0" cy="201168"/>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01011"/>
        </a:solidFill>
        <a:effectLst/>
      </p:bgPr>
    </p:bg>
    <p:spTree>
      <p:nvGrpSpPr>
        <p:cNvPr id="1" name=""/>
        <p:cNvGrpSpPr/>
        <p:nvPr/>
      </p:nvGrpSpPr>
      <p:grpSpPr/>
      <p:sp>
        <p:nvSpPr>
          <p:cNvPr id="2" name="TextBox 1"/>
          <p:cNvSpPr txBox="1"/>
          <p:nvPr/>
        </p:nvSpPr>
        <p:spPr>
          <a:xfrm>
            <a:off x="4754880" y="960120"/>
            <a:ext cx="6949440" cy="4937760"/>
          </a:xfrm>
          <a:prstGeom prst="rect">
            <a:avLst/>
          </a:prstGeom>
          <a:noFill/>
          <a:effectLst/>
        </p:spPr>
        <p:txBody>
          <a:bodyPr wrap="none">
            <a:noAutofit/>
          </a:bodyPr>
          <a:lstStyle/>
          <a:p>
            <a:pPr algn="r"/>
            <a:r>
              <a:rPr sz="30000" b="1" lang="ja-JP" altLang="en-US">
                <a:solidFill>
                  <a:srgbClr val="4A4A52"/>
                </a:solidFill>
                <a:latin typeface="Yu Mincho"/>
                <a:ea typeface="Yu Mincho"/>
              </a:rPr>
              <a:t>06</a:t>
            </a:r>
          </a:p>
        </p:txBody>
      </p:sp>
      <p:sp>
        <p:nvSpPr>
          <p:cNvPr id="3" name="Rectangle 2"/>
          <p:cNvSpPr/>
          <p:nvPr/>
        </p:nvSpPr>
        <p:spPr>
          <a:xfrm>
            <a:off x="0" y="0"/>
            <a:ext cx="274320" cy="685800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1051560" y="2514600"/>
            <a:ext cx="5486400" cy="365760"/>
          </a:xfrm>
          <a:prstGeom prst="rect">
            <a:avLst/>
          </a:prstGeom>
          <a:noFill/>
          <a:effectLst/>
        </p:spPr>
        <p:txBody>
          <a:bodyPr wrap="square">
            <a:noAutofit/>
          </a:bodyPr>
          <a:lstStyle/>
          <a:p>
            <a:r>
              <a:rPr sz="1500" b="1" lang="ja-JP" altLang="en-US" spc="260">
                <a:solidFill>
                  <a:srgbClr val="FF7070"/>
                </a:solidFill>
                <a:latin typeface="Yu Mincho"/>
                <a:ea typeface="Yu Mincho"/>
              </a:rPr>
              <a:t>SECTION 06</a:t>
            </a:r>
          </a:p>
        </p:txBody>
      </p:sp>
      <p:sp>
        <p:nvSpPr>
          <p:cNvPr id="5" name="Rectangle 4"/>
          <p:cNvSpPr/>
          <p:nvPr/>
        </p:nvSpPr>
        <p:spPr>
          <a:xfrm>
            <a:off x="1078992" y="3035808"/>
            <a:ext cx="2560320" cy="9144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1051560" y="3246120"/>
            <a:ext cx="7315200" cy="1554480"/>
          </a:xfrm>
          <a:prstGeom prst="rect">
            <a:avLst/>
          </a:prstGeom>
          <a:noFill/>
          <a:effectLst/>
        </p:spPr>
        <p:txBody>
          <a:bodyPr wrap="square">
            <a:noAutofit/>
          </a:bodyPr>
          <a:lstStyle/>
          <a:p>
            <a:pPr eaLnBrk="1" hangingPunct="1">
              <a:lnSpc>
                <a:spcPct val="115000"/>
              </a:lnSpc>
            </a:pPr>
            <a:r>
              <a:rPr sz="4000" b="1" lang="ja-JP" altLang="en-US">
                <a:solidFill>
                  <a:srgbClr val="FFFFFF"/>
                </a:solidFill>
                <a:latin typeface="Yu Mincho"/>
                <a:ea typeface="Yu Mincho"/>
              </a:rPr>
              <a:t>キーワード新陳代謝</a:t>
            </a:r>
          </a:p>
        </p:txBody>
      </p:sp>
      <p:sp>
        <p:nvSpPr>
          <p:cNvPr id="7" name="TextBox 6"/>
          <p:cNvSpPr txBox="1"/>
          <p:nvPr/>
        </p:nvSpPr>
        <p:spPr>
          <a:xfrm>
            <a:off x="1078992" y="4892040"/>
            <a:ext cx="6949440" cy="731520"/>
          </a:xfrm>
          <a:prstGeom prst="rect">
            <a:avLst/>
          </a:prstGeom>
          <a:noFill/>
          <a:effectLst/>
        </p:spPr>
        <p:txBody>
          <a:bodyPr wrap="square">
            <a:noAutofit/>
          </a:bodyPr>
          <a:lstStyle/>
          <a:p>
            <a:pPr eaLnBrk="1" hangingPunct="1"/>
            <a:r>
              <a:rPr sz="1500" b="0" lang="ja-JP" altLang="en-US">
                <a:solidFill>
                  <a:srgbClr val="C2C2C6"/>
                </a:solidFill>
                <a:latin typeface="Yu Mincho"/>
                <a:ea typeface="Yu Mincho"/>
              </a:rPr>
              <a:t>語彙の世代交代に技術の重心移動が表れる</a:t>
            </a:r>
          </a:p>
        </p:txBody>
      </p:sp>
      <p:sp>
        <p:nvSpPr>
          <p:cNvPr id="8" name="Rectangle 7"/>
          <p:cNvSpPr/>
          <p:nvPr/>
        </p:nvSpPr>
        <p:spPr>
          <a:xfrm>
            <a:off x="0" y="6492240"/>
            <a:ext cx="12188952" cy="27432"/>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22960" y="1952243"/>
            <a:ext cx="45720" cy="2496312"/>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1024128" y="1906524"/>
            <a:ext cx="4206240" cy="320040"/>
          </a:xfrm>
          <a:prstGeom prst="rect">
            <a:avLst/>
          </a:prstGeom>
          <a:noFill/>
          <a:effectLst/>
        </p:spPr>
        <p:txBody>
          <a:bodyPr wrap="square">
            <a:noAutofit/>
          </a:bodyPr>
          <a:lstStyle/>
          <a:p>
            <a:pPr eaLnBrk="1" hangingPunct="1"/>
            <a:r>
              <a:rPr sz="1100" b="1" lang="ja-JP" altLang="en-US">
                <a:solidFill>
                  <a:srgbClr val="C51212"/>
                </a:solidFill>
                <a:latin typeface="Yu Mincho"/>
                <a:ea typeface="Yu Mincho"/>
              </a:rPr>
              <a:t>SECTION 06 / キーワード新陳代謝</a:t>
            </a:r>
          </a:p>
        </p:txBody>
      </p:sp>
      <p:sp>
        <p:nvSpPr>
          <p:cNvPr id="4" name="TextBox 3"/>
          <p:cNvSpPr txBox="1"/>
          <p:nvPr/>
        </p:nvSpPr>
        <p:spPr>
          <a:xfrm>
            <a:off x="1024128" y="2290572"/>
            <a:ext cx="4206240" cy="2203704"/>
          </a:xfrm>
          <a:prstGeom prst="rect">
            <a:avLst/>
          </a:prstGeom>
          <a:noFill/>
          <a:effectLst/>
        </p:spPr>
        <p:txBody>
          <a:bodyPr wrap="square">
            <a:noAutofit/>
          </a:bodyPr>
          <a:lstStyle/>
          <a:p>
            <a:pPr eaLnBrk="1" hangingPunct="1">
              <a:lnSpc>
                <a:spcPct val="122000"/>
              </a:lnSpc>
            </a:pPr>
            <a:r>
              <a:rPr sz="2400" b="1" lang="ja-JP" altLang="en-US">
                <a:solidFill>
                  <a:srgbClr val="111111"/>
                </a:solidFill>
                <a:latin typeface="Yu Mincho"/>
                <a:ea typeface="Yu Mincho"/>
              </a:rPr>
              <a:t>使われ始めた言葉・消えた言葉を読む</a:t>
            </a:r>
          </a:p>
        </p:txBody>
      </p:sp>
      <p:sp>
        <p:nvSpPr>
          <p:cNvPr id="5" name="TextBox 4"/>
          <p:cNvSpPr txBox="1"/>
          <p:nvPr/>
        </p:nvSpPr>
        <p:spPr>
          <a:xfrm>
            <a:off x="5577840" y="1906524"/>
            <a:ext cx="5971032" cy="2587752"/>
          </a:xfrm>
          <a:prstGeom prst="rect">
            <a:avLst/>
          </a:prstGeom>
          <a:noFill/>
          <a:effectLst/>
        </p:spPr>
        <p:txBody>
          <a:bodyPr wrap="square">
            <a:noAutofit/>
          </a:bodyPr>
          <a:lstStyle/>
          <a:p>
            <a:pPr eaLnBrk="1" hangingPunct="1">
              <a:lnSpc>
                <a:spcPct val="140000"/>
              </a:lnSpc>
              <a:spcAft>
                <a:spcPts val="800"/>
              </a:spcAft>
            </a:pPr>
            <a:r>
              <a:rPr b="1" sz="1400" lang="ja-JP" altLang="en-US">
                <a:solidFill>
                  <a:srgbClr val="111111"/>
                </a:solidFill>
                <a:latin typeface="Century Gothic"/>
                <a:ea typeface="Yu Gothic"/>
              </a:rPr>
              <a:t>何を</a:t>
            </a:r>
            <a:r>
              <a:rPr b="0" sz="1400" lang="ja-JP" altLang="en-US">
                <a:solidFill>
                  <a:srgbClr val="111111"/>
                </a:solidFill>
                <a:latin typeface="Century Gothic"/>
                <a:ea typeface="Yu Gothic"/>
              </a:rPr>
              <a:t>: 共起ネットワークの急上昇語・急減語を比較する</a:t>
            </a:r>
          </a:p>
          <a:p>
            <a:pPr eaLnBrk="1" hangingPunct="1">
              <a:lnSpc>
                <a:spcPct val="140000"/>
              </a:lnSpc>
              <a:spcAft>
                <a:spcPts val="800"/>
              </a:spcAft>
            </a:pPr>
            <a:r>
              <a:rPr b="1" sz="1400" lang="ja-JP" altLang="en-US">
                <a:solidFill>
                  <a:srgbClr val="111111"/>
                </a:solidFill>
                <a:latin typeface="Century Gothic"/>
                <a:ea typeface="Yu Gothic"/>
              </a:rPr>
              <a:t>なぜ</a:t>
            </a:r>
            <a:r>
              <a:rPr b="0" sz="1400" lang="ja-JP" altLang="en-US">
                <a:solidFill>
                  <a:srgbClr val="111111"/>
                </a:solidFill>
                <a:latin typeface="Century Gothic"/>
                <a:ea typeface="Yu Gothic"/>
              </a:rPr>
              <a:t>: 語彙の入れ替わりは技術の重心移動を最も早く映す先行指標</a:t>
            </a:r>
          </a:p>
          <a:p>
            <a:pPr eaLnBrk="1" hangingPunct="1">
              <a:lnSpc>
                <a:spcPct val="140000"/>
              </a:lnSpc>
              <a:spcAft>
                <a:spcPts val="800"/>
              </a:spcAft>
            </a:pPr>
            <a:r>
              <a:rPr b="1" sz="1400" lang="ja-JP" altLang="en-US">
                <a:solidFill>
                  <a:srgbClr val="111111"/>
                </a:solidFill>
                <a:latin typeface="Century Gothic"/>
                <a:ea typeface="Yu Gothic"/>
              </a:rPr>
              <a:t>着眼</a:t>
            </a:r>
            <a:r>
              <a:rPr b="0" sz="1400" lang="ja-JP" altLang="en-US">
                <a:solidFill>
                  <a:srgbClr val="111111"/>
                </a:solidFill>
                <a:latin typeface="Century Gothic"/>
                <a:ea typeface="Yu Gothic"/>
              </a:rPr>
              <a:t>: 『ペレット』『由来』が新出、『芳香族PC』『PET』が後退</a:t>
            </a:r>
          </a:p>
          <a:p>
            <a:pPr eaLnBrk="1" hangingPunct="1">
              <a:lnSpc>
                <a:spcPct val="140000"/>
              </a:lnSpc>
              <a:spcAft>
                <a:spcPts val="800"/>
              </a:spcAft>
            </a:pPr>
            <a:r>
              <a:rPr b="1" sz="1400" lang="ja-JP" altLang="en-US">
                <a:solidFill>
                  <a:srgbClr val="111111"/>
                </a:solidFill>
                <a:latin typeface="Century Gothic"/>
                <a:ea typeface="Yu Gothic"/>
              </a:rPr>
              <a:t>含意</a:t>
            </a:r>
            <a:r>
              <a:rPr b="0" sz="1400" lang="ja-JP" altLang="en-US">
                <a:solidFill>
                  <a:srgbClr val="111111"/>
                </a:solidFill>
                <a:latin typeface="Century Gothic"/>
                <a:ea typeface="Yu Gothic"/>
              </a:rPr>
              <a:t>: 単一樹脂回収から、素材化された再生材組成物への移行</a:t>
            </a:r>
          </a:p>
        </p:txBody>
      </p:sp>
      <p:sp>
        <p:nvSpPr>
          <p:cNvPr id="6" name="TextBox 5"/>
          <p:cNvSpPr txBox="1"/>
          <p:nvPr/>
        </p:nvSpPr>
        <p:spPr>
          <a:xfrm>
            <a:off x="11384280" y="6419088"/>
            <a:ext cx="502920" cy="228600"/>
          </a:xfrm>
          <a:prstGeom prst="rect">
            <a:avLst/>
          </a:prstGeom>
          <a:noFill/>
          <a:effectLst/>
        </p:spPr>
        <p:txBody>
          <a:bodyPr wrap="none">
            <a:spAutoFit/>
          </a:bodyPr>
          <a:lstStyle/>
          <a:p>
            <a:pPr eaLnBrk="1" hangingPunct="1" algn="r"/>
            <a:r>
              <a:rPr sz="1000" b="0" lang="ja-JP" altLang="en-US">
                <a:solidFill>
                  <a:srgbClr val="686868"/>
                </a:solidFill>
                <a:latin typeface="Century Gothic"/>
                <a:ea typeface="Yu Gothic"/>
              </a:rPr>
              <a:t>29</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22960" y="521208"/>
            <a:ext cx="365760" cy="1270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22960" y="630936"/>
            <a:ext cx="10725912" cy="713232"/>
          </a:xfrm>
          <a:prstGeom prst="rect">
            <a:avLst/>
          </a:prstGeom>
          <a:noFill/>
          <a:effectLst/>
        </p:spPr>
        <p:txBody>
          <a:bodyPr wrap="square">
            <a:noAutofit/>
          </a:bodyPr>
          <a:lstStyle/>
          <a:p>
            <a:pPr eaLnBrk="1" hangingPunct="1">
              <a:lnSpc>
                <a:spcPct val="118000"/>
              </a:lnSpc>
            </a:pPr>
            <a:r>
              <a:rPr b="1" sz="2700" lang="ja-JP" altLang="en-US">
                <a:solidFill>
                  <a:srgbClr val="111111"/>
                </a:solidFill>
                <a:latin typeface="Yu Mincho"/>
                <a:ea typeface="Yu Mincho"/>
              </a:rPr>
              <a:t>語彙は『単一樹脂回収』から『素材化された再生材組成物』へ交代</a:t>
            </a:r>
          </a:p>
        </p:txBody>
      </p:sp>
      <p:sp>
        <p:nvSpPr>
          <p:cNvPr id="4" name="Rectangle 3"/>
          <p:cNvSpPr/>
          <p:nvPr/>
        </p:nvSpPr>
        <p:spPr>
          <a:xfrm>
            <a:off x="822960" y="1399032"/>
            <a:ext cx="10725912" cy="822959"/>
          </a:xfrm>
          <a:prstGeom prst="rect">
            <a:avLst/>
          </a:prstGeom>
          <a:solidFill>
            <a:srgbClr val="F6F7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822960" y="1399032"/>
            <a:ext cx="36576" cy="822959"/>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60120" y="1472184"/>
            <a:ext cx="10451592" cy="676655"/>
          </a:xfrm>
          <a:prstGeom prst="rect">
            <a:avLst/>
          </a:prstGeom>
          <a:noFill/>
          <a:effectLst/>
        </p:spPr>
        <p:txBody>
          <a:bodyPr wrap="square">
            <a:noAutofit/>
          </a:bodyPr>
          <a:lstStyle/>
          <a:p>
            <a:pPr eaLnBrk="1" hangingPunct="1">
              <a:lnSpc>
                <a:spcPct val="150000"/>
              </a:lnSpc>
            </a:pPr>
            <a:r>
              <a:rPr sz="1500" b="1" lang="ja-JP" altLang="en-US">
                <a:solidFill>
                  <a:srgbClr val="C51212"/>
                </a:solidFill>
                <a:latin typeface="Century Gothic"/>
                <a:ea typeface="Yu Gothic"/>
              </a:rPr>
              <a:t>■ </a:t>
            </a:r>
            <a:r>
              <a:rPr sz="1500" lang="ja-JP" altLang="en-US">
                <a:solidFill>
                  <a:srgbClr val="111111"/>
                </a:solidFill>
                <a:latin typeface="Century Gothic"/>
                <a:ea typeface="Yu Gothic"/>
              </a:rPr>
              <a:t>急上昇=ペレット/由来/リサイクル材、急減=芳香族PC/再生/PET。</a:t>
            </a:r>
            <a:r>
              <a:rPr b="1" sz="1500" lang="ja-JP" altLang="en-US">
                <a:solidFill>
                  <a:srgbClr val="111111"/>
                </a:solidFill>
                <a:latin typeface="Century Gothic"/>
                <a:ea typeface="Yu Gothic"/>
              </a:rPr>
              <a:t>素材として外販する</a:t>
            </a:r>
            <a:r>
              <a:rPr sz="1500" lang="ja-JP" altLang="en-US">
                <a:solidFill>
                  <a:srgbClr val="111111"/>
                </a:solidFill>
                <a:latin typeface="Century Gothic"/>
                <a:ea typeface="Yu Gothic"/>
              </a:rPr>
              <a:t>文脈語が台頭。</a:t>
            </a:r>
          </a:p>
        </p:txBody>
      </p:sp>
      <p:graphicFrame>
        <p:nvGraphicFramePr>
          <p:cNvPr id="7" name="Table 6"/>
          <p:cNvGraphicFramePr>
            <a:graphicFrameLocks noGrp="1"/>
          </p:cNvGraphicFramePr>
          <p:nvPr/>
        </p:nvGraphicFramePr>
        <p:xfrm>
          <a:off x="457200" y="2313432"/>
          <a:ext cx="11247120" cy="2743200"/>
        </p:xfrm>
        <a:graphic>
          <a:graphicData uri="http://schemas.openxmlformats.org/drawingml/2006/table">
            <a:tbl>
              <a:tblPr firstRow="1" bandRow="1">
                <a:tableStyleId>{5C22544A-7EE6-4342-B048-85BDC9FD1C3A}</a:tableStyleId>
              </a:tblPr>
              <a:tblGrid>
                <a:gridCol w="3291840"/>
                <a:gridCol w="1097280"/>
                <a:gridCol w="457200"/>
                <a:gridCol w="4114800"/>
                <a:gridCol w="2286000"/>
              </a:tblGrid>
              <a:tr h="457200">
                <a:tc>
                  <a:txBody>
                    <a:bodyPr/>
                    <a:lstStyle/>
                    <a:p>
                      <a:pPr eaLnBrk="1" hangingPunct="1"/>
                      <a:r>
                        <a:rPr sz="1200" b="1" lang="ja-JP" altLang="en-US">
                          <a:solidFill>
                            <a:srgbClr val="FFFFFF"/>
                          </a:solidFill>
                          <a:latin typeface="Century Gothic"/>
                          <a:ea typeface="Yu Gothic"/>
                        </a:rPr>
                        <a:t>急上昇キーワード</a:t>
                      </a:r>
                    </a:p>
                  </a:txBody>
                  <a:tcPr>
                    <a:solidFill>
                      <a:srgbClr val="111111"/>
                    </a:solidFill>
                  </a:tcPr>
                </a:tc>
                <a:tc>
                  <a:txBody>
                    <a:bodyPr/>
                    <a:lstStyle/>
                    <a:p>
                      <a:pPr eaLnBrk="1" hangingPunct="1"/>
                      <a:r>
                        <a:rPr sz="1200" b="1" lang="ja-JP" altLang="en-US">
                          <a:solidFill>
                            <a:srgbClr val="FFFFFF"/>
                          </a:solidFill>
                          <a:latin typeface="Century Gothic"/>
                          <a:ea typeface="Yu Gothic"/>
                        </a:rPr>
                        <a:t>増加</a:t>
                      </a:r>
                    </a:p>
                  </a:txBody>
                  <a:tcPr>
                    <a:solidFill>
                      <a:srgbClr val="111111"/>
                    </a:solidFill>
                  </a:tcPr>
                </a:tc>
                <a:tc>
                  <a:txBody>
                    <a:bodyPr/>
                    <a:lstStyle/>
                    <a:p>
                      <a:pPr eaLnBrk="1" hangingPunct="1"/>
                      <a:r>
                        <a:rPr sz="1200" b="1" lang="ja-JP" altLang="en-US">
                          <a:solidFill>
                            <a:srgbClr val="FFFFFF"/>
                          </a:solidFill>
                          <a:latin typeface="Century Gothic"/>
                          <a:ea typeface="Yu Gothic"/>
                        </a:rPr>
                        <a:t>／</a:t>
                      </a:r>
                    </a:p>
                  </a:txBody>
                  <a:tcPr>
                    <a:solidFill>
                      <a:srgbClr val="111111"/>
                    </a:solidFill>
                  </a:tcPr>
                </a:tc>
                <a:tc>
                  <a:txBody>
                    <a:bodyPr/>
                    <a:lstStyle/>
                    <a:p>
                      <a:pPr eaLnBrk="1" hangingPunct="1"/>
                      <a:r>
                        <a:rPr sz="1200" b="1" lang="ja-JP" altLang="en-US">
                          <a:solidFill>
                            <a:srgbClr val="FFFFFF"/>
                          </a:solidFill>
                          <a:latin typeface="Century Gothic"/>
                          <a:ea typeface="Yu Gothic"/>
                        </a:rPr>
                        <a:t>急減キーワード</a:t>
                      </a:r>
                    </a:p>
                  </a:txBody>
                  <a:tcPr>
                    <a:solidFill>
                      <a:srgbClr val="111111"/>
                    </a:solidFill>
                  </a:tcPr>
                </a:tc>
                <a:tc>
                  <a:txBody>
                    <a:bodyPr/>
                    <a:lstStyle/>
                    <a:p>
                      <a:pPr eaLnBrk="1" hangingPunct="1"/>
                      <a:r>
                        <a:rPr sz="1200" b="1" lang="ja-JP" altLang="en-US">
                          <a:solidFill>
                            <a:srgbClr val="FFFFFF"/>
                          </a:solidFill>
                          <a:latin typeface="Century Gothic"/>
                          <a:ea typeface="Yu Gothic"/>
                        </a:rPr>
                        <a:t>減少</a:t>
                      </a:r>
                    </a:p>
                  </a:txBody>
                  <a:tcPr>
                    <a:solidFill>
                      <a:srgbClr val="111111"/>
                    </a:solidFill>
                  </a:tcPr>
                </a:tc>
              </a:tr>
              <a:tr h="457200">
                <a:tc>
                  <a:txBody>
                    <a:bodyPr/>
                    <a:lstStyle/>
                    <a:p>
                      <a:pPr eaLnBrk="1" hangingPunct="1"/>
                      <a:r>
                        <a:rPr sz="1100" b="1" lang="ja-JP" altLang="en-US">
                          <a:solidFill>
                            <a:srgbClr val="C51212"/>
                          </a:solidFill>
                          <a:latin typeface="Century Gothic"/>
                          <a:ea typeface="Yu Gothic"/>
                        </a:rPr>
                        <a:t>ペレット</a:t>
                      </a:r>
                    </a:p>
                  </a:txBody>
                  <a:tcPr>
                    <a:solidFill>
                      <a:srgbClr val="F6F7F8"/>
                    </a:solidFill>
                  </a:tcPr>
                </a:tc>
                <a:tc>
                  <a:txBody>
                    <a:bodyPr/>
                    <a:lstStyle/>
                    <a:p>
                      <a:pPr eaLnBrk="1" hangingPunct="1"/>
                      <a:r>
                        <a:rPr sz="1100" b="1" lang="ja-JP" altLang="en-US">
                          <a:solidFill>
                            <a:srgbClr val="111111"/>
                          </a:solidFill>
                          <a:latin typeface="Century Gothic"/>
                          <a:ea typeface="Yu Gothic"/>
                        </a:rPr>
                        <a:t>+49</a:t>
                      </a:r>
                    </a:p>
                  </a:txBody>
                  <a:tcPr>
                    <a:solidFill>
                      <a:srgbClr val="F6F7F8"/>
                    </a:solidFill>
                  </a:tcPr>
                </a:tc>
                <a:tc>
                  <a:txBody>
                    <a:bodyPr/>
                    <a:lstStyle/>
                    <a:p>
                      <a:pPr eaLnBrk="1" hangingPunct="1"/>
                      <a:r>
                        <a:rPr sz="1100" b="1" lang="ja-JP" altLang="en-US">
                          <a:solidFill>
                            <a:srgbClr val="111111"/>
                          </a:solidFill>
                          <a:latin typeface="Century Gothic"/>
                          <a:ea typeface="Yu Gothic"/>
                        </a:rPr>
                        <a:t>／</a:t>
                      </a:r>
                    </a:p>
                  </a:txBody>
                  <a:tcPr>
                    <a:solidFill>
                      <a:srgbClr val="F6F7F8"/>
                    </a:solidFill>
                  </a:tcPr>
                </a:tc>
                <a:tc>
                  <a:txBody>
                    <a:bodyPr/>
                    <a:lstStyle/>
                    <a:p>
                      <a:pPr eaLnBrk="1" hangingPunct="1"/>
                      <a:r>
                        <a:rPr sz="1100" b="1" lang="ja-JP" altLang="en-US">
                          <a:solidFill>
                            <a:srgbClr val="111111"/>
                          </a:solidFill>
                          <a:latin typeface="Century Gothic"/>
                          <a:ea typeface="Yu Gothic"/>
                        </a:rPr>
                        <a:t>芳香族ポリカーボネート樹脂</a:t>
                      </a:r>
                    </a:p>
                  </a:txBody>
                  <a:tcPr>
                    <a:solidFill>
                      <a:srgbClr val="F6F7F8"/>
                    </a:solidFill>
                  </a:tcPr>
                </a:tc>
                <a:tc>
                  <a:txBody>
                    <a:bodyPr/>
                    <a:lstStyle/>
                    <a:p>
                      <a:pPr eaLnBrk="1" hangingPunct="1"/>
                      <a:r>
                        <a:rPr sz="1100" b="1" lang="ja-JP" altLang="en-US">
                          <a:solidFill>
                            <a:srgbClr val="111111"/>
                          </a:solidFill>
                          <a:latin typeface="Century Gothic"/>
                          <a:ea typeface="Yu Gothic"/>
                        </a:rPr>
                        <a:t>-89%</a:t>
                      </a:r>
                    </a:p>
                  </a:txBody>
                  <a:tcPr>
                    <a:solidFill>
                      <a:srgbClr val="F6F7F8"/>
                    </a:solidFill>
                  </a:tcPr>
                </a:tc>
              </a:tr>
              <a:tr h="457200">
                <a:tc>
                  <a:txBody>
                    <a:bodyPr/>
                    <a:lstStyle/>
                    <a:p>
                      <a:pPr eaLnBrk="1" hangingPunct="1"/>
                      <a:r>
                        <a:rPr sz="1100" b="0" lang="ja-JP" altLang="en-US">
                          <a:solidFill>
                            <a:srgbClr val="111111"/>
                          </a:solidFill>
                          <a:latin typeface="Century Gothic"/>
                          <a:ea typeface="Yu Gothic"/>
                        </a:rPr>
                        <a:t>由来（◯◯由来）</a:t>
                      </a:r>
                    </a:p>
                  </a:txBody>
                  <a:tcPr>
                    <a:solidFill>
                      <a:srgbClr val="F1F2F3"/>
                    </a:solidFill>
                  </a:tcPr>
                </a:tc>
                <a:tc>
                  <a:txBody>
                    <a:bodyPr/>
                    <a:lstStyle/>
                    <a:p>
                      <a:pPr eaLnBrk="1" hangingPunct="1"/>
                      <a:r>
                        <a:rPr sz="1100" b="0" lang="ja-JP" altLang="en-US">
                          <a:solidFill>
                            <a:srgbClr val="111111"/>
                          </a:solidFill>
                          <a:latin typeface="Century Gothic"/>
                          <a:ea typeface="Yu Gothic"/>
                        </a:rPr>
                        <a:t>+40</a:t>
                      </a:r>
                    </a:p>
                  </a:txBody>
                  <a:tcPr>
                    <a:solidFill>
                      <a:srgbClr val="F1F2F3"/>
                    </a:solidFill>
                  </a:tcPr>
                </a:tc>
                <a:tc>
                  <a:txBody>
                    <a:bodyPr/>
                    <a:lstStyle/>
                    <a:p>
                      <a:pPr eaLnBrk="1" hangingPunct="1"/>
                      <a:r>
                        <a:rPr sz="1100" b="0" lang="ja-JP" altLang="en-US">
                          <a:solidFill>
                            <a:srgbClr val="111111"/>
                          </a:solidFill>
                          <a:latin typeface="Century Gothic"/>
                          <a:ea typeface="Yu Gothic"/>
                        </a:rPr>
                        <a:t>／</a:t>
                      </a:r>
                    </a:p>
                  </a:txBody>
                  <a:tcPr>
                    <a:solidFill>
                      <a:srgbClr val="F1F2F3"/>
                    </a:solidFill>
                  </a:tcPr>
                </a:tc>
                <a:tc>
                  <a:txBody>
                    <a:bodyPr/>
                    <a:lstStyle/>
                    <a:p>
                      <a:pPr eaLnBrk="1" hangingPunct="1"/>
                      <a:r>
                        <a:rPr sz="1100" b="0" lang="ja-JP" altLang="en-US">
                          <a:solidFill>
                            <a:srgbClr val="111111"/>
                          </a:solidFill>
                          <a:latin typeface="Century Gothic"/>
                          <a:ea typeface="Yu Gothic"/>
                        </a:rPr>
                        <a:t>再生</a:t>
                      </a:r>
                    </a:p>
                  </a:txBody>
                  <a:tcPr>
                    <a:solidFill>
                      <a:srgbClr val="F1F2F3"/>
                    </a:solidFill>
                  </a:tcPr>
                </a:tc>
                <a:tc>
                  <a:txBody>
                    <a:bodyPr/>
                    <a:lstStyle/>
                    <a:p>
                      <a:pPr eaLnBrk="1" hangingPunct="1"/>
                      <a:r>
                        <a:rPr sz="1100" b="0" lang="ja-JP" altLang="en-US">
                          <a:solidFill>
                            <a:srgbClr val="111111"/>
                          </a:solidFill>
                          <a:latin typeface="Century Gothic"/>
                          <a:ea typeface="Yu Gothic"/>
                        </a:rPr>
                        <a:t>-71%</a:t>
                      </a:r>
                    </a:p>
                  </a:txBody>
                  <a:tcPr>
                    <a:solidFill>
                      <a:srgbClr val="F1F2F3"/>
                    </a:solidFill>
                  </a:tcPr>
                </a:tc>
              </a:tr>
              <a:tr h="457200">
                <a:tc>
                  <a:txBody>
                    <a:bodyPr/>
                    <a:lstStyle/>
                    <a:p>
                      <a:pPr eaLnBrk="1" hangingPunct="1"/>
                      <a:r>
                        <a:rPr sz="1100" b="0" lang="ja-JP" altLang="en-US">
                          <a:solidFill>
                            <a:srgbClr val="111111"/>
                          </a:solidFill>
                          <a:latin typeface="Century Gothic"/>
                          <a:ea typeface="Yu Gothic"/>
                        </a:rPr>
                        <a:t>ポリアミド樹脂組成物</a:t>
                      </a:r>
                    </a:p>
                  </a:txBody>
                  <a:tcPr/>
                </a:tc>
                <a:tc>
                  <a:txBody>
                    <a:bodyPr/>
                    <a:lstStyle/>
                    <a:p>
                      <a:pPr eaLnBrk="1" hangingPunct="1"/>
                      <a:r>
                        <a:rPr sz="1100" b="0" lang="ja-JP" altLang="en-US">
                          <a:solidFill>
                            <a:srgbClr val="111111"/>
                          </a:solidFill>
                          <a:latin typeface="Century Gothic"/>
                          <a:ea typeface="Yu Gothic"/>
                        </a:rPr>
                        <a:t>+33</a:t>
                      </a:r>
                    </a:p>
                  </a:txBody>
                  <a:tcPr/>
                </a:tc>
                <a:tc>
                  <a:txBody>
                    <a:bodyPr/>
                    <a:lstStyle/>
                    <a:p>
                      <a:pPr eaLnBrk="1" hangingPunct="1"/>
                      <a:r>
                        <a:rPr sz="1100" b="0" lang="ja-JP" altLang="en-US">
                          <a:solidFill>
                            <a:srgbClr val="111111"/>
                          </a:solidFill>
                          <a:latin typeface="Century Gothic"/>
                          <a:ea typeface="Yu Gothic"/>
                        </a:rPr>
                        <a:t>／</a:t>
                      </a:r>
                    </a:p>
                  </a:txBody>
                  <a:tcPr/>
                </a:tc>
                <a:tc>
                  <a:txBody>
                    <a:bodyPr/>
                    <a:lstStyle/>
                    <a:p>
                      <a:pPr eaLnBrk="1" hangingPunct="1"/>
                      <a:r>
                        <a:rPr sz="1100" b="0" lang="ja-JP" altLang="en-US">
                          <a:solidFill>
                            <a:srgbClr val="111111"/>
                          </a:solidFill>
                          <a:latin typeface="Century Gothic"/>
                          <a:ea typeface="Yu Gothic"/>
                        </a:rPr>
                        <a:t>ポリエチレンテレフタレート</a:t>
                      </a:r>
                    </a:p>
                  </a:txBody>
                  <a:tcPr/>
                </a:tc>
                <a:tc>
                  <a:txBody>
                    <a:bodyPr/>
                    <a:lstStyle/>
                    <a:p>
                      <a:pPr eaLnBrk="1" hangingPunct="1"/>
                      <a:r>
                        <a:rPr sz="1100" b="0" lang="ja-JP" altLang="en-US">
                          <a:solidFill>
                            <a:srgbClr val="111111"/>
                          </a:solidFill>
                          <a:latin typeface="Century Gothic"/>
                          <a:ea typeface="Yu Gothic"/>
                        </a:rPr>
                        <a:t>-67%</a:t>
                      </a:r>
                    </a:p>
                  </a:txBody>
                  <a:tcPr/>
                </a:tc>
              </a:tr>
              <a:tr h="457200">
                <a:tc>
                  <a:txBody>
                    <a:bodyPr/>
                    <a:lstStyle/>
                    <a:p>
                      <a:pPr eaLnBrk="1" hangingPunct="1"/>
                      <a:r>
                        <a:rPr sz="1100" b="0" lang="ja-JP" altLang="en-US">
                          <a:solidFill>
                            <a:srgbClr val="111111"/>
                          </a:solidFill>
                          <a:latin typeface="Century Gothic"/>
                          <a:ea typeface="Yu Gothic"/>
                        </a:rPr>
                        <a:t>リサイクル材</a:t>
                      </a:r>
                    </a:p>
                  </a:txBody>
                  <a:tcPr>
                    <a:solidFill>
                      <a:srgbClr val="F1F2F3"/>
                    </a:solidFill>
                  </a:tcPr>
                </a:tc>
                <a:tc>
                  <a:txBody>
                    <a:bodyPr/>
                    <a:lstStyle/>
                    <a:p>
                      <a:pPr eaLnBrk="1" hangingPunct="1"/>
                      <a:r>
                        <a:rPr sz="1100" b="0" lang="ja-JP" altLang="en-US">
                          <a:solidFill>
                            <a:srgbClr val="111111"/>
                          </a:solidFill>
                          <a:latin typeface="Century Gothic"/>
                          <a:ea typeface="Yu Gothic"/>
                        </a:rPr>
                        <a:t>増</a:t>
                      </a:r>
                    </a:p>
                  </a:txBody>
                  <a:tcPr>
                    <a:solidFill>
                      <a:srgbClr val="F1F2F3"/>
                    </a:solidFill>
                  </a:tcPr>
                </a:tc>
                <a:tc>
                  <a:txBody>
                    <a:bodyPr/>
                    <a:lstStyle/>
                    <a:p>
                      <a:pPr eaLnBrk="1" hangingPunct="1"/>
                      <a:r>
                        <a:rPr sz="1100" b="0" lang="ja-JP" altLang="en-US">
                          <a:solidFill>
                            <a:srgbClr val="111111"/>
                          </a:solidFill>
                          <a:latin typeface="Century Gothic"/>
                          <a:ea typeface="Yu Gothic"/>
                        </a:rPr>
                        <a:t>／</a:t>
                      </a:r>
                    </a:p>
                  </a:txBody>
                  <a:tcPr>
                    <a:solidFill>
                      <a:srgbClr val="F1F2F3"/>
                    </a:solidFill>
                  </a:tcPr>
                </a:tc>
                <a:tc>
                  <a:txBody>
                    <a:bodyPr/>
                    <a:lstStyle/>
                    <a:p>
                      <a:pPr eaLnBrk="1" hangingPunct="1"/>
                      <a:r>
                        <a:rPr sz="1100" b="0" lang="ja-JP" altLang="en-US">
                          <a:solidFill>
                            <a:srgbClr val="111111"/>
                          </a:solidFill>
                          <a:latin typeface="Century Gothic"/>
                          <a:ea typeface="Yu Gothic"/>
                        </a:rPr>
                        <a:t>ポリオレフィン系樹脂（旧文脈）</a:t>
                      </a:r>
                    </a:p>
                  </a:txBody>
                  <a:tcPr>
                    <a:solidFill>
                      <a:srgbClr val="F1F2F3"/>
                    </a:solidFill>
                  </a:tcPr>
                </a:tc>
                <a:tc>
                  <a:txBody>
                    <a:bodyPr/>
                    <a:lstStyle/>
                    <a:p>
                      <a:pPr eaLnBrk="1" hangingPunct="1"/>
                      <a:r>
                        <a:rPr sz="1100" b="0" lang="ja-JP" altLang="en-US">
                          <a:solidFill>
                            <a:srgbClr val="111111"/>
                          </a:solidFill>
                          <a:latin typeface="Century Gothic"/>
                          <a:ea typeface="Yu Gothic"/>
                        </a:rPr>
                        <a:t>減</a:t>
                      </a:r>
                    </a:p>
                  </a:txBody>
                  <a:tcPr>
                    <a:solidFill>
                      <a:srgbClr val="F1F2F3"/>
                    </a:solidFill>
                  </a:tcPr>
                </a:tc>
              </a:tr>
              <a:tr h="457200">
                <a:tc>
                  <a:txBody>
                    <a:bodyPr/>
                    <a:lstStyle/>
                    <a:p>
                      <a:pPr eaLnBrk="1" hangingPunct="1"/>
                      <a:r>
                        <a:rPr sz="1100" b="0" lang="ja-JP" altLang="en-US">
                          <a:solidFill>
                            <a:srgbClr val="111111"/>
                          </a:solidFill>
                          <a:latin typeface="Century Gothic"/>
                          <a:ea typeface="Yu Gothic"/>
                        </a:rPr>
                        <a:t>リサイクル樹脂組成物</a:t>
                      </a:r>
                    </a:p>
                  </a:txBody>
                  <a:tcPr/>
                </a:tc>
                <a:tc>
                  <a:txBody>
                    <a:bodyPr/>
                    <a:lstStyle/>
                    <a:p>
                      <a:pPr eaLnBrk="1" hangingPunct="1"/>
                      <a:r>
                        <a:rPr sz="1100" b="0" lang="ja-JP" altLang="en-US">
                          <a:solidFill>
                            <a:srgbClr val="111111"/>
                          </a:solidFill>
                          <a:latin typeface="Century Gothic"/>
                          <a:ea typeface="Yu Gothic"/>
                        </a:rPr>
                        <a:t>増</a:t>
                      </a:r>
                    </a:p>
                  </a:txBody>
                  <a:tcPr/>
                </a:tc>
                <a:tc>
                  <a:txBody>
                    <a:bodyPr/>
                    <a:lstStyle/>
                    <a:p>
                      <a:pPr eaLnBrk="1" hangingPunct="1"/>
                      <a:r>
                        <a:rPr sz="1100" b="0" lang="ja-JP" altLang="en-US">
                          <a:solidFill>
                            <a:srgbClr val="111111"/>
                          </a:solidFill>
                          <a:latin typeface="Century Gothic"/>
                          <a:ea typeface="Yu Gothic"/>
                        </a:rPr>
                        <a:t>／</a:t>
                      </a:r>
                    </a:p>
                  </a:txBody>
                  <a:tcPr/>
                </a:tc>
                <a:tc>
                  <a:txBody>
                    <a:bodyPr/>
                    <a:lstStyle/>
                    <a:p>
                      <a:pPr eaLnBrk="1" hangingPunct="1"/>
                      <a:r>
                        <a:rPr sz="1100" b="0" lang="ja-JP" altLang="en-US">
                          <a:solidFill>
                            <a:srgbClr val="111111"/>
                          </a:solidFill>
                          <a:latin typeface="Century Gothic"/>
                          <a:ea typeface="Yu Gothic"/>
                        </a:rPr>
                        <a:t>（単一樹脂・回収中心の旧語彙）</a:t>
                      </a:r>
                    </a:p>
                  </a:txBody>
                  <a:tcPr/>
                </a:tc>
                <a:tc>
                  <a:txBody>
                    <a:bodyPr/>
                    <a:lstStyle/>
                    <a:p>
                      <a:pPr eaLnBrk="1" hangingPunct="1"/>
                      <a:r>
                        <a:rPr sz="1100" b="0" lang="ja-JP" altLang="en-US">
                          <a:solidFill>
                            <a:srgbClr val="111111"/>
                          </a:solidFill>
                          <a:latin typeface="Century Gothic"/>
                          <a:ea typeface="Yu Gothic"/>
                        </a:rPr>
                        <a:t>減</a:t>
                      </a:r>
                    </a:p>
                  </a:txBody>
                  <a:tcPr/>
                </a:tc>
              </a:tr>
            </a:tbl>
          </a:graphicData>
        </a:graphic>
      </p:graphicFrame>
      <p:sp>
        <p:nvSpPr>
          <p:cNvPr id="8" name="Rectangle 7"/>
          <p:cNvSpPr/>
          <p:nvPr/>
        </p:nvSpPr>
        <p:spPr>
          <a:xfrm>
            <a:off x="7680960" y="2313432"/>
            <a:ext cx="4023360" cy="3493007"/>
          </a:xfrm>
          <a:prstGeom prst="rect">
            <a:avLst/>
          </a:prstGeom>
          <a:solidFill>
            <a:srgbClr val="F6F7F8"/>
          </a:solidFill>
          <a:ln w="9525">
            <a:solidFill>
              <a:srgbClr val="D8DA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790688" y="2386584"/>
            <a:ext cx="3803904" cy="3346703"/>
          </a:xfrm>
          <a:prstGeom prst="rect">
            <a:avLst/>
          </a:prstGeom>
          <a:noFill/>
          <a:effectLst/>
        </p:spPr>
        <p:txBody>
          <a:bodyPr wrap="square">
            <a:noAutofit/>
          </a:bodyPr>
          <a:lstStyle/>
          <a:p>
            <a:pPr eaLnBrk="1" hangingPunct="1">
              <a:lnSpc>
                <a:spcPct val="145000"/>
              </a:lnSpc>
              <a:spcAft>
                <a:spcPts val="600"/>
              </a:spcAft>
            </a:pPr>
            <a:r>
              <a:rPr sz="1200" lang="ja-JP" altLang="en-US">
                <a:solidFill>
                  <a:srgbClr val="111111"/>
                </a:solidFill>
                <a:latin typeface="Century Gothic"/>
                <a:ea typeface="Yu Gothic"/>
              </a:rPr>
              <a:t>■ </a:t>
            </a:r>
            <a:r>
              <a:rPr b="1" sz="1200" lang="ja-JP" altLang="en-US">
                <a:solidFill>
                  <a:srgbClr val="111111"/>
                </a:solidFill>
                <a:latin typeface="Century Gothic"/>
                <a:ea typeface="Yu Gothic"/>
              </a:rPr>
              <a:t>『ペレット』が0→49</a:t>
            </a:r>
            <a:r>
              <a:rPr sz="1200" lang="ja-JP" altLang="en-US">
                <a:solidFill>
                  <a:srgbClr val="111111"/>
                </a:solidFill>
                <a:latin typeface="Century Gothic"/>
                <a:ea typeface="Yu Gothic"/>
              </a:rPr>
              <a:t>：素材として流通する形態への移行を象徴</a:t>
            </a:r>
          </a:p>
          <a:p>
            <a:pPr eaLnBrk="1" hangingPunct="1">
              <a:lnSpc>
                <a:spcPct val="145000"/>
              </a:lnSpc>
              <a:spcAft>
                <a:spcPts val="600"/>
              </a:spcAft>
            </a:pPr>
            <a:r>
              <a:rPr sz="1200" lang="ja-JP" altLang="en-US">
                <a:solidFill>
                  <a:srgbClr val="111111"/>
                </a:solidFill>
                <a:latin typeface="Century Gothic"/>
                <a:ea typeface="Yu Gothic"/>
              </a:rPr>
              <a:t>■ </a:t>
            </a:r>
            <a:r>
              <a:rPr b="1" sz="1200" lang="ja-JP" altLang="en-US">
                <a:solidFill>
                  <a:srgbClr val="111111"/>
                </a:solidFill>
                <a:latin typeface="Century Gothic"/>
                <a:ea typeface="Yu Gothic"/>
              </a:rPr>
              <a:t>『由来』+40</a:t>
            </a:r>
            <a:r>
              <a:rPr sz="1200" lang="ja-JP" altLang="en-US">
                <a:solidFill>
                  <a:srgbClr val="111111"/>
                </a:solidFill>
                <a:latin typeface="Century Gothic"/>
                <a:ea typeface="Yu Gothic"/>
              </a:rPr>
              <a:t>：『◯◯由来の再生材』という原料トレーサビリティ語が定着</a:t>
            </a:r>
          </a:p>
          <a:p>
            <a:pPr eaLnBrk="1" hangingPunct="1">
              <a:lnSpc>
                <a:spcPct val="145000"/>
              </a:lnSpc>
              <a:spcAft>
                <a:spcPts val="600"/>
              </a:spcAft>
            </a:pPr>
            <a:r>
              <a:rPr sz="1200" lang="ja-JP" altLang="en-US">
                <a:solidFill>
                  <a:srgbClr val="111111"/>
                </a:solidFill>
                <a:latin typeface="Century Gothic"/>
                <a:ea typeface="Yu Gothic"/>
              </a:rPr>
              <a:t>■ </a:t>
            </a:r>
            <a:r>
              <a:rPr b="1" sz="1200" lang="ja-JP" altLang="en-US">
                <a:solidFill>
                  <a:srgbClr val="111111"/>
                </a:solidFill>
                <a:latin typeface="Century Gothic"/>
                <a:ea typeface="Yu Gothic"/>
              </a:rPr>
              <a:t>急減の『芳香族PC・PET』</a:t>
            </a:r>
            <a:r>
              <a:rPr sz="1200" lang="ja-JP" altLang="en-US">
                <a:solidFill>
                  <a:srgbClr val="111111"/>
                </a:solidFill>
                <a:latin typeface="Century Gothic"/>
                <a:ea typeface="Yu Gothic"/>
              </a:rPr>
              <a:t>：旧期の単一樹脂回収テーマの退潮</a:t>
            </a:r>
          </a:p>
          <a:p>
            <a:pPr eaLnBrk="1" hangingPunct="1">
              <a:lnSpc>
                <a:spcPct val="145000"/>
              </a:lnSpc>
              <a:spcAft>
                <a:spcPts val="600"/>
              </a:spcAft>
            </a:pPr>
            <a:r>
              <a:rPr sz="1200" lang="ja-JP" altLang="en-US">
                <a:solidFill>
                  <a:srgbClr val="111111"/>
                </a:solidFill>
                <a:latin typeface="Century Gothic"/>
                <a:ea typeface="Yu Gothic"/>
              </a:rPr>
              <a:t>■ </a:t>
            </a:r>
            <a:r>
              <a:rPr sz="1200" lang="ja-JP" altLang="en-US">
                <a:solidFill>
                  <a:srgbClr val="111111"/>
                </a:solidFill>
                <a:latin typeface="Century Gothic"/>
                <a:ea typeface="Yu Gothic"/>
              </a:rPr>
              <a:t>語彙交代＝担い手交代（Section2）と技術重心移動（Section3）の独立した裏づけ</a:t>
            </a:r>
          </a:p>
        </p:txBody>
      </p:sp>
      <p:sp>
        <p:nvSpPr>
          <p:cNvPr id="10" name="TextBox 9"/>
          <p:cNvSpPr txBox="1"/>
          <p:nvPr/>
        </p:nvSpPr>
        <p:spPr>
          <a:xfrm>
            <a:off x="457200" y="6053328"/>
            <a:ext cx="11247120" cy="320040"/>
          </a:xfrm>
          <a:prstGeom prst="rect">
            <a:avLst/>
          </a:prstGeom>
          <a:noFill/>
          <a:effectLst/>
        </p:spPr>
        <p:txBody>
          <a:bodyPr wrap="square">
            <a:noAutofit/>
          </a:bodyPr>
          <a:lstStyle/>
          <a:p>
            <a:pPr eaLnBrk="1" hangingPunct="1"/>
            <a:r>
              <a:rPr sz="900" b="0" lang="ja-JP" altLang="en-US">
                <a:solidFill>
                  <a:srgbClr val="686868"/>
                </a:solidFill>
                <a:latin typeface="Century Gothic"/>
                <a:ea typeface="Yu Gothic"/>
              </a:rPr>
              <a:t>（出所）特許データベース Cyber patent desc（2026-06-14）</a:t>
            </a:r>
          </a:p>
        </p:txBody>
      </p:sp>
      <p:sp>
        <p:nvSpPr>
          <p:cNvPr id="11" name="TextBox 10"/>
          <p:cNvSpPr txBox="1"/>
          <p:nvPr/>
        </p:nvSpPr>
        <p:spPr>
          <a:xfrm>
            <a:off x="11384280" y="6419088"/>
            <a:ext cx="502920" cy="228600"/>
          </a:xfrm>
          <a:prstGeom prst="rect">
            <a:avLst/>
          </a:prstGeom>
          <a:noFill/>
          <a:effectLst/>
        </p:spPr>
        <p:txBody>
          <a:bodyPr wrap="none">
            <a:spAutoFit/>
          </a:bodyPr>
          <a:lstStyle/>
          <a:p>
            <a:pPr eaLnBrk="1" hangingPunct="1" algn="r"/>
            <a:r>
              <a:rPr sz="1000" b="0" lang="ja-JP" altLang="en-US">
                <a:solidFill>
                  <a:srgbClr val="686868"/>
                </a:solidFill>
                <a:latin typeface="Century Gothic"/>
                <a:ea typeface="Yu Gothic"/>
              </a:rPr>
              <a:t>30</a:t>
            </a:r>
          </a:p>
        </p:txBody>
      </p:sp>
      <p:cxnSp>
        <p:nvCxnSpPr>
          <p:cNvPr id="12" name="Connector 11"/>
          <p:cNvCxnSpPr/>
          <p:nvPr/>
        </p:nvCxnSpPr>
        <p:spPr>
          <a:xfrm>
            <a:off x="11859767" y="128016"/>
            <a:ext cx="201169" cy="0"/>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13" name="Connector 12"/>
          <p:cNvCxnSpPr/>
          <p:nvPr/>
        </p:nvCxnSpPr>
        <p:spPr>
          <a:xfrm>
            <a:off x="12060936" y="128016"/>
            <a:ext cx="0" cy="201168"/>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14" name="Connector 13"/>
          <p:cNvCxnSpPr/>
          <p:nvPr/>
        </p:nvCxnSpPr>
        <p:spPr>
          <a:xfrm>
            <a:off x="128016" y="6729984"/>
            <a:ext cx="201168" cy="0"/>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15" name="Connector 14"/>
          <p:cNvCxnSpPr/>
          <p:nvPr/>
        </p:nvCxnSpPr>
        <p:spPr>
          <a:xfrm>
            <a:off x="128016" y="6528816"/>
            <a:ext cx="0" cy="201168"/>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22960" y="521208"/>
            <a:ext cx="365760" cy="1270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22960" y="630936"/>
            <a:ext cx="10725912" cy="256032"/>
          </a:xfrm>
          <a:prstGeom prst="rect">
            <a:avLst/>
          </a:prstGeom>
          <a:noFill/>
          <a:effectLst/>
        </p:spPr>
        <p:txBody>
          <a:bodyPr wrap="none">
            <a:spAutoFit/>
          </a:bodyPr>
          <a:lstStyle/>
          <a:p>
            <a:pPr eaLnBrk="1" hangingPunct="1"/>
            <a:r>
              <a:rPr sz="1000" b="1" lang="ja-JP" altLang="en-US">
                <a:solidFill>
                  <a:srgbClr val="C51212"/>
                </a:solidFill>
                <a:latin typeface="Yu Mincho"/>
                <a:ea typeface="Yu Mincho"/>
              </a:rPr>
              <a:t>考察</a:t>
            </a:r>
          </a:p>
        </p:txBody>
      </p:sp>
      <p:sp>
        <p:nvSpPr>
          <p:cNvPr id="4" name="TextBox 3"/>
          <p:cNvSpPr txBox="1"/>
          <p:nvPr/>
        </p:nvSpPr>
        <p:spPr>
          <a:xfrm>
            <a:off x="822960" y="905256"/>
            <a:ext cx="10725912" cy="841248"/>
          </a:xfrm>
          <a:prstGeom prst="rect">
            <a:avLst/>
          </a:prstGeom>
          <a:noFill/>
          <a:effectLst/>
        </p:spPr>
        <p:txBody>
          <a:bodyPr wrap="square">
            <a:noAutofit/>
          </a:bodyPr>
          <a:lstStyle/>
          <a:p>
            <a:pPr eaLnBrk="1" hangingPunct="1">
              <a:lnSpc>
                <a:spcPct val="118000"/>
              </a:lnSpc>
            </a:pPr>
            <a:r>
              <a:rPr b="1" sz="2300" lang="ja-JP" altLang="en-US">
                <a:solidFill>
                  <a:srgbClr val="111111"/>
                </a:solidFill>
                <a:latin typeface="Yu Mincho"/>
                <a:ea typeface="Yu Mincho"/>
              </a:rPr>
              <a:t>『ペレット』『由来』の台頭は、再生材がB2B素材として確立した合図</a:t>
            </a:r>
          </a:p>
        </p:txBody>
      </p:sp>
      <p:sp>
        <p:nvSpPr>
          <p:cNvPr id="5" name="Rectangle 4"/>
          <p:cNvSpPr/>
          <p:nvPr/>
        </p:nvSpPr>
        <p:spPr>
          <a:xfrm>
            <a:off x="822960" y="1801368"/>
            <a:ext cx="10725912" cy="822959"/>
          </a:xfrm>
          <a:prstGeom prst="rect">
            <a:avLst/>
          </a:prstGeom>
          <a:solidFill>
            <a:srgbClr val="F6F7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822960" y="1801368"/>
            <a:ext cx="36576" cy="822959"/>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960120" y="1874520"/>
            <a:ext cx="10451592" cy="676655"/>
          </a:xfrm>
          <a:prstGeom prst="rect">
            <a:avLst/>
          </a:prstGeom>
          <a:noFill/>
          <a:effectLst/>
        </p:spPr>
        <p:txBody>
          <a:bodyPr wrap="square">
            <a:noAutofit/>
          </a:bodyPr>
          <a:lstStyle/>
          <a:p>
            <a:pPr eaLnBrk="1" hangingPunct="1">
              <a:lnSpc>
                <a:spcPct val="150000"/>
              </a:lnSpc>
            </a:pPr>
            <a:r>
              <a:rPr sz="1500" b="1" lang="ja-JP" altLang="en-US">
                <a:solidFill>
                  <a:srgbClr val="C51212"/>
                </a:solidFill>
                <a:latin typeface="Century Gothic"/>
                <a:ea typeface="Yu Gothic"/>
              </a:rPr>
              <a:t>■ </a:t>
            </a:r>
            <a:r>
              <a:rPr sz="1500" lang="ja-JP" altLang="en-US">
                <a:solidFill>
                  <a:srgbClr val="111111"/>
                </a:solidFill>
                <a:latin typeface="Century Gothic"/>
                <a:ea typeface="Yu Gothic"/>
              </a:rPr>
              <a:t>形態（ペレット）と素性（由来）を語る言葉の増加は、自社内処理から素材外販への構造転換を示す。</a:t>
            </a:r>
          </a:p>
        </p:txBody>
      </p:sp>
      <p:sp>
        <p:nvSpPr>
          <p:cNvPr id="8" name="Rectangle 7"/>
          <p:cNvSpPr/>
          <p:nvPr/>
        </p:nvSpPr>
        <p:spPr>
          <a:xfrm>
            <a:off x="822960" y="2715768"/>
            <a:ext cx="36576" cy="729234"/>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87552" y="2715768"/>
            <a:ext cx="2194560" cy="274320"/>
          </a:xfrm>
          <a:prstGeom prst="rect">
            <a:avLst/>
          </a:prstGeom>
          <a:noFill/>
          <a:effectLst/>
        </p:spPr>
        <p:txBody>
          <a:bodyPr wrap="none">
            <a:spAutoFit/>
          </a:bodyPr>
          <a:lstStyle/>
          <a:p>
            <a:pPr eaLnBrk="1" hangingPunct="1"/>
            <a:r>
              <a:rPr sz="1100" b="1" lang="ja-JP" altLang="en-US">
                <a:solidFill>
                  <a:srgbClr val="C51212"/>
                </a:solidFill>
                <a:latin typeface="Century Gothic"/>
                <a:ea typeface="Yu Gothic"/>
              </a:rPr>
              <a:t>観察</a:t>
            </a:r>
          </a:p>
        </p:txBody>
      </p:sp>
      <p:sp>
        <p:nvSpPr>
          <p:cNvPr id="10" name="TextBox 9"/>
          <p:cNvSpPr txBox="1"/>
          <p:nvPr/>
        </p:nvSpPr>
        <p:spPr>
          <a:xfrm>
            <a:off x="987552" y="2990088"/>
            <a:ext cx="10561320" cy="436626"/>
          </a:xfrm>
          <a:prstGeom prst="rect">
            <a:avLst/>
          </a:prstGeom>
          <a:noFill/>
          <a:effectLst/>
        </p:spPr>
        <p:txBody>
          <a:bodyPr wrap="square">
            <a:noAutofit/>
          </a:bodyPr>
          <a:lstStyle/>
          <a:p>
            <a:pPr eaLnBrk="1" hangingPunct="1">
              <a:lnSpc>
                <a:spcPct val="140000"/>
              </a:lnSpc>
            </a:pPr>
            <a:r>
              <a:rPr b="0" sz="1300" lang="ja-JP" altLang="en-US">
                <a:solidFill>
                  <a:srgbClr val="111111"/>
                </a:solidFill>
                <a:latin typeface="Century Gothic"/>
                <a:ea typeface="Yu Gothic"/>
              </a:rPr>
              <a:t>急上昇語の筆頭は『ペレット』（recent49件・past0）、次いで『由来』（+40）、『ポリアミド樹脂組成物』（+33）、『リサイクル材』。逆に『芳香族ポリカーボネート樹脂』(-89%)、『再生』(-71%)、『ポリエチレンテレフタレート』(-67%)が急減した。</a:t>
            </a:r>
          </a:p>
        </p:txBody>
      </p:sp>
      <p:sp>
        <p:nvSpPr>
          <p:cNvPr id="11" name="Rectangle 10"/>
          <p:cNvSpPr/>
          <p:nvPr/>
        </p:nvSpPr>
        <p:spPr>
          <a:xfrm>
            <a:off x="822960" y="3609594"/>
            <a:ext cx="36576" cy="729234"/>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987552" y="3609594"/>
            <a:ext cx="2194560" cy="274320"/>
          </a:xfrm>
          <a:prstGeom prst="rect">
            <a:avLst/>
          </a:prstGeom>
          <a:noFill/>
          <a:effectLst/>
        </p:spPr>
        <p:txBody>
          <a:bodyPr wrap="none">
            <a:spAutoFit/>
          </a:bodyPr>
          <a:lstStyle/>
          <a:p>
            <a:pPr eaLnBrk="1" hangingPunct="1"/>
            <a:r>
              <a:rPr sz="1100" b="1" lang="ja-JP" altLang="en-US">
                <a:solidFill>
                  <a:srgbClr val="C51212"/>
                </a:solidFill>
                <a:latin typeface="Century Gothic"/>
                <a:ea typeface="Yu Gothic"/>
              </a:rPr>
              <a:t>解釈</a:t>
            </a:r>
          </a:p>
        </p:txBody>
      </p:sp>
      <p:sp>
        <p:nvSpPr>
          <p:cNvPr id="13" name="TextBox 12"/>
          <p:cNvSpPr txBox="1"/>
          <p:nvPr/>
        </p:nvSpPr>
        <p:spPr>
          <a:xfrm>
            <a:off x="987552" y="3883914"/>
            <a:ext cx="10561320" cy="436626"/>
          </a:xfrm>
          <a:prstGeom prst="rect">
            <a:avLst/>
          </a:prstGeom>
          <a:noFill/>
          <a:effectLst/>
        </p:spPr>
        <p:txBody>
          <a:bodyPr wrap="square">
            <a:noAutofit/>
          </a:bodyPr>
          <a:lstStyle/>
          <a:p>
            <a:pPr eaLnBrk="1" hangingPunct="1">
              <a:lnSpc>
                <a:spcPct val="140000"/>
              </a:lnSpc>
            </a:pPr>
            <a:r>
              <a:rPr b="0" sz="1300" lang="ja-JP" altLang="en-US">
                <a:solidFill>
                  <a:srgbClr val="111111"/>
                </a:solidFill>
                <a:latin typeface="Century Gothic"/>
                <a:ea typeface="Yu Gothic"/>
              </a:rPr>
              <a:t>『ペレット』『由来』『リサイクル材』はいずれも、再生材を“流通する素材”として扱う語彙。自社廃材を自社で戻す垂直型（旧語彙=芳香族PC・PET・再生）から、市中回収材を規格化されたペレットとして売買する水平型へ、技術と取引の形が変わったことを示す。</a:t>
            </a:r>
          </a:p>
        </p:txBody>
      </p:sp>
      <p:sp>
        <p:nvSpPr>
          <p:cNvPr id="14" name="Rectangle 13"/>
          <p:cNvSpPr/>
          <p:nvPr/>
        </p:nvSpPr>
        <p:spPr>
          <a:xfrm>
            <a:off x="822960" y="4503420"/>
            <a:ext cx="36576" cy="729234"/>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987552" y="4503420"/>
            <a:ext cx="2194560" cy="274320"/>
          </a:xfrm>
          <a:prstGeom prst="rect">
            <a:avLst/>
          </a:prstGeom>
          <a:noFill/>
          <a:effectLst/>
        </p:spPr>
        <p:txBody>
          <a:bodyPr wrap="none">
            <a:spAutoFit/>
          </a:bodyPr>
          <a:lstStyle/>
          <a:p>
            <a:pPr eaLnBrk="1" hangingPunct="1"/>
            <a:r>
              <a:rPr sz="1100" b="1" lang="ja-JP" altLang="en-US">
                <a:solidFill>
                  <a:srgbClr val="C51212"/>
                </a:solidFill>
                <a:latin typeface="Century Gothic"/>
                <a:ea typeface="Yu Gothic"/>
              </a:rPr>
              <a:t>洞察</a:t>
            </a:r>
          </a:p>
        </p:txBody>
      </p:sp>
      <p:sp>
        <p:nvSpPr>
          <p:cNvPr id="16" name="TextBox 15"/>
          <p:cNvSpPr txBox="1"/>
          <p:nvPr/>
        </p:nvSpPr>
        <p:spPr>
          <a:xfrm>
            <a:off x="987552" y="4777740"/>
            <a:ext cx="10561320" cy="436626"/>
          </a:xfrm>
          <a:prstGeom prst="rect">
            <a:avLst/>
          </a:prstGeom>
          <a:noFill/>
          <a:effectLst/>
        </p:spPr>
        <p:txBody>
          <a:bodyPr wrap="square">
            <a:noAutofit/>
          </a:bodyPr>
          <a:lstStyle/>
          <a:p>
            <a:pPr eaLnBrk="1" hangingPunct="1">
              <a:lnSpc>
                <a:spcPct val="140000"/>
              </a:lnSpc>
            </a:pPr>
            <a:r>
              <a:rPr b="0" sz="1300" lang="ja-JP" altLang="en-US">
                <a:solidFill>
                  <a:srgbClr val="111111"/>
                </a:solidFill>
                <a:latin typeface="Century Gothic"/>
                <a:ea typeface="Yu Gothic"/>
              </a:rPr>
              <a:t>Section2の担い手交代、Section3の技術重心移動と、語彙交代が独立に同じ方向を指している。3つの異なる切り口が同一結論に収斂する点で、『再生材の素材化・B2B化』という構造変化は単なる一過性ではなく確度が高い。</a:t>
            </a:r>
          </a:p>
        </p:txBody>
      </p:sp>
      <p:sp>
        <p:nvSpPr>
          <p:cNvPr id="17" name="Rectangle 16"/>
          <p:cNvSpPr/>
          <p:nvPr/>
        </p:nvSpPr>
        <p:spPr>
          <a:xfrm>
            <a:off x="822960" y="5397246"/>
            <a:ext cx="36576" cy="729234"/>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987552" y="5397246"/>
            <a:ext cx="2194560" cy="274320"/>
          </a:xfrm>
          <a:prstGeom prst="rect">
            <a:avLst/>
          </a:prstGeom>
          <a:noFill/>
          <a:effectLst/>
        </p:spPr>
        <p:txBody>
          <a:bodyPr wrap="none">
            <a:spAutoFit/>
          </a:bodyPr>
          <a:lstStyle/>
          <a:p>
            <a:pPr eaLnBrk="1" hangingPunct="1"/>
            <a:r>
              <a:rPr sz="1100" b="1" lang="ja-JP" altLang="en-US">
                <a:solidFill>
                  <a:srgbClr val="C51212"/>
                </a:solidFill>
                <a:latin typeface="Century Gothic"/>
                <a:ea typeface="Yu Gothic"/>
              </a:rPr>
              <a:t>示唆</a:t>
            </a:r>
          </a:p>
        </p:txBody>
      </p:sp>
      <p:sp>
        <p:nvSpPr>
          <p:cNvPr id="19" name="TextBox 18"/>
          <p:cNvSpPr txBox="1"/>
          <p:nvPr/>
        </p:nvSpPr>
        <p:spPr>
          <a:xfrm>
            <a:off x="987552" y="5671566"/>
            <a:ext cx="10561320" cy="436626"/>
          </a:xfrm>
          <a:prstGeom prst="rect">
            <a:avLst/>
          </a:prstGeom>
          <a:noFill/>
          <a:effectLst/>
        </p:spPr>
        <p:txBody>
          <a:bodyPr wrap="square">
            <a:noAutofit/>
          </a:bodyPr>
          <a:lstStyle/>
          <a:p>
            <a:pPr eaLnBrk="1" hangingPunct="1">
              <a:lnSpc>
                <a:spcPct val="140000"/>
              </a:lnSpc>
            </a:pPr>
            <a:r>
              <a:rPr b="0" sz="1300" lang="ja-JP" altLang="en-US">
                <a:solidFill>
                  <a:srgbClr val="111111"/>
                </a:solidFill>
                <a:latin typeface="Century Gothic"/>
                <a:ea typeface="Yu Gothic"/>
              </a:rPr>
              <a:t>素材外販を前提とすると、品質規格・トレーサビリティ（由来管理）・ペレット化プロセスが競争軸になる。出願戦略も『最終成形体』から『ペレット・原料規格』へ重心を移すべき。反証＝『ペレット』増が単に記載様式の流行であれば構造変化の証拠としては弱まるため、出願人の事業発表での裏取りが望ましい。</a:t>
            </a:r>
          </a:p>
        </p:txBody>
      </p:sp>
      <p:sp>
        <p:nvSpPr>
          <p:cNvPr id="20" name="TextBox 19"/>
          <p:cNvSpPr txBox="1"/>
          <p:nvPr/>
        </p:nvSpPr>
        <p:spPr>
          <a:xfrm>
            <a:off x="457200" y="6053328"/>
            <a:ext cx="11247120" cy="320040"/>
          </a:xfrm>
          <a:prstGeom prst="rect">
            <a:avLst/>
          </a:prstGeom>
          <a:noFill/>
          <a:effectLst/>
        </p:spPr>
        <p:txBody>
          <a:bodyPr wrap="square">
            <a:noAutofit/>
          </a:bodyPr>
          <a:lstStyle/>
          <a:p>
            <a:pPr eaLnBrk="1" hangingPunct="1"/>
            <a:r>
              <a:rPr sz="900" b="0" lang="ja-JP" altLang="en-US">
                <a:solidFill>
                  <a:srgbClr val="686868"/>
                </a:solidFill>
                <a:latin typeface="Century Gothic"/>
                <a:ea typeface="Yu Gothic"/>
              </a:rPr>
              <a:t>（出所）特許データベース Cyber patent desc（2026-06-14）</a:t>
            </a:r>
          </a:p>
        </p:txBody>
      </p:sp>
      <p:sp>
        <p:nvSpPr>
          <p:cNvPr id="21" name="TextBox 20"/>
          <p:cNvSpPr txBox="1"/>
          <p:nvPr/>
        </p:nvSpPr>
        <p:spPr>
          <a:xfrm>
            <a:off x="11384280" y="6419088"/>
            <a:ext cx="502920" cy="228600"/>
          </a:xfrm>
          <a:prstGeom prst="rect">
            <a:avLst/>
          </a:prstGeom>
          <a:noFill/>
          <a:effectLst/>
        </p:spPr>
        <p:txBody>
          <a:bodyPr wrap="none">
            <a:spAutoFit/>
          </a:bodyPr>
          <a:lstStyle/>
          <a:p>
            <a:pPr eaLnBrk="1" hangingPunct="1" algn="r"/>
            <a:r>
              <a:rPr sz="1000" b="0" lang="ja-JP" altLang="en-US">
                <a:solidFill>
                  <a:srgbClr val="686868"/>
                </a:solidFill>
                <a:latin typeface="Century Gothic"/>
                <a:ea typeface="Yu Gothic"/>
              </a:rPr>
              <a:t>31</a:t>
            </a:r>
          </a:p>
        </p:txBody>
      </p:sp>
      <p:cxnSp>
        <p:nvCxnSpPr>
          <p:cNvPr id="22" name="Connector 21"/>
          <p:cNvCxnSpPr/>
          <p:nvPr/>
        </p:nvCxnSpPr>
        <p:spPr>
          <a:xfrm>
            <a:off x="11859767" y="128016"/>
            <a:ext cx="201169" cy="0"/>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a:off x="12060936" y="128016"/>
            <a:ext cx="0" cy="201168"/>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a:off x="128016" y="6729984"/>
            <a:ext cx="201168" cy="0"/>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25" name="Connector 24"/>
          <p:cNvCxnSpPr/>
          <p:nvPr/>
        </p:nvCxnSpPr>
        <p:spPr>
          <a:xfrm>
            <a:off x="128016" y="6528816"/>
            <a:ext cx="0" cy="201168"/>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01011"/>
        </a:solidFill>
        <a:effectLst/>
      </p:bgPr>
    </p:bg>
    <p:spTree>
      <p:nvGrpSpPr>
        <p:cNvPr id="1" name=""/>
        <p:cNvGrpSpPr/>
        <p:nvPr/>
      </p:nvGrpSpPr>
      <p:grpSpPr/>
      <p:sp>
        <p:nvSpPr>
          <p:cNvPr id="2" name="TextBox 1"/>
          <p:cNvSpPr txBox="1"/>
          <p:nvPr/>
        </p:nvSpPr>
        <p:spPr>
          <a:xfrm>
            <a:off x="4754880" y="960120"/>
            <a:ext cx="6949440" cy="4937760"/>
          </a:xfrm>
          <a:prstGeom prst="rect">
            <a:avLst/>
          </a:prstGeom>
          <a:noFill/>
          <a:effectLst/>
        </p:spPr>
        <p:txBody>
          <a:bodyPr wrap="none">
            <a:noAutofit/>
          </a:bodyPr>
          <a:lstStyle/>
          <a:p>
            <a:pPr algn="r"/>
            <a:r>
              <a:rPr sz="30000" b="1" lang="ja-JP" altLang="en-US">
                <a:solidFill>
                  <a:srgbClr val="4A4A52"/>
                </a:solidFill>
                <a:latin typeface="Yu Mincho"/>
                <a:ea typeface="Yu Mincho"/>
              </a:rPr>
              <a:t>07</a:t>
            </a:r>
          </a:p>
        </p:txBody>
      </p:sp>
      <p:sp>
        <p:nvSpPr>
          <p:cNvPr id="3" name="Rectangle 2"/>
          <p:cNvSpPr/>
          <p:nvPr/>
        </p:nvSpPr>
        <p:spPr>
          <a:xfrm>
            <a:off x="0" y="0"/>
            <a:ext cx="274320" cy="685800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1051560" y="2514600"/>
            <a:ext cx="5486400" cy="365760"/>
          </a:xfrm>
          <a:prstGeom prst="rect">
            <a:avLst/>
          </a:prstGeom>
          <a:noFill/>
          <a:effectLst/>
        </p:spPr>
        <p:txBody>
          <a:bodyPr wrap="square">
            <a:noAutofit/>
          </a:bodyPr>
          <a:lstStyle/>
          <a:p>
            <a:r>
              <a:rPr sz="1500" b="1" lang="ja-JP" altLang="en-US" spc="260">
                <a:solidFill>
                  <a:srgbClr val="FF7070"/>
                </a:solidFill>
                <a:latin typeface="Yu Mincho"/>
                <a:ea typeface="Yu Mincho"/>
              </a:rPr>
              <a:t>SECTION 07</a:t>
            </a:r>
          </a:p>
        </p:txBody>
      </p:sp>
      <p:sp>
        <p:nvSpPr>
          <p:cNvPr id="5" name="Rectangle 4"/>
          <p:cNvSpPr/>
          <p:nvPr/>
        </p:nvSpPr>
        <p:spPr>
          <a:xfrm>
            <a:off x="1078992" y="3035808"/>
            <a:ext cx="2560320" cy="9144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1051560" y="3246120"/>
            <a:ext cx="7315200" cy="1554480"/>
          </a:xfrm>
          <a:prstGeom prst="rect">
            <a:avLst/>
          </a:prstGeom>
          <a:noFill/>
          <a:effectLst/>
        </p:spPr>
        <p:txBody>
          <a:bodyPr wrap="square">
            <a:noAutofit/>
          </a:bodyPr>
          <a:lstStyle/>
          <a:p>
            <a:pPr eaLnBrk="1" hangingPunct="1">
              <a:lnSpc>
                <a:spcPct val="115000"/>
              </a:lnSpc>
            </a:pPr>
            <a:r>
              <a:rPr sz="4000" b="1" lang="ja-JP" altLang="en-US">
                <a:solidFill>
                  <a:srgbClr val="FFFFFF"/>
                </a:solidFill>
                <a:latin typeface="Yu Mincho"/>
                <a:ea typeface="Yu Mincho"/>
              </a:rPr>
              <a:t>統合・クロス分析</a:t>
            </a:r>
          </a:p>
        </p:txBody>
      </p:sp>
      <p:sp>
        <p:nvSpPr>
          <p:cNvPr id="7" name="TextBox 6"/>
          <p:cNvSpPr txBox="1"/>
          <p:nvPr/>
        </p:nvSpPr>
        <p:spPr>
          <a:xfrm>
            <a:off x="1078992" y="4892040"/>
            <a:ext cx="6949440" cy="731520"/>
          </a:xfrm>
          <a:prstGeom prst="rect">
            <a:avLst/>
          </a:prstGeom>
          <a:noFill/>
          <a:effectLst/>
        </p:spPr>
        <p:txBody>
          <a:bodyPr wrap="square">
            <a:noAutofit/>
          </a:bodyPr>
          <a:lstStyle/>
          <a:p>
            <a:pPr eaLnBrk="1" hangingPunct="1"/>
            <a:r>
              <a:rPr sz="1500" b="0" lang="ja-JP" altLang="en-US">
                <a:solidFill>
                  <a:srgbClr val="C2C2C6"/>
                </a:solidFill>
                <a:latin typeface="Yu Mincho"/>
                <a:ea typeface="Yu Mincho"/>
              </a:rPr>
              <a:t>複数モジュールを束ねた洞察と仮説検証</a:t>
            </a:r>
          </a:p>
        </p:txBody>
      </p:sp>
      <p:sp>
        <p:nvSpPr>
          <p:cNvPr id="8" name="Rectangle 7"/>
          <p:cNvSpPr/>
          <p:nvPr/>
        </p:nvSpPr>
        <p:spPr>
          <a:xfrm>
            <a:off x="0" y="6492240"/>
            <a:ext cx="12188952" cy="27432"/>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22960" y="521208"/>
            <a:ext cx="365760" cy="1270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22960" y="630936"/>
            <a:ext cx="10725912" cy="256032"/>
          </a:xfrm>
          <a:prstGeom prst="rect">
            <a:avLst/>
          </a:prstGeom>
          <a:noFill/>
          <a:effectLst/>
        </p:spPr>
        <p:txBody>
          <a:bodyPr wrap="none">
            <a:spAutoFit/>
          </a:bodyPr>
          <a:lstStyle/>
          <a:p>
            <a:pPr eaLnBrk="1" hangingPunct="1"/>
            <a:r>
              <a:rPr sz="1000" b="1" lang="ja-JP" altLang="en-US">
                <a:solidFill>
                  <a:srgbClr val="C51212"/>
                </a:solidFill>
                <a:latin typeface="Yu Mincho"/>
                <a:ea typeface="Yu Mincho"/>
              </a:rPr>
              <a:t>統合洞察</a:t>
            </a:r>
          </a:p>
        </p:txBody>
      </p:sp>
      <p:sp>
        <p:nvSpPr>
          <p:cNvPr id="4" name="TextBox 3"/>
          <p:cNvSpPr txBox="1"/>
          <p:nvPr/>
        </p:nvSpPr>
        <p:spPr>
          <a:xfrm>
            <a:off x="822960" y="905256"/>
            <a:ext cx="10725912" cy="841248"/>
          </a:xfrm>
          <a:prstGeom prst="rect">
            <a:avLst/>
          </a:prstGeom>
          <a:noFill/>
          <a:effectLst/>
        </p:spPr>
        <p:txBody>
          <a:bodyPr wrap="square">
            <a:noAutofit/>
          </a:bodyPr>
          <a:lstStyle/>
          <a:p>
            <a:pPr eaLnBrk="1" hangingPunct="1">
              <a:lnSpc>
                <a:spcPct val="118000"/>
              </a:lnSpc>
            </a:pPr>
            <a:r>
              <a:rPr b="1" sz="2300" lang="ja-JP" altLang="en-US">
                <a:solidFill>
                  <a:srgbClr val="111111"/>
                </a:solidFill>
                <a:latin typeface="Yu Mincho"/>
                <a:ea typeface="Yu Mincho"/>
              </a:rPr>
              <a:t>クロス分析：3つの切り口が『再生材の素材化・世代交代』に収斂する</a:t>
            </a:r>
          </a:p>
        </p:txBody>
      </p:sp>
      <p:sp>
        <p:nvSpPr>
          <p:cNvPr id="5" name="Rectangle 4"/>
          <p:cNvSpPr/>
          <p:nvPr/>
        </p:nvSpPr>
        <p:spPr>
          <a:xfrm>
            <a:off x="822960" y="1801368"/>
            <a:ext cx="10725912" cy="822959"/>
          </a:xfrm>
          <a:prstGeom prst="rect">
            <a:avLst/>
          </a:prstGeom>
          <a:solidFill>
            <a:srgbClr val="F6F7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822960" y="1801368"/>
            <a:ext cx="36576" cy="822959"/>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960120" y="1874520"/>
            <a:ext cx="10451592" cy="676655"/>
          </a:xfrm>
          <a:prstGeom prst="rect">
            <a:avLst/>
          </a:prstGeom>
          <a:noFill/>
          <a:effectLst/>
        </p:spPr>
        <p:txBody>
          <a:bodyPr wrap="square">
            <a:noAutofit/>
          </a:bodyPr>
          <a:lstStyle/>
          <a:p>
            <a:pPr eaLnBrk="1" hangingPunct="1">
              <a:lnSpc>
                <a:spcPct val="150000"/>
              </a:lnSpc>
            </a:pPr>
            <a:r>
              <a:rPr sz="1500" b="1" lang="ja-JP" altLang="en-US">
                <a:solidFill>
                  <a:srgbClr val="C51212"/>
                </a:solidFill>
                <a:latin typeface="Century Gothic"/>
                <a:ea typeface="Yu Gothic"/>
              </a:rPr>
              <a:t>■ </a:t>
            </a:r>
            <a:r>
              <a:rPr sz="1500" lang="ja-JP" altLang="en-US">
                <a:solidFill>
                  <a:srgbClr val="111111"/>
                </a:solidFill>
                <a:latin typeface="Century Gothic"/>
                <a:ea typeface="Yu Gothic"/>
              </a:rPr>
              <a:t>担い手・技術内容・語彙という独立した3軸が同じ構造変化を指す。仮説は結論に昇格する。</a:t>
            </a:r>
          </a:p>
        </p:txBody>
      </p:sp>
      <p:sp>
        <p:nvSpPr>
          <p:cNvPr id="8" name="Rectangle 7"/>
          <p:cNvSpPr/>
          <p:nvPr/>
        </p:nvSpPr>
        <p:spPr>
          <a:xfrm>
            <a:off x="822960" y="2715768"/>
            <a:ext cx="36576" cy="1027176"/>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87552" y="2715768"/>
            <a:ext cx="2194560" cy="274320"/>
          </a:xfrm>
          <a:prstGeom prst="rect">
            <a:avLst/>
          </a:prstGeom>
          <a:noFill/>
          <a:effectLst/>
        </p:spPr>
        <p:txBody>
          <a:bodyPr wrap="none">
            <a:spAutoFit/>
          </a:bodyPr>
          <a:lstStyle/>
          <a:p>
            <a:pPr eaLnBrk="1" hangingPunct="1"/>
            <a:r>
              <a:rPr sz="1100" b="1" lang="ja-JP" altLang="en-US">
                <a:solidFill>
                  <a:srgbClr val="C51212"/>
                </a:solidFill>
                <a:latin typeface="Century Gothic"/>
                <a:ea typeface="Yu Gothic"/>
              </a:rPr>
              <a:t>クロス① 担い手×年代（ATLAS×MEGA）</a:t>
            </a:r>
          </a:p>
        </p:txBody>
      </p:sp>
      <p:sp>
        <p:nvSpPr>
          <p:cNvPr id="10" name="TextBox 9"/>
          <p:cNvSpPr txBox="1"/>
          <p:nvPr/>
        </p:nvSpPr>
        <p:spPr>
          <a:xfrm>
            <a:off x="987552" y="2990088"/>
            <a:ext cx="10561320" cy="734567"/>
          </a:xfrm>
          <a:prstGeom prst="rect">
            <a:avLst/>
          </a:prstGeom>
          <a:noFill/>
          <a:effectLst/>
        </p:spPr>
        <p:txBody>
          <a:bodyPr wrap="square">
            <a:noAutofit/>
          </a:bodyPr>
          <a:lstStyle/>
          <a:p>
            <a:pPr eaLnBrk="1" hangingPunct="1">
              <a:lnSpc>
                <a:spcPct val="140000"/>
              </a:lnSpc>
            </a:pPr>
            <a:r>
              <a:rPr b="0" sz="1300" lang="ja-JP" altLang="en-US">
                <a:solidFill>
                  <a:srgbClr val="111111"/>
                </a:solidFill>
                <a:latin typeface="Century Gothic"/>
                <a:ea typeface="Yu Gothic"/>
              </a:rPr>
              <a:t>仮説：件数上位＝現役とは限らない。検証：上位を出願年で分解すると帝人化成・出光は直近0件、東ソー・LG・旭化成・住友は直近100%。結論：</a:t>
            </a:r>
            <a:r>
              <a:rPr b="1" sz="1300" lang="ja-JP" altLang="en-US">
                <a:solidFill>
                  <a:srgbClr val="111111"/>
                </a:solidFill>
                <a:latin typeface="Century Gothic"/>
                <a:ea typeface="Yu Gothic"/>
              </a:rPr>
              <a:t>現役性で重み付けすると競合像が反転</a:t>
            </a:r>
            <a:r>
              <a:rPr b="0" sz="1300" lang="ja-JP" altLang="en-US">
                <a:solidFill>
                  <a:srgbClr val="111111"/>
                </a:solidFill>
                <a:latin typeface="Century Gothic"/>
                <a:ea typeface="Yu Gothic"/>
              </a:rPr>
              <a:t>し、東レ（継続）＋東ソー/LG（急進）が現在の主役。</a:t>
            </a:r>
          </a:p>
        </p:txBody>
      </p:sp>
      <p:sp>
        <p:nvSpPr>
          <p:cNvPr id="11" name="Rectangle 10"/>
          <p:cNvSpPr/>
          <p:nvPr/>
        </p:nvSpPr>
        <p:spPr>
          <a:xfrm>
            <a:off x="822960" y="3907536"/>
            <a:ext cx="36576" cy="1027176"/>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987552" y="3907536"/>
            <a:ext cx="2194560" cy="274320"/>
          </a:xfrm>
          <a:prstGeom prst="rect">
            <a:avLst/>
          </a:prstGeom>
          <a:noFill/>
          <a:effectLst/>
        </p:spPr>
        <p:txBody>
          <a:bodyPr wrap="none">
            <a:spAutoFit/>
          </a:bodyPr>
          <a:lstStyle/>
          <a:p>
            <a:pPr eaLnBrk="1" hangingPunct="1"/>
            <a:r>
              <a:rPr sz="1100" b="1" lang="ja-JP" altLang="en-US">
                <a:solidFill>
                  <a:srgbClr val="C51212"/>
                </a:solidFill>
                <a:latin typeface="Century Gothic"/>
                <a:ea typeface="Yu Gothic"/>
              </a:rPr>
              <a:t>クロス② 技術×語彙（CORE×Explorer）</a:t>
            </a:r>
          </a:p>
        </p:txBody>
      </p:sp>
      <p:sp>
        <p:nvSpPr>
          <p:cNvPr id="13" name="TextBox 12"/>
          <p:cNvSpPr txBox="1"/>
          <p:nvPr/>
        </p:nvSpPr>
        <p:spPr>
          <a:xfrm>
            <a:off x="987552" y="4181856"/>
            <a:ext cx="10561320" cy="734567"/>
          </a:xfrm>
          <a:prstGeom prst="rect">
            <a:avLst/>
          </a:prstGeom>
          <a:noFill/>
          <a:effectLst/>
        </p:spPr>
        <p:txBody>
          <a:bodyPr wrap="square">
            <a:noAutofit/>
          </a:bodyPr>
          <a:lstStyle/>
          <a:p>
            <a:pPr eaLnBrk="1" hangingPunct="1">
              <a:lnSpc>
                <a:spcPct val="140000"/>
              </a:lnSpc>
            </a:pPr>
            <a:r>
              <a:rPr b="0" sz="1300" lang="ja-JP" altLang="en-US">
                <a:solidFill>
                  <a:srgbClr val="111111"/>
                </a:solidFill>
                <a:latin typeface="Century Gothic"/>
                <a:ea typeface="Yu Gothic"/>
              </a:rPr>
              <a:t>仮説：環境訴求はコモディティ化した。検証：課題は環境対応＋物性両立が主流化し、語彙は『ペレット・由来・リサイクル材』が台頭。結論：</a:t>
            </a:r>
            <a:r>
              <a:rPr b="1" sz="1300" lang="ja-JP" altLang="en-US">
                <a:solidFill>
                  <a:srgbClr val="111111"/>
                </a:solidFill>
                <a:latin typeface="Century Gothic"/>
                <a:ea typeface="Yu Gothic"/>
              </a:rPr>
              <a:t>競争軸は環境対応から品質安定化・素材規格へ移動</a:t>
            </a:r>
            <a:r>
              <a:rPr b="0" sz="1300" lang="ja-JP" altLang="en-US">
                <a:solidFill>
                  <a:srgbClr val="111111"/>
                </a:solidFill>
                <a:latin typeface="Century Gothic"/>
                <a:ea typeface="Yu Gothic"/>
              </a:rPr>
              <a:t>し、相溶化・異物除去・プロセス制御がコア。</a:t>
            </a:r>
          </a:p>
        </p:txBody>
      </p:sp>
      <p:sp>
        <p:nvSpPr>
          <p:cNvPr id="14" name="Rectangle 13"/>
          <p:cNvSpPr/>
          <p:nvPr/>
        </p:nvSpPr>
        <p:spPr>
          <a:xfrm>
            <a:off x="822960" y="5099304"/>
            <a:ext cx="36576" cy="1027176"/>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987552" y="5099304"/>
            <a:ext cx="2194560" cy="274320"/>
          </a:xfrm>
          <a:prstGeom prst="rect">
            <a:avLst/>
          </a:prstGeom>
          <a:noFill/>
          <a:effectLst/>
        </p:spPr>
        <p:txBody>
          <a:bodyPr wrap="none">
            <a:spAutoFit/>
          </a:bodyPr>
          <a:lstStyle/>
          <a:p>
            <a:pPr eaLnBrk="1" hangingPunct="1"/>
            <a:r>
              <a:rPr sz="1100" b="1" lang="ja-JP" altLang="en-US">
                <a:solidFill>
                  <a:srgbClr val="C51212"/>
                </a:solidFill>
                <a:latin typeface="Century Gothic"/>
                <a:ea typeface="Yu Gothic"/>
              </a:rPr>
              <a:t>クロス③ クラスタ×代表特許（SaturnV×精読）</a:t>
            </a:r>
          </a:p>
        </p:txBody>
      </p:sp>
      <p:sp>
        <p:nvSpPr>
          <p:cNvPr id="16" name="TextBox 15"/>
          <p:cNvSpPr txBox="1"/>
          <p:nvPr/>
        </p:nvSpPr>
        <p:spPr>
          <a:xfrm>
            <a:off x="987552" y="5373623"/>
            <a:ext cx="10561320" cy="734567"/>
          </a:xfrm>
          <a:prstGeom prst="rect">
            <a:avLst/>
          </a:prstGeom>
          <a:noFill/>
          <a:effectLst/>
        </p:spPr>
        <p:txBody>
          <a:bodyPr wrap="square">
            <a:noAutofit/>
          </a:bodyPr>
          <a:lstStyle/>
          <a:p>
            <a:pPr eaLnBrk="1" hangingPunct="1">
              <a:lnSpc>
                <a:spcPct val="140000"/>
              </a:lnSpc>
            </a:pPr>
            <a:r>
              <a:rPr b="0" sz="1300" lang="ja-JP" altLang="en-US">
                <a:solidFill>
                  <a:srgbClr val="111111"/>
                </a:solidFill>
                <a:latin typeface="Century Gothic"/>
                <a:ea typeface="Yu Gothic"/>
              </a:rPr>
              <a:t>仮説：技術は配合改良で成熟している。検証：ノイズ率0%で均質だが、東レの解重合（[特開2026-52764]）が質的に外れた萌芽。結論：</a:t>
            </a:r>
            <a:r>
              <a:rPr b="1" sz="1300" lang="ja-JP" altLang="en-US">
                <a:solidFill>
                  <a:srgbClr val="111111"/>
                </a:solidFill>
                <a:latin typeface="Century Gothic"/>
                <a:ea typeface="Yu Gothic"/>
              </a:rPr>
              <a:t>量の主役（汎用組成物の配合）と、次世代経路（化学的リサイクル）が併存</a:t>
            </a:r>
            <a:r>
              <a:rPr b="0" sz="1300" lang="ja-JP" altLang="en-US">
                <a:solidFill>
                  <a:srgbClr val="111111"/>
                </a:solidFill>
                <a:latin typeface="Century Gothic"/>
                <a:ea typeface="Yu Gothic"/>
              </a:rPr>
              <a:t>し、後者が不純物問題を根本から変えうる。</a:t>
            </a:r>
          </a:p>
        </p:txBody>
      </p:sp>
      <p:sp>
        <p:nvSpPr>
          <p:cNvPr id="17" name="TextBox 16"/>
          <p:cNvSpPr txBox="1"/>
          <p:nvPr/>
        </p:nvSpPr>
        <p:spPr>
          <a:xfrm>
            <a:off x="457200" y="6053328"/>
            <a:ext cx="11247120" cy="320040"/>
          </a:xfrm>
          <a:prstGeom prst="rect">
            <a:avLst/>
          </a:prstGeom>
          <a:noFill/>
          <a:effectLst/>
        </p:spPr>
        <p:txBody>
          <a:bodyPr wrap="square">
            <a:noAutofit/>
          </a:bodyPr>
          <a:lstStyle/>
          <a:p>
            <a:pPr eaLnBrk="1" hangingPunct="1"/>
            <a:r>
              <a:rPr sz="900" b="0" lang="ja-JP" altLang="en-US">
                <a:solidFill>
                  <a:srgbClr val="686868"/>
                </a:solidFill>
                <a:latin typeface="Century Gothic"/>
                <a:ea typeface="Yu Gothic"/>
              </a:rPr>
              <a:t>（出所）特許データベース Cyber patent desc（2026-06-14）</a:t>
            </a:r>
          </a:p>
        </p:txBody>
      </p:sp>
      <p:sp>
        <p:nvSpPr>
          <p:cNvPr id="18" name="TextBox 17"/>
          <p:cNvSpPr txBox="1"/>
          <p:nvPr/>
        </p:nvSpPr>
        <p:spPr>
          <a:xfrm>
            <a:off x="11384280" y="6419088"/>
            <a:ext cx="502920" cy="228600"/>
          </a:xfrm>
          <a:prstGeom prst="rect">
            <a:avLst/>
          </a:prstGeom>
          <a:noFill/>
          <a:effectLst/>
        </p:spPr>
        <p:txBody>
          <a:bodyPr wrap="none">
            <a:spAutoFit/>
          </a:bodyPr>
          <a:lstStyle/>
          <a:p>
            <a:pPr eaLnBrk="1" hangingPunct="1" algn="r"/>
            <a:r>
              <a:rPr sz="1000" b="0" lang="ja-JP" altLang="en-US">
                <a:solidFill>
                  <a:srgbClr val="686868"/>
                </a:solidFill>
                <a:latin typeface="Century Gothic"/>
                <a:ea typeface="Yu Gothic"/>
              </a:rPr>
              <a:t>32</a:t>
            </a:r>
          </a:p>
        </p:txBody>
      </p:sp>
      <p:cxnSp>
        <p:nvCxnSpPr>
          <p:cNvPr id="19" name="Connector 18"/>
          <p:cNvCxnSpPr/>
          <p:nvPr/>
        </p:nvCxnSpPr>
        <p:spPr>
          <a:xfrm>
            <a:off x="11859767" y="128016"/>
            <a:ext cx="201169" cy="0"/>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20" name="Connector 19"/>
          <p:cNvCxnSpPr/>
          <p:nvPr/>
        </p:nvCxnSpPr>
        <p:spPr>
          <a:xfrm>
            <a:off x="12060936" y="128016"/>
            <a:ext cx="0" cy="201168"/>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21" name="Connector 20"/>
          <p:cNvCxnSpPr/>
          <p:nvPr/>
        </p:nvCxnSpPr>
        <p:spPr>
          <a:xfrm>
            <a:off x="128016" y="6729984"/>
            <a:ext cx="201168" cy="0"/>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a:off x="128016" y="6528816"/>
            <a:ext cx="0" cy="201168"/>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22960" y="521208"/>
            <a:ext cx="365760" cy="1270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22960" y="630936"/>
            <a:ext cx="10725912" cy="713232"/>
          </a:xfrm>
          <a:prstGeom prst="rect">
            <a:avLst/>
          </a:prstGeom>
          <a:noFill/>
          <a:effectLst/>
        </p:spPr>
        <p:txBody>
          <a:bodyPr wrap="square">
            <a:noAutofit/>
          </a:bodyPr>
          <a:lstStyle/>
          <a:p>
            <a:pPr eaLnBrk="1" hangingPunct="1">
              <a:lnSpc>
                <a:spcPct val="118000"/>
              </a:lnSpc>
            </a:pPr>
            <a:r>
              <a:rPr b="1" sz="2700" lang="ja-JP" altLang="en-US">
                <a:solidFill>
                  <a:srgbClr val="111111"/>
                </a:solidFill>
                <a:latin typeface="Yu Mincho"/>
                <a:ea typeface="Yu Mincho"/>
              </a:rPr>
              <a:t>仮説検証サマリー ～分析から立ち上げ、データで判定</a:t>
            </a:r>
          </a:p>
        </p:txBody>
      </p:sp>
      <p:sp>
        <p:nvSpPr>
          <p:cNvPr id="4" name="Rectangle 3"/>
          <p:cNvSpPr/>
          <p:nvPr/>
        </p:nvSpPr>
        <p:spPr>
          <a:xfrm>
            <a:off x="822960" y="1399032"/>
            <a:ext cx="10725912" cy="822959"/>
          </a:xfrm>
          <a:prstGeom prst="rect">
            <a:avLst/>
          </a:prstGeom>
          <a:solidFill>
            <a:srgbClr val="F6F7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822960" y="1399032"/>
            <a:ext cx="36576" cy="822959"/>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60120" y="1472184"/>
            <a:ext cx="10451592" cy="676655"/>
          </a:xfrm>
          <a:prstGeom prst="rect">
            <a:avLst/>
          </a:prstGeom>
          <a:noFill/>
          <a:effectLst/>
        </p:spPr>
        <p:txBody>
          <a:bodyPr wrap="square">
            <a:noAutofit/>
          </a:bodyPr>
          <a:lstStyle/>
          <a:p>
            <a:pPr eaLnBrk="1" hangingPunct="1">
              <a:lnSpc>
                <a:spcPct val="150000"/>
              </a:lnSpc>
            </a:pPr>
            <a:r>
              <a:rPr sz="1500" b="1" lang="ja-JP" altLang="en-US">
                <a:solidFill>
                  <a:srgbClr val="C51212"/>
                </a:solidFill>
                <a:latin typeface="Century Gothic"/>
                <a:ea typeface="Yu Gothic"/>
              </a:rPr>
              <a:t>■ </a:t>
            </a:r>
            <a:r>
              <a:rPr sz="1500" lang="ja-JP" altLang="en-US">
                <a:solidFill>
                  <a:srgbClr val="111111"/>
                </a:solidFill>
                <a:latin typeface="Century Gothic"/>
                <a:ea typeface="Yu Gothic"/>
              </a:rPr>
              <a:t>ミッションの問い（高機能化の方向と、継続的に取り組む企業）に、本母集団のデータで回答する。</a:t>
            </a:r>
          </a:p>
        </p:txBody>
      </p:sp>
      <p:graphicFrame>
        <p:nvGraphicFramePr>
          <p:cNvPr id="7" name="Table 6"/>
          <p:cNvGraphicFramePr>
            <a:graphicFrameLocks noGrp="1"/>
          </p:cNvGraphicFramePr>
          <p:nvPr/>
        </p:nvGraphicFramePr>
        <p:xfrm>
          <a:off x="457200" y="2313432"/>
          <a:ext cx="11247120" cy="3493007"/>
        </p:xfrm>
        <a:graphic>
          <a:graphicData uri="http://schemas.openxmlformats.org/drawingml/2006/table">
            <a:tbl>
              <a:tblPr firstRow="1" bandRow="1">
                <a:tableStyleId>{5C22544A-7EE6-4342-B048-85BDC9FD1C3A}</a:tableStyleId>
              </a:tblPr>
              <a:tblGrid>
                <a:gridCol w="640080"/>
                <a:gridCol w="3931920"/>
                <a:gridCol w="1005840"/>
                <a:gridCol w="5669280"/>
              </a:tblGrid>
              <a:tr h="582167">
                <a:tc>
                  <a:txBody>
                    <a:bodyPr/>
                    <a:lstStyle/>
                    <a:p>
                      <a:pPr eaLnBrk="1" hangingPunct="1"/>
                      <a:r>
                        <a:rPr sz="1200" b="1" lang="ja-JP" altLang="en-US">
                          <a:solidFill>
                            <a:srgbClr val="FFFFFF"/>
                          </a:solidFill>
                          <a:latin typeface="Century Gothic"/>
                          <a:ea typeface="Yu Gothic"/>
                        </a:rPr>
                        <a:t>ID</a:t>
                      </a:r>
                    </a:p>
                  </a:txBody>
                  <a:tcPr>
                    <a:solidFill>
                      <a:srgbClr val="111111"/>
                    </a:solidFill>
                  </a:tcPr>
                </a:tc>
                <a:tc>
                  <a:txBody>
                    <a:bodyPr/>
                    <a:lstStyle/>
                    <a:p>
                      <a:pPr eaLnBrk="1" hangingPunct="1"/>
                      <a:r>
                        <a:rPr sz="1200" b="1" lang="ja-JP" altLang="en-US">
                          <a:solidFill>
                            <a:srgbClr val="FFFFFF"/>
                          </a:solidFill>
                          <a:latin typeface="Century Gothic"/>
                          <a:ea typeface="Yu Gothic"/>
                        </a:rPr>
                        <a:t>仮説</a:t>
                      </a:r>
                    </a:p>
                  </a:txBody>
                  <a:tcPr>
                    <a:solidFill>
                      <a:srgbClr val="111111"/>
                    </a:solidFill>
                  </a:tcPr>
                </a:tc>
                <a:tc>
                  <a:txBody>
                    <a:bodyPr/>
                    <a:lstStyle/>
                    <a:p>
                      <a:pPr eaLnBrk="1" hangingPunct="1"/>
                      <a:r>
                        <a:rPr sz="1200" b="1" lang="ja-JP" altLang="en-US">
                          <a:solidFill>
                            <a:srgbClr val="FFFFFF"/>
                          </a:solidFill>
                          <a:latin typeface="Century Gothic"/>
                          <a:ea typeface="Yu Gothic"/>
                        </a:rPr>
                        <a:t>判定</a:t>
                      </a:r>
                    </a:p>
                  </a:txBody>
                  <a:tcPr>
                    <a:solidFill>
                      <a:srgbClr val="111111"/>
                    </a:solidFill>
                  </a:tcPr>
                </a:tc>
                <a:tc>
                  <a:txBody>
                    <a:bodyPr/>
                    <a:lstStyle/>
                    <a:p>
                      <a:pPr eaLnBrk="1" hangingPunct="1"/>
                      <a:r>
                        <a:rPr sz="1200" b="1" lang="ja-JP" altLang="en-US">
                          <a:solidFill>
                            <a:srgbClr val="FFFFFF"/>
                          </a:solidFill>
                          <a:latin typeface="Century Gothic"/>
                          <a:ea typeface="Yu Gothic"/>
                        </a:rPr>
                        <a:t>エビデンス</a:t>
                      </a:r>
                    </a:p>
                  </a:txBody>
                  <a:tcPr>
                    <a:solidFill>
                      <a:srgbClr val="111111"/>
                    </a:solidFill>
                  </a:tcPr>
                </a:tc>
              </a:tr>
              <a:tr h="582167">
                <a:tc>
                  <a:txBody>
                    <a:bodyPr/>
                    <a:lstStyle/>
                    <a:p>
                      <a:pPr eaLnBrk="1" hangingPunct="1"/>
                      <a:r>
                        <a:rPr sz="1100" b="0" lang="ja-JP" altLang="en-US">
                          <a:solidFill>
                            <a:srgbClr val="111111"/>
                          </a:solidFill>
                          <a:latin typeface="Century Gothic"/>
                          <a:ea typeface="Yu Gothic"/>
                        </a:rPr>
                        <a:t>H1</a:t>
                      </a:r>
                    </a:p>
                  </a:txBody>
                  <a:tcPr/>
                </a:tc>
                <a:tc>
                  <a:txBody>
                    <a:bodyPr/>
                    <a:lstStyle/>
                    <a:p>
                      <a:pPr eaLnBrk="1" hangingPunct="1"/>
                      <a:r>
                        <a:rPr sz="1100" b="0" lang="ja-JP" altLang="en-US">
                          <a:solidFill>
                            <a:srgbClr val="111111"/>
                          </a:solidFill>
                          <a:latin typeface="Century Gothic"/>
                          <a:ea typeface="Yu Gothic"/>
                        </a:rPr>
                        <a:t>再生材は単なる利用拡大でなく『高機能組成物』へ進化している</a:t>
                      </a:r>
                    </a:p>
                  </a:txBody>
                  <a:tcPr/>
                </a:tc>
                <a:tc>
                  <a:txBody>
                    <a:bodyPr/>
                    <a:lstStyle/>
                    <a:p>
                      <a:pPr eaLnBrk="1" hangingPunct="1" algn="ctr"/>
                      <a:r>
                        <a:rPr sz="1200" b="1" lang="ja-JP" altLang="en-US">
                          <a:solidFill>
                            <a:srgbClr val="FFFFFF"/>
                          </a:solidFill>
                          <a:latin typeface="Century Gothic"/>
                          <a:ea typeface="Yu Gothic"/>
                        </a:rPr>
                        <a:t>支持</a:t>
                      </a:r>
                    </a:p>
                  </a:txBody>
                  <a:tcPr>
                    <a:solidFill>
                      <a:srgbClr val="111111"/>
                    </a:solidFill>
                  </a:tcPr>
                </a:tc>
                <a:tc>
                  <a:txBody>
                    <a:bodyPr/>
                    <a:lstStyle/>
                    <a:p>
                      <a:pPr eaLnBrk="1" hangingPunct="1"/>
                      <a:r>
                        <a:rPr sz="1100" b="0" lang="ja-JP" altLang="en-US">
                          <a:solidFill>
                            <a:srgbClr val="111111"/>
                          </a:solidFill>
                          <a:latin typeface="Century Gothic"/>
                          <a:ea typeface="Yu Gothic"/>
                        </a:rPr>
                        <a:t>課題=環境対応＋機械特性/成形性の両立が主流、解決手段=相溶化・プロセス制御。語彙も組成物・ペレットへ</a:t>
                      </a:r>
                    </a:p>
                  </a:txBody>
                  <a:tcPr/>
                </a:tc>
              </a:tr>
              <a:tr h="582167">
                <a:tc>
                  <a:txBody>
                    <a:bodyPr/>
                    <a:lstStyle/>
                    <a:p>
                      <a:pPr eaLnBrk="1" hangingPunct="1"/>
                      <a:r>
                        <a:rPr sz="1100" b="0" lang="ja-JP" altLang="en-US">
                          <a:solidFill>
                            <a:srgbClr val="111111"/>
                          </a:solidFill>
                          <a:latin typeface="Century Gothic"/>
                          <a:ea typeface="Yu Gothic"/>
                        </a:rPr>
                        <a:t>H2</a:t>
                      </a:r>
                    </a:p>
                  </a:txBody>
                  <a:tcPr>
                    <a:solidFill>
                      <a:srgbClr val="F1F2F3"/>
                    </a:solidFill>
                  </a:tcPr>
                </a:tc>
                <a:tc>
                  <a:txBody>
                    <a:bodyPr/>
                    <a:lstStyle/>
                    <a:p>
                      <a:pPr eaLnBrk="1" hangingPunct="1"/>
                      <a:r>
                        <a:rPr sz="1100" b="0" lang="ja-JP" altLang="en-US">
                          <a:solidFill>
                            <a:srgbClr val="111111"/>
                          </a:solidFill>
                          <a:latin typeface="Century Gothic"/>
                          <a:ea typeface="Yu Gothic"/>
                        </a:rPr>
                        <a:t>継続的・重点的に取り組む企業は限られ、特定できる</a:t>
                      </a:r>
                    </a:p>
                  </a:txBody>
                  <a:tcPr>
                    <a:solidFill>
                      <a:srgbClr val="F1F2F3"/>
                    </a:solidFill>
                  </a:tcPr>
                </a:tc>
                <a:tc>
                  <a:txBody>
                    <a:bodyPr/>
                    <a:lstStyle/>
                    <a:p>
                      <a:pPr eaLnBrk="1" hangingPunct="1" algn="ctr"/>
                      <a:r>
                        <a:rPr sz="1200" b="1" lang="ja-JP" altLang="en-US">
                          <a:solidFill>
                            <a:srgbClr val="FFFFFF"/>
                          </a:solidFill>
                          <a:latin typeface="Century Gothic"/>
                          <a:ea typeface="Yu Gothic"/>
                        </a:rPr>
                        <a:t>支持</a:t>
                      </a:r>
                    </a:p>
                  </a:txBody>
                  <a:tcPr>
                    <a:solidFill>
                      <a:srgbClr val="111111"/>
                    </a:solidFill>
                  </a:tcPr>
                </a:tc>
                <a:tc>
                  <a:txBody>
                    <a:bodyPr/>
                    <a:lstStyle/>
                    <a:p>
                      <a:pPr eaLnBrk="1" hangingPunct="1"/>
                      <a:r>
                        <a:rPr sz="1100" b="0" lang="ja-JP" altLang="en-US">
                          <a:solidFill>
                            <a:srgbClr val="111111"/>
                          </a:solidFill>
                          <a:latin typeface="Century Gothic"/>
                          <a:ea typeface="Yu Gothic"/>
                        </a:rPr>
                        <a:t>全期間継続は東レのみ。直近の重点投下は東ソー・LG・旭化成・住友。旧勢力は休眠</a:t>
                      </a:r>
                    </a:p>
                  </a:txBody>
                  <a:tcPr>
                    <a:solidFill>
                      <a:srgbClr val="F1F2F3"/>
                    </a:solidFill>
                  </a:tcPr>
                </a:tc>
              </a:tr>
              <a:tr h="582167">
                <a:tc>
                  <a:txBody>
                    <a:bodyPr/>
                    <a:lstStyle/>
                    <a:p>
                      <a:pPr eaLnBrk="1" hangingPunct="1"/>
                      <a:r>
                        <a:rPr sz="1100" b="0" lang="ja-JP" altLang="en-US">
                          <a:solidFill>
                            <a:srgbClr val="111111"/>
                          </a:solidFill>
                          <a:latin typeface="Century Gothic"/>
                          <a:ea typeface="Yu Gothic"/>
                        </a:rPr>
                        <a:t>H3</a:t>
                      </a:r>
                    </a:p>
                  </a:txBody>
                  <a:tcPr/>
                </a:tc>
                <a:tc>
                  <a:txBody>
                    <a:bodyPr/>
                    <a:lstStyle/>
                    <a:p>
                      <a:pPr eaLnBrk="1" hangingPunct="1"/>
                      <a:r>
                        <a:rPr sz="1100" b="0" lang="ja-JP" altLang="en-US">
                          <a:solidFill>
                            <a:srgbClr val="111111"/>
                          </a:solidFill>
                          <a:latin typeface="Century Gothic"/>
                          <a:ea typeface="Yu Gothic"/>
                        </a:rPr>
                        <a:t>本母集団は特定企業の寡占構造にある</a:t>
                      </a:r>
                    </a:p>
                  </a:txBody>
                  <a:tcPr/>
                </a:tc>
                <a:tc>
                  <a:txBody>
                    <a:bodyPr/>
                    <a:lstStyle/>
                    <a:p>
                      <a:pPr eaLnBrk="1" hangingPunct="1" algn="ctr"/>
                      <a:r>
                        <a:rPr sz="1200" b="1" lang="ja-JP" altLang="en-US">
                          <a:solidFill>
                            <a:srgbClr val="FFFFFF"/>
                          </a:solidFill>
                          <a:latin typeface="Century Gothic"/>
                          <a:ea typeface="Yu Gothic"/>
                        </a:rPr>
                        <a:t>不支持</a:t>
                      </a:r>
                    </a:p>
                  </a:txBody>
                  <a:tcPr>
                    <a:solidFill>
                      <a:srgbClr val="686868"/>
                    </a:solidFill>
                  </a:tcPr>
                </a:tc>
                <a:tc>
                  <a:txBody>
                    <a:bodyPr/>
                    <a:lstStyle/>
                    <a:p>
                      <a:pPr eaLnBrk="1" hangingPunct="1"/>
                      <a:r>
                        <a:rPr sz="1100" b="0" lang="ja-JP" altLang="en-US">
                          <a:solidFill>
                            <a:srgbClr val="111111"/>
                          </a:solidFill>
                          <a:latin typeface="Century Gothic"/>
                          <a:ea typeface="Yu Gothic"/>
                        </a:rPr>
                        <a:t>HHI0.042・上位1社シェア5%未満で分散的。寡占ではなく多数参入の競争局面</a:t>
                      </a:r>
                    </a:p>
                  </a:txBody>
                  <a:tcPr/>
                </a:tc>
              </a:tr>
              <a:tr h="582167">
                <a:tc>
                  <a:txBody>
                    <a:bodyPr/>
                    <a:lstStyle/>
                    <a:p>
                      <a:pPr eaLnBrk="1" hangingPunct="1"/>
                      <a:r>
                        <a:rPr sz="1100" b="0" lang="ja-JP" altLang="en-US">
                          <a:solidFill>
                            <a:srgbClr val="111111"/>
                          </a:solidFill>
                          <a:latin typeface="Century Gothic"/>
                          <a:ea typeface="Yu Gothic"/>
                        </a:rPr>
                        <a:t>H4</a:t>
                      </a:r>
                    </a:p>
                  </a:txBody>
                  <a:tcPr>
                    <a:solidFill>
                      <a:srgbClr val="F1F2F3"/>
                    </a:solidFill>
                  </a:tcPr>
                </a:tc>
                <a:tc>
                  <a:txBody>
                    <a:bodyPr/>
                    <a:lstStyle/>
                    <a:p>
                      <a:pPr eaLnBrk="1" hangingPunct="1"/>
                      <a:r>
                        <a:rPr sz="1100" b="0" lang="ja-JP" altLang="en-US">
                          <a:solidFill>
                            <a:srgbClr val="111111"/>
                          </a:solidFill>
                          <a:latin typeface="Century Gothic"/>
                          <a:ea typeface="Yu Gothic"/>
                        </a:rPr>
                        <a:t>化学的リサイクル(解重合)が次の主戦場として萌芽している</a:t>
                      </a:r>
                    </a:p>
                  </a:txBody>
                  <a:tcPr>
                    <a:solidFill>
                      <a:srgbClr val="F1F2F3"/>
                    </a:solidFill>
                  </a:tcPr>
                </a:tc>
                <a:tc>
                  <a:txBody>
                    <a:bodyPr/>
                    <a:lstStyle/>
                    <a:p>
                      <a:pPr eaLnBrk="1" hangingPunct="1" algn="ctr"/>
                      <a:r>
                        <a:rPr sz="1200" b="1" lang="ja-JP" altLang="en-US">
                          <a:solidFill>
                            <a:srgbClr val="FFFFFF"/>
                          </a:solidFill>
                          <a:latin typeface="Century Gothic"/>
                          <a:ea typeface="Yu Gothic"/>
                        </a:rPr>
                        <a:t>一部支持</a:t>
                      </a:r>
                    </a:p>
                  </a:txBody>
                  <a:tcPr>
                    <a:solidFill>
                      <a:srgbClr val="C51212"/>
                    </a:solidFill>
                  </a:tcPr>
                </a:tc>
                <a:tc>
                  <a:txBody>
                    <a:bodyPr/>
                    <a:lstStyle/>
                    <a:p>
                      <a:pPr eaLnBrk="1" hangingPunct="1"/>
                      <a:r>
                        <a:rPr sz="1100" b="0" lang="ja-JP" altLang="en-US">
                          <a:solidFill>
                            <a:srgbClr val="111111"/>
                          </a:solidFill>
                          <a:latin typeface="Century Gothic"/>
                          <a:ea typeface="Yu Gothic"/>
                        </a:rPr>
                        <a:t>東レの解重合特許など萌芽は確認できるが件数はごく少数。シグナルは弱く今後の監視対象</a:t>
                      </a:r>
                    </a:p>
                  </a:txBody>
                  <a:tcPr>
                    <a:solidFill>
                      <a:srgbClr val="F1F2F3"/>
                    </a:solidFill>
                  </a:tcPr>
                </a:tc>
              </a:tr>
              <a:tr h="582172">
                <a:tc>
                  <a:txBody>
                    <a:bodyPr/>
                    <a:lstStyle/>
                    <a:p>
                      <a:pPr eaLnBrk="1" hangingPunct="1"/>
                      <a:r>
                        <a:rPr sz="1100" b="0" lang="ja-JP" altLang="en-US">
                          <a:solidFill>
                            <a:srgbClr val="111111"/>
                          </a:solidFill>
                          <a:latin typeface="Century Gothic"/>
                          <a:ea typeface="Yu Gothic"/>
                        </a:rPr>
                        <a:t>H5</a:t>
                      </a:r>
                    </a:p>
                  </a:txBody>
                  <a:tcPr/>
                </a:tc>
                <a:tc>
                  <a:txBody>
                    <a:bodyPr/>
                    <a:lstStyle/>
                    <a:p>
                      <a:pPr eaLnBrk="1" hangingPunct="1"/>
                      <a:r>
                        <a:rPr sz="1100" b="0" lang="ja-JP" altLang="en-US">
                          <a:solidFill>
                            <a:srgbClr val="111111"/>
                          </a:solidFill>
                          <a:latin typeface="Century Gothic"/>
                          <a:ea typeface="Yu Gothic"/>
                        </a:rPr>
                        <a:t>再生材は容器包装・汎用樹脂用途へ展開が広がっている</a:t>
                      </a:r>
                    </a:p>
                  </a:txBody>
                  <a:tcPr/>
                </a:tc>
                <a:tc>
                  <a:txBody>
                    <a:bodyPr/>
                    <a:lstStyle/>
                    <a:p>
                      <a:pPr eaLnBrk="1" hangingPunct="1" algn="ctr"/>
                      <a:r>
                        <a:rPr sz="1200" b="1" lang="ja-JP" altLang="en-US">
                          <a:solidFill>
                            <a:srgbClr val="FFFFFF"/>
                          </a:solidFill>
                          <a:latin typeface="Century Gothic"/>
                          <a:ea typeface="Yu Gothic"/>
                        </a:rPr>
                        <a:t>支持</a:t>
                      </a:r>
                    </a:p>
                  </a:txBody>
                  <a:tcPr>
                    <a:solidFill>
                      <a:srgbClr val="111111"/>
                    </a:solidFill>
                  </a:tcPr>
                </a:tc>
                <a:tc>
                  <a:txBody>
                    <a:bodyPr/>
                    <a:lstStyle/>
                    <a:p>
                      <a:pPr eaLnBrk="1" hangingPunct="1"/>
                      <a:r>
                        <a:rPr sz="1100" b="0" lang="ja-JP" altLang="en-US">
                          <a:solidFill>
                            <a:srgbClr val="111111"/>
                          </a:solidFill>
                          <a:latin typeface="Century Gothic"/>
                          <a:ea typeface="Yu Gothic"/>
                        </a:rPr>
                        <a:t>PO系が量の中心、中空成形・フィルム用途の代表特許が直近に集中。素材外販型の語彙も台頭</a:t>
                      </a:r>
                    </a:p>
                  </a:txBody>
                  <a:tcPr/>
                </a:tc>
              </a:tr>
            </a:tbl>
          </a:graphicData>
        </a:graphic>
      </p:graphicFrame>
      <p:sp>
        <p:nvSpPr>
          <p:cNvPr id="8" name="TextBox 7"/>
          <p:cNvSpPr txBox="1"/>
          <p:nvPr/>
        </p:nvSpPr>
        <p:spPr>
          <a:xfrm>
            <a:off x="457200" y="6053328"/>
            <a:ext cx="11247120" cy="320040"/>
          </a:xfrm>
          <a:prstGeom prst="rect">
            <a:avLst/>
          </a:prstGeom>
          <a:noFill/>
          <a:effectLst/>
        </p:spPr>
        <p:txBody>
          <a:bodyPr wrap="square">
            <a:noAutofit/>
          </a:bodyPr>
          <a:lstStyle/>
          <a:p>
            <a:pPr eaLnBrk="1" hangingPunct="1"/>
            <a:r>
              <a:rPr sz="900" b="0" lang="ja-JP" altLang="en-US">
                <a:solidFill>
                  <a:srgbClr val="686868"/>
                </a:solidFill>
                <a:latin typeface="Century Gothic"/>
                <a:ea typeface="Yu Gothic"/>
              </a:rPr>
              <a:t>（出所）特許データベース Cyber patent desc（2026-06-14）</a:t>
            </a:r>
          </a:p>
        </p:txBody>
      </p:sp>
      <p:sp>
        <p:nvSpPr>
          <p:cNvPr id="9" name="TextBox 8"/>
          <p:cNvSpPr txBox="1"/>
          <p:nvPr/>
        </p:nvSpPr>
        <p:spPr>
          <a:xfrm>
            <a:off x="11384280" y="6419088"/>
            <a:ext cx="502920" cy="228600"/>
          </a:xfrm>
          <a:prstGeom prst="rect">
            <a:avLst/>
          </a:prstGeom>
          <a:noFill/>
          <a:effectLst/>
        </p:spPr>
        <p:txBody>
          <a:bodyPr wrap="none">
            <a:spAutoFit/>
          </a:bodyPr>
          <a:lstStyle/>
          <a:p>
            <a:pPr eaLnBrk="1" hangingPunct="1" algn="r"/>
            <a:r>
              <a:rPr sz="1000" b="0" lang="ja-JP" altLang="en-US">
                <a:solidFill>
                  <a:srgbClr val="686868"/>
                </a:solidFill>
                <a:latin typeface="Century Gothic"/>
                <a:ea typeface="Yu Gothic"/>
              </a:rPr>
              <a:t>33</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01011"/>
        </a:solidFill>
        <a:effectLst/>
      </p:bgPr>
    </p:bg>
    <p:spTree>
      <p:nvGrpSpPr>
        <p:cNvPr id="1" name=""/>
        <p:cNvGrpSpPr/>
        <p:nvPr/>
      </p:nvGrpSpPr>
      <p:grpSpPr/>
      <p:sp>
        <p:nvSpPr>
          <p:cNvPr id="2" name="TextBox 1"/>
          <p:cNvSpPr txBox="1"/>
          <p:nvPr/>
        </p:nvSpPr>
        <p:spPr>
          <a:xfrm>
            <a:off x="4754880" y="960120"/>
            <a:ext cx="6949440" cy="4937760"/>
          </a:xfrm>
          <a:prstGeom prst="rect">
            <a:avLst/>
          </a:prstGeom>
          <a:noFill/>
          <a:effectLst/>
        </p:spPr>
        <p:txBody>
          <a:bodyPr wrap="none">
            <a:noAutofit/>
          </a:bodyPr>
          <a:lstStyle/>
          <a:p>
            <a:pPr algn="r"/>
            <a:r>
              <a:rPr sz="30000" b="1" lang="ja-JP" altLang="en-US">
                <a:solidFill>
                  <a:srgbClr val="4A4A52"/>
                </a:solidFill>
                <a:latin typeface="Yu Mincho"/>
                <a:ea typeface="Yu Mincho"/>
              </a:rPr>
              <a:t>08</a:t>
            </a:r>
          </a:p>
        </p:txBody>
      </p:sp>
      <p:sp>
        <p:nvSpPr>
          <p:cNvPr id="3" name="Rectangle 2"/>
          <p:cNvSpPr/>
          <p:nvPr/>
        </p:nvSpPr>
        <p:spPr>
          <a:xfrm>
            <a:off x="0" y="0"/>
            <a:ext cx="274320" cy="685800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1051560" y="2514600"/>
            <a:ext cx="5486400" cy="365760"/>
          </a:xfrm>
          <a:prstGeom prst="rect">
            <a:avLst/>
          </a:prstGeom>
          <a:noFill/>
          <a:effectLst/>
        </p:spPr>
        <p:txBody>
          <a:bodyPr wrap="square">
            <a:noAutofit/>
          </a:bodyPr>
          <a:lstStyle/>
          <a:p>
            <a:r>
              <a:rPr sz="1500" b="1" lang="ja-JP" altLang="en-US" spc="260">
                <a:solidFill>
                  <a:srgbClr val="FF7070"/>
                </a:solidFill>
                <a:latin typeface="Yu Mincho"/>
                <a:ea typeface="Yu Mincho"/>
              </a:rPr>
              <a:t>SECTION 08</a:t>
            </a:r>
          </a:p>
        </p:txBody>
      </p:sp>
      <p:sp>
        <p:nvSpPr>
          <p:cNvPr id="5" name="Rectangle 4"/>
          <p:cNvSpPr/>
          <p:nvPr/>
        </p:nvSpPr>
        <p:spPr>
          <a:xfrm>
            <a:off x="1078992" y="3035808"/>
            <a:ext cx="2560320" cy="9144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1051560" y="3246120"/>
            <a:ext cx="7315200" cy="1554480"/>
          </a:xfrm>
          <a:prstGeom prst="rect">
            <a:avLst/>
          </a:prstGeom>
          <a:noFill/>
          <a:effectLst/>
        </p:spPr>
        <p:txBody>
          <a:bodyPr wrap="square">
            <a:noAutofit/>
          </a:bodyPr>
          <a:lstStyle/>
          <a:p>
            <a:pPr eaLnBrk="1" hangingPunct="1">
              <a:lnSpc>
                <a:spcPct val="115000"/>
              </a:lnSpc>
            </a:pPr>
            <a:r>
              <a:rPr sz="4000" b="1" lang="ja-JP" altLang="en-US">
                <a:solidFill>
                  <a:srgbClr val="FFFFFF"/>
                </a:solidFill>
                <a:latin typeface="Yu Mincho"/>
                <a:ea typeface="Yu Mincho"/>
              </a:rPr>
              <a:t>戦略提言</a:t>
            </a:r>
          </a:p>
        </p:txBody>
      </p:sp>
      <p:sp>
        <p:nvSpPr>
          <p:cNvPr id="7" name="TextBox 6"/>
          <p:cNvSpPr txBox="1"/>
          <p:nvPr/>
        </p:nvSpPr>
        <p:spPr>
          <a:xfrm>
            <a:off x="1078992" y="4892040"/>
            <a:ext cx="6949440" cy="731520"/>
          </a:xfrm>
          <a:prstGeom prst="rect">
            <a:avLst/>
          </a:prstGeom>
          <a:noFill/>
          <a:effectLst/>
        </p:spPr>
        <p:txBody>
          <a:bodyPr wrap="square">
            <a:noAutofit/>
          </a:bodyPr>
          <a:lstStyle/>
          <a:p>
            <a:pPr eaLnBrk="1" hangingPunct="1"/>
            <a:r>
              <a:rPr sz="1500" b="0" lang="ja-JP" altLang="en-US">
                <a:solidFill>
                  <a:srgbClr val="C2C2C6"/>
                </a:solidFill>
                <a:latin typeface="Yu Mincho"/>
                <a:ea typeface="Yu Mincho"/>
              </a:rPr>
              <a:t>本母集団の構造から導く、時間軸つきの打ち手</a:t>
            </a:r>
          </a:p>
        </p:txBody>
      </p:sp>
      <p:sp>
        <p:nvSpPr>
          <p:cNvPr id="8" name="Rectangle 7"/>
          <p:cNvSpPr/>
          <p:nvPr/>
        </p:nvSpPr>
        <p:spPr>
          <a:xfrm>
            <a:off x="0" y="6492240"/>
            <a:ext cx="12188952" cy="27432"/>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22960" y="521208"/>
            <a:ext cx="365760" cy="1270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22960" y="630936"/>
            <a:ext cx="10725912" cy="841248"/>
          </a:xfrm>
          <a:prstGeom prst="rect">
            <a:avLst/>
          </a:prstGeom>
          <a:noFill/>
          <a:effectLst/>
        </p:spPr>
        <p:txBody>
          <a:bodyPr wrap="square">
            <a:noAutofit/>
          </a:bodyPr>
          <a:lstStyle/>
          <a:p>
            <a:pPr eaLnBrk="1" hangingPunct="1">
              <a:lnSpc>
                <a:spcPct val="118000"/>
              </a:lnSpc>
            </a:pPr>
            <a:r>
              <a:rPr b="1" sz="2300" lang="ja-JP" altLang="en-US">
                <a:solidFill>
                  <a:srgbClr val="111111"/>
                </a:solidFill>
                <a:latin typeface="Yu Mincho"/>
                <a:ea typeface="Yu Mincho"/>
              </a:rPr>
              <a:t>技術ロードマップ：品質安定化を起点に、素材規格と化学リサイクルへ</a:t>
            </a:r>
          </a:p>
        </p:txBody>
      </p:sp>
      <p:sp>
        <p:nvSpPr>
          <p:cNvPr id="4" name="Rectangle 3"/>
          <p:cNvSpPr/>
          <p:nvPr/>
        </p:nvSpPr>
        <p:spPr>
          <a:xfrm>
            <a:off x="822960" y="1527048"/>
            <a:ext cx="10725912" cy="822959"/>
          </a:xfrm>
          <a:prstGeom prst="rect">
            <a:avLst/>
          </a:prstGeom>
          <a:solidFill>
            <a:srgbClr val="F6F7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822960" y="1527048"/>
            <a:ext cx="36576" cy="822959"/>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60120" y="1600200"/>
            <a:ext cx="10451592" cy="676655"/>
          </a:xfrm>
          <a:prstGeom prst="rect">
            <a:avLst/>
          </a:prstGeom>
          <a:noFill/>
          <a:effectLst/>
        </p:spPr>
        <p:txBody>
          <a:bodyPr wrap="square">
            <a:noAutofit/>
          </a:bodyPr>
          <a:lstStyle/>
          <a:p>
            <a:pPr eaLnBrk="1" hangingPunct="1">
              <a:lnSpc>
                <a:spcPct val="150000"/>
              </a:lnSpc>
            </a:pPr>
            <a:r>
              <a:rPr sz="1500" b="1" lang="ja-JP" altLang="en-US">
                <a:solidFill>
                  <a:srgbClr val="C51212"/>
                </a:solidFill>
                <a:latin typeface="Century Gothic"/>
                <a:ea typeface="Yu Gothic"/>
              </a:rPr>
              <a:t>■ </a:t>
            </a:r>
            <a:r>
              <a:rPr sz="1500" lang="ja-JP" altLang="en-US">
                <a:solidFill>
                  <a:srgbClr val="111111"/>
                </a:solidFill>
                <a:latin typeface="Century Gothic"/>
                <a:ea typeface="Yu Gothic"/>
              </a:rPr>
              <a:t>短期で配合・品質のコアを固め、中期で素材規格・トレーサビリティ、長期で化学的リサイクルへ展開する。</a:t>
            </a:r>
          </a:p>
        </p:txBody>
      </p:sp>
      <p:sp>
        <p:nvSpPr>
          <p:cNvPr id="7" name="Rectangle 6"/>
          <p:cNvSpPr/>
          <p:nvPr/>
        </p:nvSpPr>
        <p:spPr>
          <a:xfrm>
            <a:off x="457200" y="2441448"/>
            <a:ext cx="2194560" cy="893064"/>
          </a:xfrm>
          <a:prstGeom prst="rect">
            <a:avLst/>
          </a:prstGeom>
          <a:solidFill>
            <a:srgbClr val="83101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548640" y="2551176"/>
            <a:ext cx="2011679" cy="710184"/>
          </a:xfrm>
          <a:prstGeom prst="rect">
            <a:avLst/>
          </a:prstGeom>
          <a:noFill/>
          <a:effectLst/>
        </p:spPr>
        <p:txBody>
          <a:bodyPr wrap="square">
            <a:spAutoFit/>
          </a:bodyPr>
          <a:lstStyle/>
          <a:p>
            <a:pPr algn="ctr" eaLnBrk="1" hangingPunct="1"/>
            <a:r>
              <a:rPr sz="1000" b="0" lang="ja-JP" altLang="en-US">
                <a:solidFill>
                  <a:srgbClr val="FFFFFF"/>
                </a:solidFill>
                <a:latin typeface="Century Gothic"/>
                <a:ea typeface="Yu Gothic"/>
              </a:rPr>
              <a:t>短期 (0–2年)</a:t>
            </a:r>
          </a:p>
          <a:p>
            <a:pPr algn="ctr" eaLnBrk="1" hangingPunct="1"/>
            <a:r>
              <a:rPr sz="1400" b="1" lang="ja-JP" altLang="en-US">
                <a:solidFill>
                  <a:srgbClr val="FFFFFF"/>
                </a:solidFill>
                <a:latin typeface="Century Gothic"/>
                <a:ea typeface="Yu Gothic"/>
              </a:rPr>
              <a:t>品質安定化のコア確保</a:t>
            </a:r>
          </a:p>
        </p:txBody>
      </p:sp>
      <p:sp>
        <p:nvSpPr>
          <p:cNvPr id="9" name="Rectangle 8"/>
          <p:cNvSpPr/>
          <p:nvPr/>
        </p:nvSpPr>
        <p:spPr>
          <a:xfrm>
            <a:off x="2743200" y="2441448"/>
            <a:ext cx="8778240" cy="893064"/>
          </a:xfrm>
          <a:prstGeom prst="rect">
            <a:avLst/>
          </a:prstGeom>
          <a:solidFill>
            <a:srgbClr val="F1F2F3"/>
          </a:solidFill>
          <a:ln w="9525">
            <a:solidFill>
              <a:srgbClr val="D8DA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2880360" y="2551176"/>
            <a:ext cx="8503919" cy="710184"/>
          </a:xfrm>
          <a:prstGeom prst="rect">
            <a:avLst/>
          </a:prstGeom>
          <a:noFill/>
          <a:effectLst/>
        </p:spPr>
        <p:txBody>
          <a:bodyPr wrap="square">
            <a:noAutofit/>
          </a:bodyPr>
          <a:lstStyle/>
          <a:p>
            <a:pPr eaLnBrk="1" hangingPunct="1">
              <a:lnSpc>
                <a:spcPct val="140000"/>
              </a:lnSpc>
            </a:pPr>
            <a:r>
              <a:rPr b="1" sz="1300" lang="ja-JP" altLang="en-US">
                <a:solidFill>
                  <a:srgbClr val="111111"/>
                </a:solidFill>
                <a:latin typeface="Century Gothic"/>
                <a:ea typeface="Yu Gothic"/>
              </a:rPr>
              <a:t>相溶化剤・異物除去・再生材判別</a:t>
            </a:r>
            <a:r>
              <a:rPr b="0" sz="1300" lang="ja-JP" altLang="en-US">
                <a:solidFill>
                  <a:srgbClr val="111111"/>
                </a:solidFill>
                <a:latin typeface="Century Gothic"/>
                <a:ea typeface="Yu Gothic"/>
              </a:rPr>
              <a:t>の出願を厚くする。環境訴求単独の出願は避け、再生材特有の物性ばらつきを抑える技術で権利を押さえる。</a:t>
            </a:r>
          </a:p>
        </p:txBody>
      </p:sp>
      <p:sp>
        <p:nvSpPr>
          <p:cNvPr id="11" name="Down Arrow 10"/>
          <p:cNvSpPr/>
          <p:nvPr/>
        </p:nvSpPr>
        <p:spPr>
          <a:xfrm>
            <a:off x="1188720" y="3352800"/>
            <a:ext cx="457200" cy="182880"/>
          </a:xfrm>
          <a:prstGeom prst="downArrow">
            <a:avLst/>
          </a:prstGeom>
          <a:solidFill>
            <a:srgbClr val="83101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57200" y="3608832"/>
            <a:ext cx="2194560" cy="893064"/>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548640" y="3718560"/>
            <a:ext cx="2011679" cy="710184"/>
          </a:xfrm>
          <a:prstGeom prst="rect">
            <a:avLst/>
          </a:prstGeom>
          <a:noFill/>
          <a:effectLst/>
        </p:spPr>
        <p:txBody>
          <a:bodyPr wrap="square">
            <a:spAutoFit/>
          </a:bodyPr>
          <a:lstStyle/>
          <a:p>
            <a:pPr algn="ctr" eaLnBrk="1" hangingPunct="1"/>
            <a:r>
              <a:rPr sz="1000" b="0" lang="ja-JP" altLang="en-US">
                <a:solidFill>
                  <a:srgbClr val="FFFFFF"/>
                </a:solidFill>
                <a:latin typeface="Century Gothic"/>
                <a:ea typeface="Yu Gothic"/>
              </a:rPr>
              <a:t>中期 (2–5年)</a:t>
            </a:r>
          </a:p>
          <a:p>
            <a:pPr algn="ctr" eaLnBrk="1" hangingPunct="1"/>
            <a:r>
              <a:rPr sz="1400" b="1" lang="ja-JP" altLang="en-US">
                <a:solidFill>
                  <a:srgbClr val="FFFFFF"/>
                </a:solidFill>
                <a:latin typeface="Century Gothic"/>
                <a:ea typeface="Yu Gothic"/>
              </a:rPr>
              <a:t>素材規格・ペレット外販</a:t>
            </a:r>
          </a:p>
        </p:txBody>
      </p:sp>
      <p:sp>
        <p:nvSpPr>
          <p:cNvPr id="14" name="Rectangle 13"/>
          <p:cNvSpPr/>
          <p:nvPr/>
        </p:nvSpPr>
        <p:spPr>
          <a:xfrm>
            <a:off x="2743200" y="3608832"/>
            <a:ext cx="8778240" cy="893064"/>
          </a:xfrm>
          <a:prstGeom prst="rect">
            <a:avLst/>
          </a:prstGeom>
          <a:solidFill>
            <a:srgbClr val="F1F2F3"/>
          </a:solidFill>
          <a:ln w="9525">
            <a:solidFill>
              <a:srgbClr val="D8DA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2880360" y="3718560"/>
            <a:ext cx="8503919" cy="710184"/>
          </a:xfrm>
          <a:prstGeom prst="rect">
            <a:avLst/>
          </a:prstGeom>
          <a:noFill/>
          <a:effectLst/>
        </p:spPr>
        <p:txBody>
          <a:bodyPr wrap="square">
            <a:noAutofit/>
          </a:bodyPr>
          <a:lstStyle/>
          <a:p>
            <a:pPr eaLnBrk="1" hangingPunct="1">
              <a:lnSpc>
                <a:spcPct val="140000"/>
              </a:lnSpc>
            </a:pPr>
            <a:r>
              <a:rPr b="1" sz="1300" lang="ja-JP" altLang="en-US">
                <a:solidFill>
                  <a:srgbClr val="111111"/>
                </a:solidFill>
                <a:latin typeface="Century Gothic"/>
                <a:ea typeface="Yu Gothic"/>
              </a:rPr>
              <a:t>ペレット形態・原料由来管理</a:t>
            </a:r>
            <a:r>
              <a:rPr b="0" sz="1300" lang="ja-JP" altLang="en-US">
                <a:solidFill>
                  <a:srgbClr val="111111"/>
                </a:solidFill>
                <a:latin typeface="Century Gothic"/>
                <a:ea typeface="Yu Gothic"/>
              </a:rPr>
              <a:t>を権利化し、最終成形体から素材規格へ重心を移す。容器包装・中空成形・フィルムなど汎用大量用途の採用獲得を狙う。</a:t>
            </a:r>
          </a:p>
        </p:txBody>
      </p:sp>
      <p:sp>
        <p:nvSpPr>
          <p:cNvPr id="16" name="Down Arrow 15"/>
          <p:cNvSpPr/>
          <p:nvPr/>
        </p:nvSpPr>
        <p:spPr>
          <a:xfrm>
            <a:off x="1188720" y="4520184"/>
            <a:ext cx="457200" cy="182880"/>
          </a:xfrm>
          <a:prstGeom prst="downArrow">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57200" y="4776216"/>
            <a:ext cx="2194560" cy="893064"/>
          </a:xfrm>
          <a:prstGeom prst="rect">
            <a:avLst/>
          </a:prstGeom>
          <a:solidFill>
            <a:srgbClr val="68686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548640" y="4885944"/>
            <a:ext cx="2011679" cy="710184"/>
          </a:xfrm>
          <a:prstGeom prst="rect">
            <a:avLst/>
          </a:prstGeom>
          <a:noFill/>
          <a:effectLst/>
        </p:spPr>
        <p:txBody>
          <a:bodyPr wrap="square">
            <a:spAutoFit/>
          </a:bodyPr>
          <a:lstStyle/>
          <a:p>
            <a:pPr algn="ctr" eaLnBrk="1" hangingPunct="1"/>
            <a:r>
              <a:rPr sz="1000" b="0" lang="ja-JP" altLang="en-US">
                <a:solidFill>
                  <a:srgbClr val="FFFFFF"/>
                </a:solidFill>
                <a:latin typeface="Century Gothic"/>
                <a:ea typeface="Yu Gothic"/>
              </a:rPr>
              <a:t>長期 (5年–)</a:t>
            </a:r>
          </a:p>
          <a:p>
            <a:pPr algn="ctr" eaLnBrk="1" hangingPunct="1"/>
            <a:r>
              <a:rPr sz="1400" b="1" lang="ja-JP" altLang="en-US">
                <a:solidFill>
                  <a:srgbClr val="FFFFFF"/>
                </a:solidFill>
                <a:latin typeface="Century Gothic"/>
                <a:ea typeface="Yu Gothic"/>
              </a:rPr>
              <a:t>化学的リサイクルへの分岐</a:t>
            </a:r>
          </a:p>
        </p:txBody>
      </p:sp>
      <p:sp>
        <p:nvSpPr>
          <p:cNvPr id="19" name="Rectangle 18"/>
          <p:cNvSpPr/>
          <p:nvPr/>
        </p:nvSpPr>
        <p:spPr>
          <a:xfrm>
            <a:off x="2743200" y="4776216"/>
            <a:ext cx="8778240" cy="893064"/>
          </a:xfrm>
          <a:prstGeom prst="rect">
            <a:avLst/>
          </a:prstGeom>
          <a:solidFill>
            <a:srgbClr val="F1F2F3"/>
          </a:solidFill>
          <a:ln w="9525">
            <a:solidFill>
              <a:srgbClr val="D8DA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2880360" y="4885944"/>
            <a:ext cx="8503919" cy="710184"/>
          </a:xfrm>
          <a:prstGeom prst="rect">
            <a:avLst/>
          </a:prstGeom>
          <a:noFill/>
          <a:effectLst/>
        </p:spPr>
        <p:txBody>
          <a:bodyPr wrap="square">
            <a:noAutofit/>
          </a:bodyPr>
          <a:lstStyle/>
          <a:p>
            <a:pPr eaLnBrk="1" hangingPunct="1">
              <a:lnSpc>
                <a:spcPct val="140000"/>
              </a:lnSpc>
            </a:pPr>
            <a:r>
              <a:rPr b="1" sz="1300" lang="ja-JP" altLang="en-US">
                <a:solidFill>
                  <a:srgbClr val="111111"/>
                </a:solidFill>
                <a:latin typeface="Century Gothic"/>
                <a:ea typeface="Yu Gothic"/>
              </a:rPr>
              <a:t>解重合など化学的リサイクル</a:t>
            </a:r>
            <a:r>
              <a:rPr b="0" sz="1300" lang="ja-JP" altLang="en-US">
                <a:solidFill>
                  <a:srgbClr val="111111"/>
                </a:solidFill>
                <a:latin typeface="Century Gothic"/>
                <a:ea typeface="Yu Gothic"/>
              </a:rPr>
              <a:t>に布石を打ち、不純物問題を根本から回避する次世代経路を確保。東レの先行に追随しつつ差別化点を作る。</a:t>
            </a:r>
          </a:p>
        </p:txBody>
      </p:sp>
      <p:sp>
        <p:nvSpPr>
          <p:cNvPr id="21" name="TextBox 20"/>
          <p:cNvSpPr txBox="1"/>
          <p:nvPr/>
        </p:nvSpPr>
        <p:spPr>
          <a:xfrm>
            <a:off x="457200" y="6053328"/>
            <a:ext cx="11247120" cy="320040"/>
          </a:xfrm>
          <a:prstGeom prst="rect">
            <a:avLst/>
          </a:prstGeom>
          <a:noFill/>
          <a:effectLst/>
        </p:spPr>
        <p:txBody>
          <a:bodyPr wrap="square">
            <a:noAutofit/>
          </a:bodyPr>
          <a:lstStyle/>
          <a:p>
            <a:pPr eaLnBrk="1" hangingPunct="1"/>
            <a:r>
              <a:rPr sz="900" b="0" lang="ja-JP" altLang="en-US">
                <a:solidFill>
                  <a:srgbClr val="686868"/>
                </a:solidFill>
                <a:latin typeface="Century Gothic"/>
                <a:ea typeface="Yu Gothic"/>
              </a:rPr>
              <a:t>（出所）特許データベース Cyber patent desc（2026-06-14）</a:t>
            </a:r>
          </a:p>
        </p:txBody>
      </p:sp>
      <p:sp>
        <p:nvSpPr>
          <p:cNvPr id="22" name="TextBox 21"/>
          <p:cNvSpPr txBox="1"/>
          <p:nvPr/>
        </p:nvSpPr>
        <p:spPr>
          <a:xfrm>
            <a:off x="11384280" y="6419088"/>
            <a:ext cx="502920" cy="228600"/>
          </a:xfrm>
          <a:prstGeom prst="rect">
            <a:avLst/>
          </a:prstGeom>
          <a:noFill/>
          <a:effectLst/>
        </p:spPr>
        <p:txBody>
          <a:bodyPr wrap="none">
            <a:spAutoFit/>
          </a:bodyPr>
          <a:lstStyle/>
          <a:p>
            <a:pPr eaLnBrk="1" hangingPunct="1" algn="r"/>
            <a:r>
              <a:rPr sz="1000" b="0" lang="ja-JP" altLang="en-US">
                <a:solidFill>
                  <a:srgbClr val="686868"/>
                </a:solidFill>
                <a:latin typeface="Century Gothic"/>
                <a:ea typeface="Yu Gothic"/>
              </a:rPr>
              <a:t>34</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22960" y="521208"/>
            <a:ext cx="365760" cy="1270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22960" y="630936"/>
            <a:ext cx="10725912" cy="841248"/>
          </a:xfrm>
          <a:prstGeom prst="rect">
            <a:avLst/>
          </a:prstGeom>
          <a:noFill/>
          <a:effectLst/>
        </p:spPr>
        <p:txBody>
          <a:bodyPr wrap="square">
            <a:noAutofit/>
          </a:bodyPr>
          <a:lstStyle/>
          <a:p>
            <a:pPr eaLnBrk="1" hangingPunct="1">
              <a:lnSpc>
                <a:spcPct val="118000"/>
              </a:lnSpc>
            </a:pPr>
            <a:r>
              <a:rPr b="1" sz="2300" lang="ja-JP" altLang="en-US">
                <a:solidFill>
                  <a:srgbClr val="111111"/>
                </a:solidFill>
                <a:latin typeface="Yu Mincho"/>
                <a:ea typeface="Yu Mincho"/>
              </a:rPr>
              <a:t>推奨アクション ～『現役の競合』を見て、品質安定化に資源を集中</a:t>
            </a:r>
          </a:p>
        </p:txBody>
      </p:sp>
      <p:sp>
        <p:nvSpPr>
          <p:cNvPr id="4" name="Rectangle 3"/>
          <p:cNvSpPr/>
          <p:nvPr/>
        </p:nvSpPr>
        <p:spPr>
          <a:xfrm>
            <a:off x="822960" y="1527048"/>
            <a:ext cx="10725912" cy="822959"/>
          </a:xfrm>
          <a:prstGeom prst="rect">
            <a:avLst/>
          </a:prstGeom>
          <a:solidFill>
            <a:srgbClr val="F6F7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822960" y="1527048"/>
            <a:ext cx="36576" cy="822959"/>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60120" y="1600200"/>
            <a:ext cx="10451592" cy="676655"/>
          </a:xfrm>
          <a:prstGeom prst="rect">
            <a:avLst/>
          </a:prstGeom>
          <a:noFill/>
          <a:effectLst/>
        </p:spPr>
        <p:txBody>
          <a:bodyPr wrap="square">
            <a:noAutofit/>
          </a:bodyPr>
          <a:lstStyle/>
          <a:p>
            <a:pPr eaLnBrk="1" hangingPunct="1">
              <a:lnSpc>
                <a:spcPct val="150000"/>
              </a:lnSpc>
            </a:pPr>
            <a:r>
              <a:rPr sz="1500" b="1" lang="ja-JP" altLang="en-US">
                <a:solidFill>
                  <a:srgbClr val="C51212"/>
                </a:solidFill>
                <a:latin typeface="Century Gothic"/>
                <a:ea typeface="Yu Gothic"/>
              </a:rPr>
              <a:t>■ </a:t>
            </a:r>
            <a:r>
              <a:rPr sz="1500" lang="ja-JP" altLang="en-US">
                <a:solidFill>
                  <a:srgbClr val="111111"/>
                </a:solidFill>
                <a:latin typeface="Century Gothic"/>
                <a:ea typeface="Yu Gothic"/>
              </a:rPr>
              <a:t>件数ランキングでなく直近活動量で競合を評価し、品質安定化と素材規格に投資を寄せる。</a:t>
            </a:r>
          </a:p>
        </p:txBody>
      </p:sp>
      <p:sp>
        <p:nvSpPr>
          <p:cNvPr id="7" name="Rectangle 6"/>
          <p:cNvSpPr/>
          <p:nvPr/>
        </p:nvSpPr>
        <p:spPr>
          <a:xfrm>
            <a:off x="457200" y="2441448"/>
            <a:ext cx="54864" cy="59436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731520" y="2441448"/>
            <a:ext cx="10972800" cy="594360"/>
          </a:xfrm>
          <a:prstGeom prst="rect">
            <a:avLst/>
          </a:prstGeom>
          <a:solidFill>
            <a:srgbClr val="F1F2F3"/>
          </a:solidFill>
          <a:ln w="9525">
            <a:solidFill>
              <a:srgbClr val="D8DA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14400" y="2532888"/>
            <a:ext cx="914400" cy="274320"/>
          </a:xfrm>
          <a:prstGeom prst="rect">
            <a:avLst/>
          </a:prstGeom>
          <a:noFill/>
          <a:effectLst/>
        </p:spPr>
        <p:txBody>
          <a:bodyPr wrap="none">
            <a:spAutoFit/>
          </a:bodyPr>
          <a:lstStyle/>
          <a:p>
            <a:pPr eaLnBrk="1" hangingPunct="1"/>
            <a:r>
              <a:rPr sz="1000" b="1" lang="ja-JP" altLang="en-US">
                <a:solidFill>
                  <a:srgbClr val="C51212"/>
                </a:solidFill>
                <a:latin typeface="Century Gothic"/>
                <a:ea typeface="Yu Gothic"/>
              </a:rPr>
              <a:t>[高]</a:t>
            </a:r>
          </a:p>
        </p:txBody>
      </p:sp>
      <p:sp>
        <p:nvSpPr>
          <p:cNvPr id="10" name="TextBox 9"/>
          <p:cNvSpPr txBox="1"/>
          <p:nvPr/>
        </p:nvSpPr>
        <p:spPr>
          <a:xfrm>
            <a:off x="1828800" y="2532888"/>
            <a:ext cx="5943600" cy="274320"/>
          </a:xfrm>
          <a:prstGeom prst="rect">
            <a:avLst/>
          </a:prstGeom>
          <a:noFill/>
          <a:effectLst/>
        </p:spPr>
        <p:txBody>
          <a:bodyPr wrap="none">
            <a:spAutoFit/>
          </a:bodyPr>
          <a:lstStyle/>
          <a:p>
            <a:pPr eaLnBrk="1" hangingPunct="1"/>
            <a:r>
              <a:rPr sz="1600" b="1" lang="ja-JP" altLang="en-US">
                <a:solidFill>
                  <a:srgbClr val="111111"/>
                </a:solidFill>
                <a:latin typeface="Century Gothic"/>
                <a:ea typeface="Yu Gothic"/>
              </a:rPr>
              <a:t>競合監視を現役性ベースへ切替</a:t>
            </a:r>
          </a:p>
        </p:txBody>
      </p:sp>
      <p:sp>
        <p:nvSpPr>
          <p:cNvPr id="11" name="TextBox 10"/>
          <p:cNvSpPr txBox="1"/>
          <p:nvPr/>
        </p:nvSpPr>
        <p:spPr>
          <a:xfrm>
            <a:off x="8229600" y="2532888"/>
            <a:ext cx="3200400" cy="274320"/>
          </a:xfrm>
          <a:prstGeom prst="rect">
            <a:avLst/>
          </a:prstGeom>
          <a:noFill/>
          <a:effectLst/>
        </p:spPr>
        <p:txBody>
          <a:bodyPr wrap="none">
            <a:spAutoFit/>
          </a:bodyPr>
          <a:lstStyle/>
          <a:p>
            <a:pPr eaLnBrk="1" hangingPunct="1" algn="r"/>
            <a:r>
              <a:rPr sz="1300" b="0" lang="ja-JP" altLang="en-US">
                <a:solidFill>
                  <a:srgbClr val="686868"/>
                </a:solidFill>
                <a:latin typeface="Century Gothic"/>
                <a:ea typeface="Yu Gothic"/>
              </a:rPr>
              <a:t>即時</a:t>
            </a:r>
          </a:p>
        </p:txBody>
      </p:sp>
      <p:sp>
        <p:nvSpPr>
          <p:cNvPr id="12" name="TextBox 11"/>
          <p:cNvSpPr txBox="1"/>
          <p:nvPr/>
        </p:nvSpPr>
        <p:spPr>
          <a:xfrm>
            <a:off x="1828800" y="2862072"/>
            <a:ext cx="9601200" cy="118872"/>
          </a:xfrm>
          <a:prstGeom prst="rect">
            <a:avLst/>
          </a:prstGeom>
          <a:noFill/>
          <a:effectLst/>
        </p:spPr>
        <p:txBody>
          <a:bodyPr wrap="square">
            <a:noAutofit/>
          </a:bodyPr>
          <a:lstStyle/>
          <a:p>
            <a:pPr eaLnBrk="1" hangingPunct="1">
              <a:lnSpc>
                <a:spcPct val="140000"/>
              </a:lnSpc>
            </a:pPr>
            <a:r>
              <a:rPr b="0" sz="1200" lang="ja-JP" altLang="en-US">
                <a:solidFill>
                  <a:srgbClr val="111111"/>
                </a:solidFill>
                <a:latin typeface="Century Gothic"/>
                <a:ea typeface="Yu Gothic"/>
              </a:rPr>
              <a:t>東レ（継続）・東ソー・LG・旭化成・住友を重点監視対象に。休眠の帝人化成等は権利満了の空き枠としてウォッチ。</a:t>
            </a:r>
          </a:p>
        </p:txBody>
      </p:sp>
      <p:sp>
        <p:nvSpPr>
          <p:cNvPr id="13" name="Rectangle 12"/>
          <p:cNvSpPr/>
          <p:nvPr/>
        </p:nvSpPr>
        <p:spPr>
          <a:xfrm>
            <a:off x="457200" y="3145536"/>
            <a:ext cx="54864" cy="59436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731520" y="3145536"/>
            <a:ext cx="10972800" cy="594360"/>
          </a:xfrm>
          <a:prstGeom prst="rect">
            <a:avLst/>
          </a:prstGeom>
          <a:solidFill>
            <a:srgbClr val="F1F2F3"/>
          </a:solidFill>
          <a:ln w="9525">
            <a:solidFill>
              <a:srgbClr val="D8DA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914400" y="3236976"/>
            <a:ext cx="914400" cy="274320"/>
          </a:xfrm>
          <a:prstGeom prst="rect">
            <a:avLst/>
          </a:prstGeom>
          <a:noFill/>
          <a:effectLst/>
        </p:spPr>
        <p:txBody>
          <a:bodyPr wrap="none">
            <a:spAutoFit/>
          </a:bodyPr>
          <a:lstStyle/>
          <a:p>
            <a:pPr eaLnBrk="1" hangingPunct="1"/>
            <a:r>
              <a:rPr sz="1000" b="1" lang="ja-JP" altLang="en-US">
                <a:solidFill>
                  <a:srgbClr val="C51212"/>
                </a:solidFill>
                <a:latin typeface="Century Gothic"/>
                <a:ea typeface="Yu Gothic"/>
              </a:rPr>
              <a:t>[高]</a:t>
            </a:r>
          </a:p>
        </p:txBody>
      </p:sp>
      <p:sp>
        <p:nvSpPr>
          <p:cNvPr id="16" name="TextBox 15"/>
          <p:cNvSpPr txBox="1"/>
          <p:nvPr/>
        </p:nvSpPr>
        <p:spPr>
          <a:xfrm>
            <a:off x="1828800" y="3236976"/>
            <a:ext cx="5943600" cy="274320"/>
          </a:xfrm>
          <a:prstGeom prst="rect">
            <a:avLst/>
          </a:prstGeom>
          <a:noFill/>
          <a:effectLst/>
        </p:spPr>
        <p:txBody>
          <a:bodyPr wrap="none">
            <a:spAutoFit/>
          </a:bodyPr>
          <a:lstStyle/>
          <a:p>
            <a:pPr eaLnBrk="1" hangingPunct="1"/>
            <a:r>
              <a:rPr sz="1600" b="1" lang="ja-JP" altLang="en-US">
                <a:solidFill>
                  <a:srgbClr val="111111"/>
                </a:solidFill>
                <a:latin typeface="Century Gothic"/>
                <a:ea typeface="Yu Gothic"/>
              </a:rPr>
              <a:t>品質安定化コア技術の出願強化</a:t>
            </a:r>
          </a:p>
        </p:txBody>
      </p:sp>
      <p:sp>
        <p:nvSpPr>
          <p:cNvPr id="17" name="TextBox 16"/>
          <p:cNvSpPr txBox="1"/>
          <p:nvPr/>
        </p:nvSpPr>
        <p:spPr>
          <a:xfrm>
            <a:off x="8229600" y="3236976"/>
            <a:ext cx="3200400" cy="274320"/>
          </a:xfrm>
          <a:prstGeom prst="rect">
            <a:avLst/>
          </a:prstGeom>
          <a:noFill/>
          <a:effectLst/>
        </p:spPr>
        <p:txBody>
          <a:bodyPr wrap="none">
            <a:spAutoFit/>
          </a:bodyPr>
          <a:lstStyle/>
          <a:p>
            <a:pPr eaLnBrk="1" hangingPunct="1" algn="r"/>
            <a:r>
              <a:rPr sz="1300" b="0" lang="ja-JP" altLang="en-US">
                <a:solidFill>
                  <a:srgbClr val="686868"/>
                </a:solidFill>
                <a:latin typeface="Century Gothic"/>
                <a:ea typeface="Yu Gothic"/>
              </a:rPr>
              <a:t>短期</a:t>
            </a:r>
          </a:p>
        </p:txBody>
      </p:sp>
      <p:sp>
        <p:nvSpPr>
          <p:cNvPr id="18" name="TextBox 17"/>
          <p:cNvSpPr txBox="1"/>
          <p:nvPr/>
        </p:nvSpPr>
        <p:spPr>
          <a:xfrm>
            <a:off x="1828800" y="3566160"/>
            <a:ext cx="9601200" cy="118872"/>
          </a:xfrm>
          <a:prstGeom prst="rect">
            <a:avLst/>
          </a:prstGeom>
          <a:noFill/>
          <a:effectLst/>
        </p:spPr>
        <p:txBody>
          <a:bodyPr wrap="square">
            <a:noAutofit/>
          </a:bodyPr>
          <a:lstStyle/>
          <a:p>
            <a:pPr eaLnBrk="1" hangingPunct="1">
              <a:lnSpc>
                <a:spcPct val="140000"/>
              </a:lnSpc>
            </a:pPr>
            <a:r>
              <a:rPr b="0" sz="1200" lang="ja-JP" altLang="en-US">
                <a:solidFill>
                  <a:srgbClr val="111111"/>
                </a:solidFill>
                <a:latin typeface="Century Gothic"/>
                <a:ea typeface="Yu Gothic"/>
              </a:rPr>
              <a:t>相溶化剤・異物除去・再生材判別・配合設計を集中出願。環境訴求のみの出願は差別化にならない。</a:t>
            </a:r>
          </a:p>
        </p:txBody>
      </p:sp>
      <p:sp>
        <p:nvSpPr>
          <p:cNvPr id="19" name="Rectangle 18"/>
          <p:cNvSpPr/>
          <p:nvPr/>
        </p:nvSpPr>
        <p:spPr>
          <a:xfrm>
            <a:off x="457200" y="3849624"/>
            <a:ext cx="54864" cy="594360"/>
          </a:xfrm>
          <a:prstGeom prst="rect">
            <a:avLst/>
          </a:prstGeom>
          <a:solidFill>
            <a:srgbClr val="68686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731520" y="3849624"/>
            <a:ext cx="10972800" cy="594360"/>
          </a:xfrm>
          <a:prstGeom prst="rect">
            <a:avLst/>
          </a:prstGeom>
          <a:solidFill>
            <a:srgbClr val="F1F2F3"/>
          </a:solidFill>
          <a:ln w="9525">
            <a:solidFill>
              <a:srgbClr val="D8DA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914400" y="3941064"/>
            <a:ext cx="914400" cy="274320"/>
          </a:xfrm>
          <a:prstGeom prst="rect">
            <a:avLst/>
          </a:prstGeom>
          <a:noFill/>
          <a:effectLst/>
        </p:spPr>
        <p:txBody>
          <a:bodyPr wrap="none">
            <a:spAutoFit/>
          </a:bodyPr>
          <a:lstStyle/>
          <a:p>
            <a:pPr eaLnBrk="1" hangingPunct="1"/>
            <a:r>
              <a:rPr sz="1000" b="1" lang="ja-JP" altLang="en-US">
                <a:solidFill>
                  <a:srgbClr val="686868"/>
                </a:solidFill>
                <a:latin typeface="Century Gothic"/>
                <a:ea typeface="Yu Gothic"/>
              </a:rPr>
              <a:t>[中]</a:t>
            </a:r>
          </a:p>
        </p:txBody>
      </p:sp>
      <p:sp>
        <p:nvSpPr>
          <p:cNvPr id="22" name="TextBox 21"/>
          <p:cNvSpPr txBox="1"/>
          <p:nvPr/>
        </p:nvSpPr>
        <p:spPr>
          <a:xfrm>
            <a:off x="1828800" y="3941064"/>
            <a:ext cx="5943600" cy="274320"/>
          </a:xfrm>
          <a:prstGeom prst="rect">
            <a:avLst/>
          </a:prstGeom>
          <a:noFill/>
          <a:effectLst/>
        </p:spPr>
        <p:txBody>
          <a:bodyPr wrap="none">
            <a:spAutoFit/>
          </a:bodyPr>
          <a:lstStyle/>
          <a:p>
            <a:pPr eaLnBrk="1" hangingPunct="1"/>
            <a:r>
              <a:rPr sz="1600" b="1" lang="ja-JP" altLang="en-US">
                <a:solidFill>
                  <a:srgbClr val="111111"/>
                </a:solidFill>
                <a:latin typeface="Century Gothic"/>
                <a:ea typeface="Yu Gothic"/>
              </a:rPr>
              <a:t>ペレット・原料規格の権利化</a:t>
            </a:r>
          </a:p>
        </p:txBody>
      </p:sp>
      <p:sp>
        <p:nvSpPr>
          <p:cNvPr id="23" name="TextBox 22"/>
          <p:cNvSpPr txBox="1"/>
          <p:nvPr/>
        </p:nvSpPr>
        <p:spPr>
          <a:xfrm>
            <a:off x="8229600" y="3941064"/>
            <a:ext cx="3200400" cy="274320"/>
          </a:xfrm>
          <a:prstGeom prst="rect">
            <a:avLst/>
          </a:prstGeom>
          <a:noFill/>
          <a:effectLst/>
        </p:spPr>
        <p:txBody>
          <a:bodyPr wrap="none">
            <a:spAutoFit/>
          </a:bodyPr>
          <a:lstStyle/>
          <a:p>
            <a:pPr eaLnBrk="1" hangingPunct="1" algn="r"/>
            <a:r>
              <a:rPr sz="1300" b="0" lang="ja-JP" altLang="en-US">
                <a:solidFill>
                  <a:srgbClr val="686868"/>
                </a:solidFill>
                <a:latin typeface="Century Gothic"/>
                <a:ea typeface="Yu Gothic"/>
              </a:rPr>
              <a:t>中期</a:t>
            </a:r>
          </a:p>
        </p:txBody>
      </p:sp>
      <p:sp>
        <p:nvSpPr>
          <p:cNvPr id="24" name="TextBox 23"/>
          <p:cNvSpPr txBox="1"/>
          <p:nvPr/>
        </p:nvSpPr>
        <p:spPr>
          <a:xfrm>
            <a:off x="1828800" y="4270248"/>
            <a:ext cx="9601200" cy="118872"/>
          </a:xfrm>
          <a:prstGeom prst="rect">
            <a:avLst/>
          </a:prstGeom>
          <a:noFill/>
          <a:effectLst/>
        </p:spPr>
        <p:txBody>
          <a:bodyPr wrap="square">
            <a:noAutofit/>
          </a:bodyPr>
          <a:lstStyle/>
          <a:p>
            <a:pPr eaLnBrk="1" hangingPunct="1">
              <a:lnSpc>
                <a:spcPct val="140000"/>
              </a:lnSpc>
            </a:pPr>
            <a:r>
              <a:rPr b="0" sz="1200" lang="ja-JP" altLang="en-US">
                <a:solidFill>
                  <a:srgbClr val="111111"/>
                </a:solidFill>
                <a:latin typeface="Century Gothic"/>
                <a:ea typeface="Yu Gothic"/>
              </a:rPr>
              <a:t>『ペレット』『由来』語彙の台頭を踏まえ、素材外販を前提にペレット形態・トレーサビリティを押さえる。</a:t>
            </a:r>
          </a:p>
        </p:txBody>
      </p:sp>
      <p:sp>
        <p:nvSpPr>
          <p:cNvPr id="25" name="Rectangle 24"/>
          <p:cNvSpPr/>
          <p:nvPr/>
        </p:nvSpPr>
        <p:spPr>
          <a:xfrm>
            <a:off x="457200" y="4553712"/>
            <a:ext cx="54864" cy="594360"/>
          </a:xfrm>
          <a:prstGeom prst="rect">
            <a:avLst/>
          </a:prstGeom>
          <a:solidFill>
            <a:srgbClr val="68686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ectangle 25"/>
          <p:cNvSpPr/>
          <p:nvPr/>
        </p:nvSpPr>
        <p:spPr>
          <a:xfrm>
            <a:off x="731520" y="4553712"/>
            <a:ext cx="10972800" cy="594360"/>
          </a:xfrm>
          <a:prstGeom prst="rect">
            <a:avLst/>
          </a:prstGeom>
          <a:solidFill>
            <a:srgbClr val="F1F2F3"/>
          </a:solidFill>
          <a:ln w="9525">
            <a:solidFill>
              <a:srgbClr val="D8DA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914400" y="4645152"/>
            <a:ext cx="914400" cy="274320"/>
          </a:xfrm>
          <a:prstGeom prst="rect">
            <a:avLst/>
          </a:prstGeom>
          <a:noFill/>
          <a:effectLst/>
        </p:spPr>
        <p:txBody>
          <a:bodyPr wrap="none">
            <a:spAutoFit/>
          </a:bodyPr>
          <a:lstStyle/>
          <a:p>
            <a:pPr eaLnBrk="1" hangingPunct="1"/>
            <a:r>
              <a:rPr sz="1000" b="1" lang="ja-JP" altLang="en-US">
                <a:solidFill>
                  <a:srgbClr val="686868"/>
                </a:solidFill>
                <a:latin typeface="Century Gothic"/>
                <a:ea typeface="Yu Gothic"/>
              </a:rPr>
              <a:t>[中]</a:t>
            </a:r>
          </a:p>
        </p:txBody>
      </p:sp>
      <p:sp>
        <p:nvSpPr>
          <p:cNvPr id="28" name="TextBox 27"/>
          <p:cNvSpPr txBox="1"/>
          <p:nvPr/>
        </p:nvSpPr>
        <p:spPr>
          <a:xfrm>
            <a:off x="1828800" y="4645152"/>
            <a:ext cx="5943600" cy="274320"/>
          </a:xfrm>
          <a:prstGeom prst="rect">
            <a:avLst/>
          </a:prstGeom>
          <a:noFill/>
          <a:effectLst/>
        </p:spPr>
        <p:txBody>
          <a:bodyPr wrap="none">
            <a:spAutoFit/>
          </a:bodyPr>
          <a:lstStyle/>
          <a:p>
            <a:pPr eaLnBrk="1" hangingPunct="1"/>
            <a:r>
              <a:rPr sz="1600" b="1" lang="ja-JP" altLang="en-US">
                <a:solidFill>
                  <a:srgbClr val="111111"/>
                </a:solidFill>
                <a:latin typeface="Century Gothic"/>
                <a:ea typeface="Yu Gothic"/>
              </a:rPr>
              <a:t>化学的リサイクルへの布石</a:t>
            </a:r>
          </a:p>
        </p:txBody>
      </p:sp>
      <p:sp>
        <p:nvSpPr>
          <p:cNvPr id="29" name="TextBox 28"/>
          <p:cNvSpPr txBox="1"/>
          <p:nvPr/>
        </p:nvSpPr>
        <p:spPr>
          <a:xfrm>
            <a:off x="8229600" y="4645152"/>
            <a:ext cx="3200400" cy="274320"/>
          </a:xfrm>
          <a:prstGeom prst="rect">
            <a:avLst/>
          </a:prstGeom>
          <a:noFill/>
          <a:effectLst/>
        </p:spPr>
        <p:txBody>
          <a:bodyPr wrap="none">
            <a:spAutoFit/>
          </a:bodyPr>
          <a:lstStyle/>
          <a:p>
            <a:pPr eaLnBrk="1" hangingPunct="1" algn="r"/>
            <a:r>
              <a:rPr sz="1300" b="0" lang="ja-JP" altLang="en-US">
                <a:solidFill>
                  <a:srgbClr val="686868"/>
                </a:solidFill>
                <a:latin typeface="Century Gothic"/>
                <a:ea typeface="Yu Gothic"/>
              </a:rPr>
              <a:t>長期</a:t>
            </a:r>
          </a:p>
        </p:txBody>
      </p:sp>
      <p:sp>
        <p:nvSpPr>
          <p:cNvPr id="30" name="TextBox 29"/>
          <p:cNvSpPr txBox="1"/>
          <p:nvPr/>
        </p:nvSpPr>
        <p:spPr>
          <a:xfrm>
            <a:off x="1828800" y="4974336"/>
            <a:ext cx="9601200" cy="118872"/>
          </a:xfrm>
          <a:prstGeom prst="rect">
            <a:avLst/>
          </a:prstGeom>
          <a:noFill/>
          <a:effectLst/>
        </p:spPr>
        <p:txBody>
          <a:bodyPr wrap="square">
            <a:noAutofit/>
          </a:bodyPr>
          <a:lstStyle/>
          <a:p>
            <a:pPr eaLnBrk="1" hangingPunct="1">
              <a:lnSpc>
                <a:spcPct val="140000"/>
              </a:lnSpc>
            </a:pPr>
            <a:r>
              <a:rPr b="0" sz="1200" lang="ja-JP" altLang="en-US">
                <a:solidFill>
                  <a:srgbClr val="111111"/>
                </a:solidFill>
                <a:latin typeface="Century Gothic"/>
                <a:ea typeface="Yu Gothic"/>
              </a:rPr>
              <a:t>解重合・解重合触媒など次世代経路にR&amp;D予算を確保。萌芽段階だが先行者の権利集中前に参入余地を確保。</a:t>
            </a:r>
          </a:p>
        </p:txBody>
      </p:sp>
      <p:sp>
        <p:nvSpPr>
          <p:cNvPr id="31" name="Rectangle 30"/>
          <p:cNvSpPr/>
          <p:nvPr/>
        </p:nvSpPr>
        <p:spPr>
          <a:xfrm>
            <a:off x="457200" y="5257800"/>
            <a:ext cx="54864" cy="594360"/>
          </a:xfrm>
          <a:prstGeom prst="rect">
            <a:avLst/>
          </a:prstGeom>
          <a:solidFill>
            <a:srgbClr val="11111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ectangle 31"/>
          <p:cNvSpPr/>
          <p:nvPr/>
        </p:nvSpPr>
        <p:spPr>
          <a:xfrm>
            <a:off x="731520" y="5257800"/>
            <a:ext cx="10972800" cy="594360"/>
          </a:xfrm>
          <a:prstGeom prst="rect">
            <a:avLst/>
          </a:prstGeom>
          <a:solidFill>
            <a:srgbClr val="F1F2F3"/>
          </a:solidFill>
          <a:ln w="9525">
            <a:solidFill>
              <a:srgbClr val="D8DA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914400" y="5349240"/>
            <a:ext cx="914400" cy="274320"/>
          </a:xfrm>
          <a:prstGeom prst="rect">
            <a:avLst/>
          </a:prstGeom>
          <a:noFill/>
          <a:effectLst/>
        </p:spPr>
        <p:txBody>
          <a:bodyPr wrap="none">
            <a:spAutoFit/>
          </a:bodyPr>
          <a:lstStyle/>
          <a:p>
            <a:pPr eaLnBrk="1" hangingPunct="1"/>
            <a:r>
              <a:rPr sz="1000" b="1" lang="ja-JP" altLang="en-US">
                <a:solidFill>
                  <a:srgbClr val="111111"/>
                </a:solidFill>
                <a:latin typeface="Century Gothic"/>
                <a:ea typeface="Yu Gothic"/>
              </a:rPr>
              <a:t>[低]</a:t>
            </a:r>
          </a:p>
        </p:txBody>
      </p:sp>
      <p:sp>
        <p:nvSpPr>
          <p:cNvPr id="34" name="TextBox 33"/>
          <p:cNvSpPr txBox="1"/>
          <p:nvPr/>
        </p:nvSpPr>
        <p:spPr>
          <a:xfrm>
            <a:off x="1828800" y="5349240"/>
            <a:ext cx="5943600" cy="274320"/>
          </a:xfrm>
          <a:prstGeom prst="rect">
            <a:avLst/>
          </a:prstGeom>
          <a:noFill/>
          <a:effectLst/>
        </p:spPr>
        <p:txBody>
          <a:bodyPr wrap="none">
            <a:spAutoFit/>
          </a:bodyPr>
          <a:lstStyle/>
          <a:p>
            <a:pPr eaLnBrk="1" hangingPunct="1"/>
            <a:r>
              <a:rPr sz="1600" b="1" lang="ja-JP" altLang="en-US">
                <a:solidFill>
                  <a:srgbClr val="111111"/>
                </a:solidFill>
                <a:latin typeface="Century Gothic"/>
                <a:ea typeface="Yu Gothic"/>
              </a:rPr>
              <a:t>外縁応用（舗装・建材等）の探索</a:t>
            </a:r>
          </a:p>
        </p:txBody>
      </p:sp>
      <p:sp>
        <p:nvSpPr>
          <p:cNvPr id="35" name="TextBox 34"/>
          <p:cNvSpPr txBox="1"/>
          <p:nvPr/>
        </p:nvSpPr>
        <p:spPr>
          <a:xfrm>
            <a:off x="8229600" y="5349240"/>
            <a:ext cx="3200400" cy="274320"/>
          </a:xfrm>
          <a:prstGeom prst="rect">
            <a:avLst/>
          </a:prstGeom>
          <a:noFill/>
          <a:effectLst/>
        </p:spPr>
        <p:txBody>
          <a:bodyPr wrap="none">
            <a:spAutoFit/>
          </a:bodyPr>
          <a:lstStyle/>
          <a:p>
            <a:pPr eaLnBrk="1" hangingPunct="1" algn="r"/>
            <a:r>
              <a:rPr sz="1300" b="0" lang="ja-JP" altLang="en-US">
                <a:solidFill>
                  <a:srgbClr val="686868"/>
                </a:solidFill>
                <a:latin typeface="Century Gothic"/>
                <a:ea typeface="Yu Gothic"/>
              </a:rPr>
              <a:t>継続</a:t>
            </a:r>
          </a:p>
        </p:txBody>
      </p:sp>
      <p:sp>
        <p:nvSpPr>
          <p:cNvPr id="36" name="TextBox 35"/>
          <p:cNvSpPr txBox="1"/>
          <p:nvPr/>
        </p:nvSpPr>
        <p:spPr>
          <a:xfrm>
            <a:off x="1828800" y="5678424"/>
            <a:ext cx="9601200" cy="118872"/>
          </a:xfrm>
          <a:prstGeom prst="rect">
            <a:avLst/>
          </a:prstGeom>
          <a:noFill/>
          <a:effectLst/>
        </p:spPr>
        <p:txBody>
          <a:bodyPr wrap="square">
            <a:noAutofit/>
          </a:bodyPr>
          <a:lstStyle/>
          <a:p>
            <a:pPr eaLnBrk="1" hangingPunct="1">
              <a:lnSpc>
                <a:spcPct val="140000"/>
              </a:lnSpc>
            </a:pPr>
            <a:r>
              <a:rPr b="0" sz="1200" lang="ja-JP" altLang="en-US">
                <a:solidFill>
                  <a:srgbClr val="111111"/>
                </a:solidFill>
                <a:latin typeface="Century Gothic"/>
                <a:ea typeface="Yu Gothic"/>
              </a:rPr>
              <a:t>特殊化学品・繊維等の外縁テーマは件数は小さいが応用フロンティア。低コストで種まきし、伸長シグナルを監視。</a:t>
            </a:r>
          </a:p>
        </p:txBody>
      </p:sp>
      <p:sp>
        <p:nvSpPr>
          <p:cNvPr id="37" name="TextBox 36"/>
          <p:cNvSpPr txBox="1"/>
          <p:nvPr/>
        </p:nvSpPr>
        <p:spPr>
          <a:xfrm>
            <a:off x="457200" y="6053328"/>
            <a:ext cx="11247120" cy="320040"/>
          </a:xfrm>
          <a:prstGeom prst="rect">
            <a:avLst/>
          </a:prstGeom>
          <a:noFill/>
          <a:effectLst/>
        </p:spPr>
        <p:txBody>
          <a:bodyPr wrap="square">
            <a:noAutofit/>
          </a:bodyPr>
          <a:lstStyle/>
          <a:p>
            <a:pPr eaLnBrk="1" hangingPunct="1"/>
            <a:r>
              <a:rPr sz="900" b="0" lang="ja-JP" altLang="en-US">
                <a:solidFill>
                  <a:srgbClr val="686868"/>
                </a:solidFill>
                <a:latin typeface="Century Gothic"/>
                <a:ea typeface="Yu Gothic"/>
              </a:rPr>
              <a:t>（出所）特許データベース Cyber patent desc（2026-06-14）</a:t>
            </a:r>
          </a:p>
        </p:txBody>
      </p:sp>
      <p:sp>
        <p:nvSpPr>
          <p:cNvPr id="38" name="TextBox 37"/>
          <p:cNvSpPr txBox="1"/>
          <p:nvPr/>
        </p:nvSpPr>
        <p:spPr>
          <a:xfrm>
            <a:off x="11384280" y="6419088"/>
            <a:ext cx="502920" cy="228600"/>
          </a:xfrm>
          <a:prstGeom prst="rect">
            <a:avLst/>
          </a:prstGeom>
          <a:noFill/>
          <a:effectLst/>
        </p:spPr>
        <p:txBody>
          <a:bodyPr wrap="none">
            <a:spAutoFit/>
          </a:bodyPr>
          <a:lstStyle/>
          <a:p>
            <a:pPr eaLnBrk="1" hangingPunct="1" algn="r"/>
            <a:r>
              <a:rPr sz="1000" b="0" lang="ja-JP" altLang="en-US">
                <a:solidFill>
                  <a:srgbClr val="686868"/>
                </a:solidFill>
                <a:latin typeface="Century Gothic"/>
                <a:ea typeface="Yu Gothic"/>
              </a:rPr>
              <a:t>35</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01011"/>
        </a:solidFill>
        <a:effectLst/>
      </p:bgPr>
    </p:bg>
    <p:spTree>
      <p:nvGrpSpPr>
        <p:cNvPr id="1" name=""/>
        <p:cNvGrpSpPr/>
        <p:nvPr/>
      </p:nvGrpSpPr>
      <p:grpSpPr/>
      <p:sp>
        <p:nvSpPr>
          <p:cNvPr id="2" name="TextBox 1"/>
          <p:cNvSpPr txBox="1"/>
          <p:nvPr/>
        </p:nvSpPr>
        <p:spPr>
          <a:xfrm>
            <a:off x="4754880" y="960120"/>
            <a:ext cx="6949440" cy="4937760"/>
          </a:xfrm>
          <a:prstGeom prst="rect">
            <a:avLst/>
          </a:prstGeom>
          <a:noFill/>
          <a:effectLst/>
        </p:spPr>
        <p:txBody>
          <a:bodyPr wrap="none">
            <a:noAutofit/>
          </a:bodyPr>
          <a:lstStyle/>
          <a:p>
            <a:pPr algn="r"/>
            <a:r>
              <a:rPr sz="30000" b="1" lang="ja-JP" altLang="en-US">
                <a:solidFill>
                  <a:srgbClr val="4A4A52"/>
                </a:solidFill>
                <a:latin typeface="Yu Mincho"/>
                <a:ea typeface="Yu Mincho"/>
              </a:rPr>
              <a:t>09</a:t>
            </a:r>
          </a:p>
        </p:txBody>
      </p:sp>
      <p:sp>
        <p:nvSpPr>
          <p:cNvPr id="3" name="Rectangle 2"/>
          <p:cNvSpPr/>
          <p:nvPr/>
        </p:nvSpPr>
        <p:spPr>
          <a:xfrm>
            <a:off x="0" y="0"/>
            <a:ext cx="274320" cy="685800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1051560" y="2514600"/>
            <a:ext cx="5486400" cy="365760"/>
          </a:xfrm>
          <a:prstGeom prst="rect">
            <a:avLst/>
          </a:prstGeom>
          <a:noFill/>
          <a:effectLst/>
        </p:spPr>
        <p:txBody>
          <a:bodyPr wrap="square">
            <a:noAutofit/>
          </a:bodyPr>
          <a:lstStyle/>
          <a:p>
            <a:r>
              <a:rPr sz="1500" b="1" lang="ja-JP" altLang="en-US" spc="260">
                <a:solidFill>
                  <a:srgbClr val="FF7070"/>
                </a:solidFill>
                <a:latin typeface="Yu Mincho"/>
                <a:ea typeface="Yu Mincho"/>
              </a:rPr>
              <a:t>SECTION 09</a:t>
            </a:r>
          </a:p>
        </p:txBody>
      </p:sp>
      <p:sp>
        <p:nvSpPr>
          <p:cNvPr id="5" name="Rectangle 4"/>
          <p:cNvSpPr/>
          <p:nvPr/>
        </p:nvSpPr>
        <p:spPr>
          <a:xfrm>
            <a:off x="1078992" y="3035808"/>
            <a:ext cx="2560320" cy="9144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1051560" y="3246120"/>
            <a:ext cx="7315200" cy="1554480"/>
          </a:xfrm>
          <a:prstGeom prst="rect">
            <a:avLst/>
          </a:prstGeom>
          <a:noFill/>
          <a:effectLst/>
        </p:spPr>
        <p:txBody>
          <a:bodyPr wrap="square">
            <a:noAutofit/>
          </a:bodyPr>
          <a:lstStyle/>
          <a:p>
            <a:pPr eaLnBrk="1" hangingPunct="1">
              <a:lnSpc>
                <a:spcPct val="115000"/>
              </a:lnSpc>
            </a:pPr>
            <a:r>
              <a:rPr sz="4000" b="1" lang="ja-JP" altLang="en-US">
                <a:solidFill>
                  <a:srgbClr val="FFFFFF"/>
                </a:solidFill>
                <a:latin typeface="Yu Mincho"/>
                <a:ea typeface="Yu Mincho"/>
              </a:rPr>
              <a:t>総括</a:t>
            </a:r>
          </a:p>
        </p:txBody>
      </p:sp>
      <p:sp>
        <p:nvSpPr>
          <p:cNvPr id="7" name="TextBox 6"/>
          <p:cNvSpPr txBox="1"/>
          <p:nvPr/>
        </p:nvSpPr>
        <p:spPr>
          <a:xfrm>
            <a:off x="1078992" y="4892040"/>
            <a:ext cx="6949440" cy="731520"/>
          </a:xfrm>
          <a:prstGeom prst="rect">
            <a:avLst/>
          </a:prstGeom>
          <a:noFill/>
          <a:effectLst/>
        </p:spPr>
        <p:txBody>
          <a:bodyPr wrap="square">
            <a:noAutofit/>
          </a:bodyPr>
          <a:lstStyle/>
          <a:p>
            <a:pPr eaLnBrk="1" hangingPunct="1"/>
            <a:r>
              <a:rPr sz="1500" b="0" lang="ja-JP" altLang="en-US">
                <a:solidFill>
                  <a:srgbClr val="C2C2C6"/>
                </a:solidFill>
                <a:latin typeface="Yu Mincho"/>
                <a:ea typeface="Yu Mincho"/>
              </a:rPr>
              <a:t>構造（俯瞰）と中身（精読）を統合した最終考察</a:t>
            </a:r>
          </a:p>
        </p:txBody>
      </p:sp>
      <p:sp>
        <p:nvSpPr>
          <p:cNvPr id="8" name="Rectangle 7"/>
          <p:cNvSpPr/>
          <p:nvPr/>
        </p:nvSpPr>
        <p:spPr>
          <a:xfrm>
            <a:off x="0" y="6492240"/>
            <a:ext cx="12188952" cy="27432"/>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22960" y="521208"/>
            <a:ext cx="365760" cy="1270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22960" y="630936"/>
            <a:ext cx="10725912" cy="256032"/>
          </a:xfrm>
          <a:prstGeom prst="rect">
            <a:avLst/>
          </a:prstGeom>
          <a:noFill/>
          <a:effectLst/>
        </p:spPr>
        <p:txBody>
          <a:bodyPr wrap="none">
            <a:spAutoFit/>
          </a:bodyPr>
          <a:lstStyle/>
          <a:p>
            <a:pPr eaLnBrk="1" hangingPunct="1"/>
            <a:r>
              <a:rPr sz="1000" b="1" lang="ja-JP" altLang="en-US">
                <a:solidFill>
                  <a:srgbClr val="C51212"/>
                </a:solidFill>
                <a:latin typeface="Yu Mincho"/>
                <a:ea typeface="Yu Mincho"/>
              </a:rPr>
              <a:t>総括</a:t>
            </a:r>
          </a:p>
        </p:txBody>
      </p:sp>
      <p:sp>
        <p:nvSpPr>
          <p:cNvPr id="4" name="TextBox 3"/>
          <p:cNvSpPr txBox="1"/>
          <p:nvPr/>
        </p:nvSpPr>
        <p:spPr>
          <a:xfrm>
            <a:off x="822960" y="905256"/>
            <a:ext cx="10725912" cy="841248"/>
          </a:xfrm>
          <a:prstGeom prst="rect">
            <a:avLst/>
          </a:prstGeom>
          <a:noFill/>
          <a:effectLst/>
        </p:spPr>
        <p:txBody>
          <a:bodyPr wrap="square">
            <a:noAutofit/>
          </a:bodyPr>
          <a:lstStyle/>
          <a:p>
            <a:pPr eaLnBrk="1" hangingPunct="1">
              <a:lnSpc>
                <a:spcPct val="118000"/>
              </a:lnSpc>
            </a:pPr>
            <a:r>
              <a:rPr b="1" sz="2300" lang="ja-JP" altLang="en-US">
                <a:solidFill>
                  <a:srgbClr val="111111"/>
                </a:solidFill>
                <a:latin typeface="Yu Mincho"/>
                <a:ea typeface="Yu Mincho"/>
              </a:rPr>
              <a:t>総括：再生材は『使うか』から『どう素材化するか』の競争へ ～担い手も交代</a:t>
            </a:r>
          </a:p>
        </p:txBody>
      </p:sp>
      <p:sp>
        <p:nvSpPr>
          <p:cNvPr id="5" name="Rectangle 4"/>
          <p:cNvSpPr/>
          <p:nvPr/>
        </p:nvSpPr>
        <p:spPr>
          <a:xfrm>
            <a:off x="822960" y="1801368"/>
            <a:ext cx="10725912" cy="822959"/>
          </a:xfrm>
          <a:prstGeom prst="rect">
            <a:avLst/>
          </a:prstGeom>
          <a:solidFill>
            <a:srgbClr val="F6F7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822960" y="1801368"/>
            <a:ext cx="36576" cy="822959"/>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960120" y="1874520"/>
            <a:ext cx="10451592" cy="676655"/>
          </a:xfrm>
          <a:prstGeom prst="rect">
            <a:avLst/>
          </a:prstGeom>
          <a:noFill/>
          <a:effectLst/>
        </p:spPr>
        <p:txBody>
          <a:bodyPr wrap="square">
            <a:noAutofit/>
          </a:bodyPr>
          <a:lstStyle/>
          <a:p>
            <a:pPr eaLnBrk="1" hangingPunct="1">
              <a:lnSpc>
                <a:spcPct val="150000"/>
              </a:lnSpc>
            </a:pPr>
            <a:r>
              <a:rPr sz="1500" b="1" lang="ja-JP" altLang="en-US">
                <a:solidFill>
                  <a:srgbClr val="C51212"/>
                </a:solidFill>
                <a:latin typeface="Century Gothic"/>
                <a:ea typeface="Yu Gothic"/>
              </a:rPr>
              <a:t>■ </a:t>
            </a:r>
            <a:r>
              <a:rPr sz="1500" lang="ja-JP" altLang="en-US">
                <a:solidFill>
                  <a:srgbClr val="111111"/>
                </a:solidFill>
                <a:latin typeface="Century Gothic"/>
                <a:ea typeface="Yu Gothic"/>
              </a:rPr>
              <a:t>俯瞰（件数・分散・動態）と精読（代表特許・解重合）を束ねると、本母集団は構造転換の途上にある。</a:t>
            </a:r>
          </a:p>
        </p:txBody>
      </p:sp>
      <p:sp>
        <p:nvSpPr>
          <p:cNvPr id="8" name="Rectangle 7"/>
          <p:cNvSpPr/>
          <p:nvPr/>
        </p:nvSpPr>
        <p:spPr>
          <a:xfrm>
            <a:off x="822960" y="2715768"/>
            <a:ext cx="36576" cy="729234"/>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87552" y="2715768"/>
            <a:ext cx="2194560" cy="274320"/>
          </a:xfrm>
          <a:prstGeom prst="rect">
            <a:avLst/>
          </a:prstGeom>
          <a:noFill/>
          <a:effectLst/>
        </p:spPr>
        <p:txBody>
          <a:bodyPr wrap="none">
            <a:spAutoFit/>
          </a:bodyPr>
          <a:lstStyle/>
          <a:p>
            <a:pPr eaLnBrk="1" hangingPunct="1"/>
            <a:r>
              <a:rPr sz="1100" b="1" lang="ja-JP" altLang="en-US">
                <a:solidFill>
                  <a:srgbClr val="C51212"/>
                </a:solidFill>
                <a:latin typeface="Century Gothic"/>
                <a:ea typeface="Yu Gothic"/>
              </a:rPr>
              <a:t>構造（俯瞰）</a:t>
            </a:r>
          </a:p>
        </p:txBody>
      </p:sp>
      <p:sp>
        <p:nvSpPr>
          <p:cNvPr id="10" name="TextBox 9"/>
          <p:cNvSpPr txBox="1"/>
          <p:nvPr/>
        </p:nvSpPr>
        <p:spPr>
          <a:xfrm>
            <a:off x="987552" y="2990088"/>
            <a:ext cx="10561320" cy="436626"/>
          </a:xfrm>
          <a:prstGeom prst="rect">
            <a:avLst/>
          </a:prstGeom>
          <a:noFill/>
          <a:effectLst/>
        </p:spPr>
        <p:txBody>
          <a:bodyPr wrap="square">
            <a:noAutofit/>
          </a:bodyPr>
          <a:lstStyle/>
          <a:p>
            <a:pPr eaLnBrk="1" hangingPunct="1">
              <a:lnSpc>
                <a:spcPct val="140000"/>
              </a:lnSpc>
            </a:pPr>
            <a:r>
              <a:rPr b="0" sz="1300" lang="ja-JP" altLang="en-US">
                <a:solidFill>
                  <a:srgbClr val="111111"/>
                </a:solidFill>
                <a:latin typeface="Century Gothic"/>
                <a:ea typeface="Yu Gothic"/>
              </a:rPr>
              <a:t>本母集団417件は2022年以降に急伸し2023年に過去最高51件。出願人HHI0.042で寡占はなく、多数の素材/化学メーカーが横並びで参入する開放局面。だが累積件数を年代分解すると、旧勢力（帝人化成・三菱電機・ソニー）の撤退と新興勢力（東ソー・LG・旭化成・住友）の一斉参入という担い手交代が進む。</a:t>
            </a:r>
          </a:p>
        </p:txBody>
      </p:sp>
      <p:sp>
        <p:nvSpPr>
          <p:cNvPr id="11" name="Rectangle 10"/>
          <p:cNvSpPr/>
          <p:nvPr/>
        </p:nvSpPr>
        <p:spPr>
          <a:xfrm>
            <a:off x="822960" y="3609594"/>
            <a:ext cx="36576" cy="729234"/>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987552" y="3609594"/>
            <a:ext cx="2194560" cy="274320"/>
          </a:xfrm>
          <a:prstGeom prst="rect">
            <a:avLst/>
          </a:prstGeom>
          <a:noFill/>
          <a:effectLst/>
        </p:spPr>
        <p:txBody>
          <a:bodyPr wrap="none">
            <a:spAutoFit/>
          </a:bodyPr>
          <a:lstStyle/>
          <a:p>
            <a:pPr eaLnBrk="1" hangingPunct="1"/>
            <a:r>
              <a:rPr sz="1100" b="1" lang="ja-JP" altLang="en-US">
                <a:solidFill>
                  <a:srgbClr val="C51212"/>
                </a:solidFill>
                <a:latin typeface="Century Gothic"/>
                <a:ea typeface="Yu Gothic"/>
              </a:rPr>
              <a:t>中身（精読）</a:t>
            </a:r>
          </a:p>
        </p:txBody>
      </p:sp>
      <p:sp>
        <p:nvSpPr>
          <p:cNvPr id="13" name="TextBox 12"/>
          <p:cNvSpPr txBox="1"/>
          <p:nvPr/>
        </p:nvSpPr>
        <p:spPr>
          <a:xfrm>
            <a:off x="987552" y="3883914"/>
            <a:ext cx="10561320" cy="436626"/>
          </a:xfrm>
          <a:prstGeom prst="rect">
            <a:avLst/>
          </a:prstGeom>
          <a:noFill/>
          <a:effectLst/>
        </p:spPr>
        <p:txBody>
          <a:bodyPr wrap="square">
            <a:noAutofit/>
          </a:bodyPr>
          <a:lstStyle/>
          <a:p>
            <a:pPr eaLnBrk="1" hangingPunct="1">
              <a:lnSpc>
                <a:spcPct val="140000"/>
              </a:lnSpc>
            </a:pPr>
            <a:r>
              <a:rPr b="0" sz="1300" lang="ja-JP" altLang="en-US">
                <a:solidFill>
                  <a:srgbClr val="111111"/>
                </a:solidFill>
                <a:latin typeface="Century Gothic"/>
                <a:ea typeface="Yu Gothic"/>
              </a:rPr>
              <a:t>技術は『環境対応の前提化＋物性両立への集中』へ移り、相溶化・異物除去・溶融混練という品質安定化技術が本丸。語彙も『ペレット・由来・リサイクル材』へ交代し、再生材がB2B素材として確立。さらに東レの解重合特許に、不純物問題を根本回避する化学的リサイクルの萌芽が見える。</a:t>
            </a:r>
          </a:p>
        </p:txBody>
      </p:sp>
      <p:sp>
        <p:nvSpPr>
          <p:cNvPr id="14" name="Rectangle 13"/>
          <p:cNvSpPr/>
          <p:nvPr/>
        </p:nvSpPr>
        <p:spPr>
          <a:xfrm>
            <a:off x="822960" y="4503420"/>
            <a:ext cx="36576" cy="729234"/>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987552" y="4503420"/>
            <a:ext cx="2194560" cy="274320"/>
          </a:xfrm>
          <a:prstGeom prst="rect">
            <a:avLst/>
          </a:prstGeom>
          <a:noFill/>
          <a:effectLst/>
        </p:spPr>
        <p:txBody>
          <a:bodyPr wrap="none">
            <a:spAutoFit/>
          </a:bodyPr>
          <a:lstStyle/>
          <a:p>
            <a:pPr eaLnBrk="1" hangingPunct="1"/>
            <a:r>
              <a:rPr sz="1100" b="1" lang="ja-JP" altLang="en-US">
                <a:solidFill>
                  <a:srgbClr val="C51212"/>
                </a:solidFill>
                <a:latin typeface="Century Gothic"/>
                <a:ea typeface="Yu Gothic"/>
              </a:rPr>
              <a:t>統合洞察・結論</a:t>
            </a:r>
          </a:p>
        </p:txBody>
      </p:sp>
      <p:sp>
        <p:nvSpPr>
          <p:cNvPr id="16" name="TextBox 15"/>
          <p:cNvSpPr txBox="1"/>
          <p:nvPr/>
        </p:nvSpPr>
        <p:spPr>
          <a:xfrm>
            <a:off x="987552" y="4777740"/>
            <a:ext cx="10561320" cy="436626"/>
          </a:xfrm>
          <a:prstGeom prst="rect">
            <a:avLst/>
          </a:prstGeom>
          <a:noFill/>
          <a:effectLst/>
        </p:spPr>
        <p:txBody>
          <a:bodyPr wrap="square">
            <a:noAutofit/>
          </a:bodyPr>
          <a:lstStyle/>
          <a:p>
            <a:pPr eaLnBrk="1" hangingPunct="1">
              <a:lnSpc>
                <a:spcPct val="140000"/>
              </a:lnSpc>
            </a:pPr>
            <a:r>
              <a:rPr b="0" sz="1300" lang="ja-JP" altLang="en-US">
                <a:solidFill>
                  <a:srgbClr val="111111"/>
                </a:solidFill>
                <a:latin typeface="Century Gothic"/>
                <a:ea typeface="Yu Gothic"/>
              </a:rPr>
              <a:t>担い手交代・技術重心移動・語彙交代という独立3軸が『再生材の素材化と世代交代』に収斂する。競争の問いは『再生材を使うか』ではなく『再生材で従来同等の物性をどう安定供給するか』。これに継続投資できる企業（東レ＋急進4社）が用途展開で先行する。</a:t>
            </a:r>
          </a:p>
        </p:txBody>
      </p:sp>
      <p:sp>
        <p:nvSpPr>
          <p:cNvPr id="17" name="Rectangle 16"/>
          <p:cNvSpPr/>
          <p:nvPr/>
        </p:nvSpPr>
        <p:spPr>
          <a:xfrm>
            <a:off x="822960" y="5397246"/>
            <a:ext cx="36576" cy="729234"/>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987552" y="5397246"/>
            <a:ext cx="2194560" cy="274320"/>
          </a:xfrm>
          <a:prstGeom prst="rect">
            <a:avLst/>
          </a:prstGeom>
          <a:noFill/>
          <a:effectLst/>
        </p:spPr>
        <p:txBody>
          <a:bodyPr wrap="none">
            <a:spAutoFit/>
          </a:bodyPr>
          <a:lstStyle/>
          <a:p>
            <a:pPr eaLnBrk="1" hangingPunct="1"/>
            <a:r>
              <a:rPr sz="1100" b="1" lang="ja-JP" altLang="en-US">
                <a:solidFill>
                  <a:srgbClr val="C51212"/>
                </a:solidFill>
                <a:latin typeface="Century Gothic"/>
                <a:ea typeface="Yu Gothic"/>
              </a:rPr>
              <a:t>意思決定の含意・監視指標</a:t>
            </a:r>
          </a:p>
        </p:txBody>
      </p:sp>
      <p:sp>
        <p:nvSpPr>
          <p:cNvPr id="19" name="TextBox 18"/>
          <p:cNvSpPr txBox="1"/>
          <p:nvPr/>
        </p:nvSpPr>
        <p:spPr>
          <a:xfrm>
            <a:off x="987552" y="5671566"/>
            <a:ext cx="10561320" cy="436626"/>
          </a:xfrm>
          <a:prstGeom prst="rect">
            <a:avLst/>
          </a:prstGeom>
          <a:noFill/>
          <a:effectLst/>
        </p:spPr>
        <p:txBody>
          <a:bodyPr wrap="square">
            <a:noAutofit/>
          </a:bodyPr>
          <a:lstStyle/>
          <a:p>
            <a:pPr eaLnBrk="1" hangingPunct="1">
              <a:lnSpc>
                <a:spcPct val="140000"/>
              </a:lnSpc>
            </a:pPr>
            <a:r>
              <a:rPr b="0" sz="1300" lang="ja-JP" altLang="en-US">
                <a:solidFill>
                  <a:srgbClr val="111111"/>
                </a:solidFill>
                <a:latin typeface="Century Gothic"/>
                <a:ea typeface="Yu Gothic"/>
              </a:rPr>
              <a:t>①競合は直近活動量で評価する（件数ランキングは罠）。②投資は品質安定化と素材規格に寄せる。③監視指標＝解重合系の出願増、◇(係属中)の権利化動向、休眠企業の再出願、『ペレット/由来』語の継続増。反証＝化学リサイクル普及で配合技術の価値が相対低下する可能性に留意。</a:t>
            </a:r>
          </a:p>
        </p:txBody>
      </p:sp>
      <p:sp>
        <p:nvSpPr>
          <p:cNvPr id="20" name="TextBox 19"/>
          <p:cNvSpPr txBox="1"/>
          <p:nvPr/>
        </p:nvSpPr>
        <p:spPr>
          <a:xfrm>
            <a:off x="457200" y="6053328"/>
            <a:ext cx="11247120" cy="320040"/>
          </a:xfrm>
          <a:prstGeom prst="rect">
            <a:avLst/>
          </a:prstGeom>
          <a:noFill/>
          <a:effectLst/>
        </p:spPr>
        <p:txBody>
          <a:bodyPr wrap="square">
            <a:noAutofit/>
          </a:bodyPr>
          <a:lstStyle/>
          <a:p>
            <a:pPr eaLnBrk="1" hangingPunct="1"/>
            <a:r>
              <a:rPr sz="900" b="0" lang="ja-JP" altLang="en-US">
                <a:solidFill>
                  <a:srgbClr val="686868"/>
                </a:solidFill>
                <a:latin typeface="Century Gothic"/>
                <a:ea typeface="Yu Gothic"/>
              </a:rPr>
              <a:t>（出所）特許データベース Cyber patent desc（2026-06-14）</a:t>
            </a:r>
          </a:p>
        </p:txBody>
      </p:sp>
      <p:sp>
        <p:nvSpPr>
          <p:cNvPr id="21" name="TextBox 20"/>
          <p:cNvSpPr txBox="1"/>
          <p:nvPr/>
        </p:nvSpPr>
        <p:spPr>
          <a:xfrm>
            <a:off x="11384280" y="6419088"/>
            <a:ext cx="502920" cy="228600"/>
          </a:xfrm>
          <a:prstGeom prst="rect">
            <a:avLst/>
          </a:prstGeom>
          <a:noFill/>
          <a:effectLst/>
        </p:spPr>
        <p:txBody>
          <a:bodyPr wrap="none">
            <a:spAutoFit/>
          </a:bodyPr>
          <a:lstStyle/>
          <a:p>
            <a:pPr eaLnBrk="1" hangingPunct="1" algn="r"/>
            <a:r>
              <a:rPr sz="1000" b="0" lang="ja-JP" altLang="en-US">
                <a:solidFill>
                  <a:srgbClr val="686868"/>
                </a:solidFill>
                <a:latin typeface="Century Gothic"/>
                <a:ea typeface="Yu Gothic"/>
              </a:rPr>
              <a:t>36</a:t>
            </a:r>
          </a:p>
        </p:txBody>
      </p:sp>
      <p:cxnSp>
        <p:nvCxnSpPr>
          <p:cNvPr id="22" name="Connector 21"/>
          <p:cNvCxnSpPr/>
          <p:nvPr/>
        </p:nvCxnSpPr>
        <p:spPr>
          <a:xfrm>
            <a:off x="11859767" y="128016"/>
            <a:ext cx="201169" cy="0"/>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a:off x="12060936" y="128016"/>
            <a:ext cx="0" cy="201168"/>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a:off x="128016" y="6729984"/>
            <a:ext cx="201168" cy="0"/>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25" name="Connector 24"/>
          <p:cNvCxnSpPr/>
          <p:nvPr/>
        </p:nvCxnSpPr>
        <p:spPr>
          <a:xfrm>
            <a:off x="128016" y="6528816"/>
            <a:ext cx="0" cy="201168"/>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22960" y="521208"/>
            <a:ext cx="365760" cy="1270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22960" y="630936"/>
            <a:ext cx="10725912" cy="713232"/>
          </a:xfrm>
          <a:prstGeom prst="rect">
            <a:avLst/>
          </a:prstGeom>
          <a:noFill/>
          <a:effectLst/>
        </p:spPr>
        <p:txBody>
          <a:bodyPr wrap="square">
            <a:noAutofit/>
          </a:bodyPr>
          <a:lstStyle/>
          <a:p>
            <a:pPr eaLnBrk="1" hangingPunct="1">
              <a:lnSpc>
                <a:spcPct val="118000"/>
              </a:lnSpc>
            </a:pPr>
            <a:r>
              <a:rPr b="1" sz="2700" lang="ja-JP" altLang="en-US">
                <a:solidFill>
                  <a:srgbClr val="111111"/>
                </a:solidFill>
                <a:latin typeface="Yu Mincho"/>
                <a:ea typeface="Yu Mincho"/>
              </a:rPr>
              <a:t>次に解くべき問い ～本母集団から追える3階層</a:t>
            </a:r>
          </a:p>
        </p:txBody>
      </p:sp>
      <p:sp>
        <p:nvSpPr>
          <p:cNvPr id="4" name="Rectangle 3"/>
          <p:cNvSpPr/>
          <p:nvPr/>
        </p:nvSpPr>
        <p:spPr>
          <a:xfrm>
            <a:off x="822960" y="1399032"/>
            <a:ext cx="10725912" cy="502920"/>
          </a:xfrm>
          <a:prstGeom prst="rect">
            <a:avLst/>
          </a:prstGeom>
          <a:solidFill>
            <a:srgbClr val="F6F7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822960" y="1399032"/>
            <a:ext cx="36576" cy="50292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60120" y="1472184"/>
            <a:ext cx="10451592" cy="356616"/>
          </a:xfrm>
          <a:prstGeom prst="rect">
            <a:avLst/>
          </a:prstGeom>
          <a:noFill/>
          <a:effectLst/>
        </p:spPr>
        <p:txBody>
          <a:bodyPr wrap="square">
            <a:noAutofit/>
          </a:bodyPr>
          <a:lstStyle/>
          <a:p>
            <a:pPr eaLnBrk="1" hangingPunct="1">
              <a:lnSpc>
                <a:spcPct val="150000"/>
              </a:lnSpc>
            </a:pPr>
            <a:r>
              <a:rPr sz="1500" b="1" lang="ja-JP" altLang="en-US">
                <a:solidFill>
                  <a:srgbClr val="C51212"/>
                </a:solidFill>
                <a:latin typeface="Century Gothic"/>
                <a:ea typeface="Yu Gothic"/>
              </a:rPr>
              <a:t>■ </a:t>
            </a:r>
            <a:r>
              <a:rPr sz="1500" lang="ja-JP" altLang="en-US">
                <a:solidFill>
                  <a:srgbClr val="111111"/>
                </a:solidFill>
                <a:latin typeface="Century Gothic"/>
                <a:ea typeface="Yu Gothic"/>
              </a:rPr>
              <a:t>本データで答えられる『次の問い』を優先度順に。さらなる深掘りの起点として残す。</a:t>
            </a:r>
          </a:p>
        </p:txBody>
      </p:sp>
      <p:sp>
        <p:nvSpPr>
          <p:cNvPr id="7" name="Trapezoid 6"/>
          <p:cNvSpPr/>
          <p:nvPr/>
        </p:nvSpPr>
        <p:spPr>
          <a:xfrm>
            <a:off x="4870704" y="1993392"/>
            <a:ext cx="2438400" cy="1152144"/>
          </a:xfrm>
          <a:prstGeom prst="trapezoid">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5145024" y="2066544"/>
            <a:ext cx="1889759" cy="1060704"/>
          </a:xfrm>
          <a:prstGeom prst="rect">
            <a:avLst/>
          </a:prstGeom>
          <a:noFill/>
          <a:effectLst/>
        </p:spPr>
        <p:txBody>
          <a:bodyPr wrap="square">
            <a:spAutoFit/>
          </a:bodyPr>
          <a:lstStyle/>
          <a:p>
            <a:pPr algn="ctr" eaLnBrk="1" hangingPunct="1"/>
            <a:r>
              <a:rPr sz="1400" b="1" lang="ja-JP" altLang="en-US">
                <a:solidFill>
                  <a:srgbClr val="FFFFFF"/>
                </a:solidFill>
                <a:latin typeface="Century Gothic"/>
                <a:ea typeface="Yu Gothic"/>
              </a:rPr>
              <a:t>最優先：化学的リサイクル(解重合)は伸びるか</a:t>
            </a:r>
          </a:p>
          <a:p>
            <a:pPr algn="ctr" eaLnBrk="1" hangingPunct="1"/>
            <a:r>
              <a:rPr sz="1100" b="0" lang="ja-JP" altLang="en-US">
                <a:solidFill>
                  <a:srgbClr val="FFFFFF"/>
                </a:solidFill>
                <a:latin typeface="Century Gothic"/>
                <a:ea typeface="Yu Gothic"/>
              </a:rPr>
              <a:t>解重合系の出願人・年次推移を継続監視し、萌芽が潮流化するか判定</a:t>
            </a:r>
          </a:p>
        </p:txBody>
      </p:sp>
      <p:sp>
        <p:nvSpPr>
          <p:cNvPr id="9" name="Trapezoid 8"/>
          <p:cNvSpPr/>
          <p:nvPr/>
        </p:nvSpPr>
        <p:spPr>
          <a:xfrm>
            <a:off x="3346704" y="3218688"/>
            <a:ext cx="5486400" cy="1152144"/>
          </a:xfrm>
          <a:prstGeom prst="trapezoid">
            <a:avLst/>
          </a:prstGeom>
          <a:solidFill>
            <a:srgbClr val="83101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3621024" y="3291840"/>
            <a:ext cx="4937760" cy="1060704"/>
          </a:xfrm>
          <a:prstGeom prst="rect">
            <a:avLst/>
          </a:prstGeom>
          <a:noFill/>
          <a:effectLst/>
        </p:spPr>
        <p:txBody>
          <a:bodyPr wrap="square">
            <a:spAutoFit/>
          </a:bodyPr>
          <a:lstStyle/>
          <a:p>
            <a:pPr algn="ctr" eaLnBrk="1" hangingPunct="1"/>
            <a:r>
              <a:rPr sz="1400" b="1" lang="ja-JP" altLang="en-US">
                <a:solidFill>
                  <a:srgbClr val="FFFFFF"/>
                </a:solidFill>
                <a:latin typeface="Century Gothic"/>
                <a:ea typeface="Yu Gothic"/>
              </a:rPr>
              <a:t>重要：急進4社はどの用途で衝突するか</a:t>
            </a:r>
          </a:p>
          <a:p>
            <a:pPr algn="ctr" eaLnBrk="1" hangingPunct="1"/>
            <a:r>
              <a:rPr sz="1100" b="0" lang="ja-JP" altLang="en-US">
                <a:solidFill>
                  <a:srgbClr val="FFFFFF"/>
                </a:solidFill>
                <a:latin typeface="Century Gothic"/>
                <a:ea typeface="Yu Gothic"/>
              </a:rPr>
              <a:t>東ソー/LG/旭化成/住友のIPC・用途の重なりと棲み分けを精査</a:t>
            </a:r>
          </a:p>
        </p:txBody>
      </p:sp>
      <p:sp>
        <p:nvSpPr>
          <p:cNvPr id="11" name="Trapezoid 10"/>
          <p:cNvSpPr/>
          <p:nvPr/>
        </p:nvSpPr>
        <p:spPr>
          <a:xfrm>
            <a:off x="1822704" y="4443984"/>
            <a:ext cx="8534399" cy="1152144"/>
          </a:xfrm>
          <a:prstGeom prst="trapezoid">
            <a:avLst/>
          </a:prstGeom>
          <a:solidFill>
            <a:srgbClr val="68686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2097024" y="4517136"/>
            <a:ext cx="7985759" cy="1060704"/>
          </a:xfrm>
          <a:prstGeom prst="rect">
            <a:avLst/>
          </a:prstGeom>
          <a:noFill/>
          <a:effectLst/>
        </p:spPr>
        <p:txBody>
          <a:bodyPr wrap="square">
            <a:spAutoFit/>
          </a:bodyPr>
          <a:lstStyle/>
          <a:p>
            <a:pPr algn="ctr" eaLnBrk="1" hangingPunct="1"/>
            <a:r>
              <a:rPr sz="1400" b="1" lang="ja-JP" altLang="en-US">
                <a:solidFill>
                  <a:srgbClr val="FFFFFF"/>
                </a:solidFill>
                <a:latin typeface="Century Gothic"/>
                <a:ea typeface="Yu Gothic"/>
              </a:rPr>
              <a:t>探索：外縁応用（舗装・繊維等）の実用化</a:t>
            </a:r>
          </a:p>
          <a:p>
            <a:pPr algn="ctr" eaLnBrk="1" hangingPunct="1"/>
            <a:r>
              <a:rPr sz="1100" b="0" lang="ja-JP" altLang="en-US">
                <a:solidFill>
                  <a:srgbClr val="FFFFFF"/>
                </a:solidFill>
                <a:latin typeface="Century Gothic"/>
                <a:ea typeface="Yu Gothic"/>
              </a:rPr>
              <a:t>件数小だが応用フロンティアの種。伸長シグナルを定点観測</a:t>
            </a:r>
          </a:p>
        </p:txBody>
      </p:sp>
      <p:sp>
        <p:nvSpPr>
          <p:cNvPr id="13" name="TextBox 12"/>
          <p:cNvSpPr txBox="1"/>
          <p:nvPr/>
        </p:nvSpPr>
        <p:spPr>
          <a:xfrm>
            <a:off x="457200" y="6053328"/>
            <a:ext cx="11247120" cy="320040"/>
          </a:xfrm>
          <a:prstGeom prst="rect">
            <a:avLst/>
          </a:prstGeom>
          <a:noFill/>
          <a:effectLst/>
        </p:spPr>
        <p:txBody>
          <a:bodyPr wrap="square">
            <a:noAutofit/>
          </a:bodyPr>
          <a:lstStyle/>
          <a:p>
            <a:pPr eaLnBrk="1" hangingPunct="1"/>
            <a:r>
              <a:rPr sz="900" b="0" lang="ja-JP" altLang="en-US">
                <a:solidFill>
                  <a:srgbClr val="686868"/>
                </a:solidFill>
                <a:latin typeface="Century Gothic"/>
                <a:ea typeface="Yu Gothic"/>
              </a:rPr>
              <a:t>（出所）特許データベース Cyber patent desc（2026-06-14）</a:t>
            </a:r>
          </a:p>
        </p:txBody>
      </p:sp>
      <p:sp>
        <p:nvSpPr>
          <p:cNvPr id="14" name="TextBox 13"/>
          <p:cNvSpPr txBox="1"/>
          <p:nvPr/>
        </p:nvSpPr>
        <p:spPr>
          <a:xfrm>
            <a:off x="11384280" y="6419088"/>
            <a:ext cx="502920" cy="228600"/>
          </a:xfrm>
          <a:prstGeom prst="rect">
            <a:avLst/>
          </a:prstGeom>
          <a:noFill/>
          <a:effectLst/>
        </p:spPr>
        <p:txBody>
          <a:bodyPr wrap="none">
            <a:spAutoFit/>
          </a:bodyPr>
          <a:lstStyle/>
          <a:p>
            <a:pPr eaLnBrk="1" hangingPunct="1" algn="r"/>
            <a:r>
              <a:rPr sz="1000" b="0" lang="ja-JP" altLang="en-US">
                <a:solidFill>
                  <a:srgbClr val="686868"/>
                </a:solidFill>
                <a:latin typeface="Century Gothic"/>
                <a:ea typeface="Yu Gothic"/>
              </a:rPr>
              <a:t>37</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01011"/>
        </a:solidFill>
        <a:effectLst/>
      </p:bgPr>
    </p:bg>
    <p:spTree>
      <p:nvGrpSpPr>
        <p:cNvPr id="1" name=""/>
        <p:cNvGrpSpPr/>
        <p:nvPr/>
      </p:nvGrpSpPr>
      <p:grpSpPr/>
      <p:sp>
        <p:nvSpPr>
          <p:cNvPr id="2" name="TextBox 1"/>
          <p:cNvSpPr txBox="1"/>
          <p:nvPr/>
        </p:nvSpPr>
        <p:spPr>
          <a:xfrm>
            <a:off x="4754880" y="960120"/>
            <a:ext cx="6949440" cy="4937760"/>
          </a:xfrm>
          <a:prstGeom prst="rect">
            <a:avLst/>
          </a:prstGeom>
          <a:noFill/>
          <a:effectLst/>
        </p:spPr>
        <p:txBody>
          <a:bodyPr wrap="none">
            <a:noAutofit/>
          </a:bodyPr>
          <a:lstStyle/>
          <a:p>
            <a:pPr algn="r"/>
            <a:r>
              <a:rPr sz="30000" b="1" lang="ja-JP" altLang="en-US">
                <a:solidFill>
                  <a:srgbClr val="4A4A52"/>
                </a:solidFill>
                <a:latin typeface="Yu Mincho"/>
                <a:ea typeface="Yu Mincho"/>
              </a:rPr>
              <a:t>10</a:t>
            </a:r>
          </a:p>
        </p:txBody>
      </p:sp>
      <p:sp>
        <p:nvSpPr>
          <p:cNvPr id="3" name="Rectangle 2"/>
          <p:cNvSpPr/>
          <p:nvPr/>
        </p:nvSpPr>
        <p:spPr>
          <a:xfrm>
            <a:off x="0" y="0"/>
            <a:ext cx="274320" cy="685800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1051560" y="2514600"/>
            <a:ext cx="5486400" cy="365760"/>
          </a:xfrm>
          <a:prstGeom prst="rect">
            <a:avLst/>
          </a:prstGeom>
          <a:noFill/>
          <a:effectLst/>
        </p:spPr>
        <p:txBody>
          <a:bodyPr wrap="square">
            <a:noAutofit/>
          </a:bodyPr>
          <a:lstStyle/>
          <a:p>
            <a:r>
              <a:rPr sz="1500" b="1" lang="ja-JP" altLang="en-US" spc="260">
                <a:solidFill>
                  <a:srgbClr val="FF7070"/>
                </a:solidFill>
                <a:latin typeface="Yu Mincho"/>
                <a:ea typeface="Yu Mincho"/>
              </a:rPr>
              <a:t>SECTION 10</a:t>
            </a:r>
          </a:p>
        </p:txBody>
      </p:sp>
      <p:sp>
        <p:nvSpPr>
          <p:cNvPr id="5" name="Rectangle 4"/>
          <p:cNvSpPr/>
          <p:nvPr/>
        </p:nvSpPr>
        <p:spPr>
          <a:xfrm>
            <a:off x="1078992" y="3035808"/>
            <a:ext cx="2560320" cy="9144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1051560" y="3246120"/>
            <a:ext cx="7315200" cy="1554480"/>
          </a:xfrm>
          <a:prstGeom prst="rect">
            <a:avLst/>
          </a:prstGeom>
          <a:noFill/>
          <a:effectLst/>
        </p:spPr>
        <p:txBody>
          <a:bodyPr wrap="square">
            <a:noAutofit/>
          </a:bodyPr>
          <a:lstStyle/>
          <a:p>
            <a:pPr eaLnBrk="1" hangingPunct="1">
              <a:lnSpc>
                <a:spcPct val="115000"/>
              </a:lnSpc>
            </a:pPr>
            <a:r>
              <a:rPr sz="4000" b="1" lang="ja-JP" altLang="en-US">
                <a:solidFill>
                  <a:srgbClr val="FFFFFF"/>
                </a:solidFill>
                <a:latin typeface="Yu Mincho"/>
                <a:ea typeface="Yu Mincho"/>
              </a:rPr>
              <a:t>付録</a:t>
            </a:r>
          </a:p>
        </p:txBody>
      </p:sp>
      <p:sp>
        <p:nvSpPr>
          <p:cNvPr id="7" name="TextBox 6"/>
          <p:cNvSpPr txBox="1"/>
          <p:nvPr/>
        </p:nvSpPr>
        <p:spPr>
          <a:xfrm>
            <a:off x="1078992" y="4892040"/>
            <a:ext cx="6949440" cy="731520"/>
          </a:xfrm>
          <a:prstGeom prst="rect">
            <a:avLst/>
          </a:prstGeom>
          <a:noFill/>
          <a:effectLst/>
        </p:spPr>
        <p:txBody>
          <a:bodyPr wrap="square">
            <a:noAutofit/>
          </a:bodyPr>
          <a:lstStyle/>
          <a:p>
            <a:pPr eaLnBrk="1" hangingPunct="1"/>
            <a:r>
              <a:rPr sz="1500" b="0" lang="ja-JP" altLang="en-US">
                <a:solidFill>
                  <a:srgbClr val="C2C2C6"/>
                </a:solidFill>
                <a:latin typeface="Yu Mincho"/>
                <a:ea typeface="Yu Mincho"/>
              </a:rPr>
              <a:t>母集団・検索式・分析パラメータ</a:t>
            </a:r>
          </a:p>
        </p:txBody>
      </p:sp>
      <p:sp>
        <p:nvSpPr>
          <p:cNvPr id="8" name="Rectangle 7"/>
          <p:cNvSpPr/>
          <p:nvPr/>
        </p:nvSpPr>
        <p:spPr>
          <a:xfrm>
            <a:off x="0" y="6492240"/>
            <a:ext cx="12188952" cy="27432"/>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22960" y="521208"/>
            <a:ext cx="365760" cy="1270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22960" y="630936"/>
            <a:ext cx="10725912" cy="640080"/>
          </a:xfrm>
          <a:prstGeom prst="rect">
            <a:avLst/>
          </a:prstGeom>
          <a:noFill/>
          <a:effectLst/>
        </p:spPr>
        <p:txBody>
          <a:bodyPr wrap="square">
            <a:noAutofit/>
          </a:bodyPr>
          <a:lstStyle/>
          <a:p>
            <a:pPr eaLnBrk="1" hangingPunct="1">
              <a:lnSpc>
                <a:spcPct val="118000"/>
              </a:lnSpc>
            </a:pPr>
            <a:r>
              <a:rPr b="1" sz="3000" lang="ja-JP" altLang="en-US">
                <a:solidFill>
                  <a:srgbClr val="111111"/>
                </a:solidFill>
                <a:latin typeface="Yu Mincho"/>
                <a:ea typeface="Yu Mincho"/>
              </a:rPr>
              <a:t>付録A：母集団と分析の前提</a:t>
            </a:r>
          </a:p>
        </p:txBody>
      </p:sp>
      <p:sp>
        <p:nvSpPr>
          <p:cNvPr id="4" name="Rectangle 3"/>
          <p:cNvSpPr/>
          <p:nvPr/>
        </p:nvSpPr>
        <p:spPr>
          <a:xfrm>
            <a:off x="822960" y="1325880"/>
            <a:ext cx="10725912" cy="822959"/>
          </a:xfrm>
          <a:prstGeom prst="rect">
            <a:avLst/>
          </a:prstGeom>
          <a:solidFill>
            <a:srgbClr val="F6F7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822960" y="1325880"/>
            <a:ext cx="36576" cy="822959"/>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60120" y="1399032"/>
            <a:ext cx="10451592" cy="676655"/>
          </a:xfrm>
          <a:prstGeom prst="rect">
            <a:avLst/>
          </a:prstGeom>
          <a:noFill/>
          <a:effectLst/>
        </p:spPr>
        <p:txBody>
          <a:bodyPr wrap="square">
            <a:noAutofit/>
          </a:bodyPr>
          <a:lstStyle/>
          <a:p>
            <a:pPr eaLnBrk="1" hangingPunct="1">
              <a:lnSpc>
                <a:spcPct val="150000"/>
              </a:lnSpc>
            </a:pPr>
            <a:r>
              <a:rPr sz="1500" b="1" lang="ja-JP" altLang="en-US">
                <a:solidFill>
                  <a:srgbClr val="C51212"/>
                </a:solidFill>
                <a:latin typeface="Century Gothic"/>
                <a:ea typeface="Yu Gothic"/>
              </a:rPr>
              <a:t>■ </a:t>
            </a:r>
            <a:r>
              <a:rPr sz="1500" lang="ja-JP" altLang="en-US">
                <a:solidFill>
                  <a:srgbClr val="111111"/>
                </a:solidFill>
                <a:latin typeface="Century Gothic"/>
                <a:ea typeface="Yu Gothic"/>
              </a:rPr>
              <a:t>本レポートの数値はすべて下記母集団・分析条件に基づく。業界全体への一般化は行っていない。</a:t>
            </a:r>
          </a:p>
        </p:txBody>
      </p:sp>
      <p:graphicFrame>
        <p:nvGraphicFramePr>
          <p:cNvPr id="7" name="Table 6"/>
          <p:cNvGraphicFramePr>
            <a:graphicFrameLocks noGrp="1"/>
          </p:cNvGraphicFramePr>
          <p:nvPr/>
        </p:nvGraphicFramePr>
        <p:xfrm>
          <a:off x="457200" y="2240280"/>
          <a:ext cx="11247120" cy="3566159"/>
        </p:xfrm>
        <a:graphic>
          <a:graphicData uri="http://schemas.openxmlformats.org/drawingml/2006/table">
            <a:tbl>
              <a:tblPr firstRow="1" bandRow="1">
                <a:tableStyleId>{5C22544A-7EE6-4342-B048-85BDC9FD1C3A}</a:tableStyleId>
              </a:tblPr>
              <a:tblGrid>
                <a:gridCol w="2926080"/>
                <a:gridCol w="8321040"/>
              </a:tblGrid>
              <a:tr h="356615">
                <a:tc>
                  <a:txBody>
                    <a:bodyPr/>
                    <a:lstStyle/>
                    <a:p>
                      <a:pPr eaLnBrk="1" hangingPunct="1"/>
                      <a:r>
                        <a:rPr sz="1200" b="1" lang="ja-JP" altLang="en-US">
                          <a:solidFill>
                            <a:srgbClr val="FFFFFF"/>
                          </a:solidFill>
                          <a:latin typeface="Century Gothic"/>
                          <a:ea typeface="Yu Gothic"/>
                        </a:rPr>
                        <a:t>項目</a:t>
                      </a:r>
                    </a:p>
                  </a:txBody>
                  <a:tcPr>
                    <a:solidFill>
                      <a:srgbClr val="111111"/>
                    </a:solidFill>
                  </a:tcPr>
                </a:tc>
                <a:tc>
                  <a:txBody>
                    <a:bodyPr/>
                    <a:lstStyle/>
                    <a:p>
                      <a:pPr eaLnBrk="1" hangingPunct="1"/>
                      <a:r>
                        <a:rPr sz="1200" b="1" lang="ja-JP" altLang="en-US">
                          <a:solidFill>
                            <a:srgbClr val="FFFFFF"/>
                          </a:solidFill>
                          <a:latin typeface="Century Gothic"/>
                          <a:ea typeface="Yu Gothic"/>
                        </a:rPr>
                        <a:t>内容</a:t>
                      </a:r>
                    </a:p>
                  </a:txBody>
                  <a:tcPr>
                    <a:solidFill>
                      <a:srgbClr val="111111"/>
                    </a:solidFill>
                  </a:tcPr>
                </a:tc>
              </a:tr>
              <a:tr h="356615">
                <a:tc>
                  <a:txBody>
                    <a:bodyPr/>
                    <a:lstStyle/>
                    <a:p>
                      <a:pPr eaLnBrk="1" hangingPunct="1"/>
                      <a:r>
                        <a:rPr sz="1100" b="0" lang="ja-JP" altLang="en-US">
                          <a:solidFill>
                            <a:srgbClr val="111111"/>
                          </a:solidFill>
                          <a:latin typeface="Century Gothic"/>
                          <a:ea typeface="Yu Gothic"/>
                        </a:rPr>
                        <a:t>対象母集団</a:t>
                      </a:r>
                    </a:p>
                  </a:txBody>
                  <a:tcPr/>
                </a:tc>
                <a:tc>
                  <a:txBody>
                    <a:bodyPr/>
                    <a:lstStyle/>
                    <a:p>
                      <a:pPr eaLnBrk="1" hangingPunct="1"/>
                      <a:r>
                        <a:rPr sz="1100" b="0" lang="ja-JP" altLang="en-US">
                          <a:solidFill>
                            <a:srgbClr val="111111"/>
                          </a:solidFill>
                          <a:latin typeface="Century Gothic"/>
                          <a:ea typeface="Yu Gothic"/>
                        </a:rPr>
                        <a:t>使用済みプラスチック由来 再生材・樹脂組成物 特許 417件</a:t>
                      </a:r>
                    </a:p>
                  </a:txBody>
                  <a:tcPr/>
                </a:tc>
              </a:tr>
              <a:tr h="356615">
                <a:tc>
                  <a:txBody>
                    <a:bodyPr/>
                    <a:lstStyle/>
                    <a:p>
                      <a:pPr eaLnBrk="1" hangingPunct="1"/>
                      <a:r>
                        <a:rPr sz="1100" b="0" lang="ja-JP" altLang="en-US">
                          <a:solidFill>
                            <a:srgbClr val="111111"/>
                          </a:solidFill>
                          <a:latin typeface="Century Gothic"/>
                          <a:ea typeface="Yu Gothic"/>
                        </a:rPr>
                        <a:t>対象期間</a:t>
                      </a:r>
                    </a:p>
                  </a:txBody>
                  <a:tcPr>
                    <a:solidFill>
                      <a:srgbClr val="F1F2F3"/>
                    </a:solidFill>
                  </a:tcPr>
                </a:tc>
                <a:tc>
                  <a:txBody>
                    <a:bodyPr/>
                    <a:lstStyle/>
                    <a:p>
                      <a:pPr eaLnBrk="1" hangingPunct="1"/>
                      <a:r>
                        <a:rPr sz="1100" b="0" lang="ja-JP" altLang="en-US">
                          <a:solidFill>
                            <a:srgbClr val="111111"/>
                          </a:solidFill>
                          <a:latin typeface="Century Gothic"/>
                          <a:ea typeface="Yu Gothic"/>
                        </a:rPr>
                        <a:t>1996–2025年（出願年ベース）</a:t>
                      </a:r>
                    </a:p>
                  </a:txBody>
                  <a:tcPr>
                    <a:solidFill>
                      <a:srgbClr val="F1F2F3"/>
                    </a:solidFill>
                  </a:tcPr>
                </a:tc>
              </a:tr>
              <a:tr h="356615">
                <a:tc>
                  <a:txBody>
                    <a:bodyPr/>
                    <a:lstStyle/>
                    <a:p>
                      <a:pPr eaLnBrk="1" hangingPunct="1"/>
                      <a:r>
                        <a:rPr sz="1100" b="0" lang="ja-JP" altLang="en-US">
                          <a:solidFill>
                            <a:srgbClr val="111111"/>
                          </a:solidFill>
                          <a:latin typeface="Century Gothic"/>
                          <a:ea typeface="Yu Gothic"/>
                        </a:rPr>
                        <a:t>特許データベース</a:t>
                      </a:r>
                    </a:p>
                  </a:txBody>
                  <a:tcPr/>
                </a:tc>
                <a:tc>
                  <a:txBody>
                    <a:bodyPr/>
                    <a:lstStyle/>
                    <a:p>
                      <a:pPr eaLnBrk="1" hangingPunct="1"/>
                      <a:r>
                        <a:rPr sz="1100" b="0" lang="ja-JP" altLang="en-US">
                          <a:solidFill>
                            <a:srgbClr val="111111"/>
                          </a:solidFill>
                          <a:latin typeface="Century Gothic"/>
                          <a:ea typeface="Yu Gothic"/>
                        </a:rPr>
                        <a:t>Cyber patent desc</a:t>
                      </a:r>
                    </a:p>
                  </a:txBody>
                  <a:tcPr/>
                </a:tc>
              </a:tr>
              <a:tr h="356615">
                <a:tc>
                  <a:txBody>
                    <a:bodyPr/>
                    <a:lstStyle/>
                    <a:p>
                      <a:pPr eaLnBrk="1" hangingPunct="1"/>
                      <a:r>
                        <a:rPr sz="1100" b="0" lang="ja-JP" altLang="en-US">
                          <a:solidFill>
                            <a:srgbClr val="111111"/>
                          </a:solidFill>
                          <a:latin typeface="Century Gothic"/>
                          <a:ea typeface="Yu Gothic"/>
                        </a:rPr>
                        <a:t>主要出願人数</a:t>
                      </a:r>
                    </a:p>
                  </a:txBody>
                  <a:tcPr>
                    <a:solidFill>
                      <a:srgbClr val="F1F2F3"/>
                    </a:solidFill>
                  </a:tcPr>
                </a:tc>
                <a:tc>
                  <a:txBody>
                    <a:bodyPr/>
                    <a:lstStyle/>
                    <a:p>
                      <a:pPr eaLnBrk="1" hangingPunct="1"/>
                      <a:r>
                        <a:rPr sz="1100" b="0" lang="ja-JP" altLang="en-US">
                          <a:solidFill>
                            <a:srgbClr val="111111"/>
                          </a:solidFill>
                          <a:latin typeface="Century Gothic"/>
                          <a:ea typeface="Yu Gothic"/>
                        </a:rPr>
                        <a:t>30（HHI 0.042／Entropy 4.75／Gini 0.26）</a:t>
                      </a:r>
                    </a:p>
                  </a:txBody>
                  <a:tcPr>
                    <a:solidFill>
                      <a:srgbClr val="F1F2F3"/>
                    </a:solidFill>
                  </a:tcPr>
                </a:tc>
              </a:tr>
              <a:tr h="356615">
                <a:tc>
                  <a:txBody>
                    <a:bodyPr/>
                    <a:lstStyle/>
                    <a:p>
                      <a:pPr eaLnBrk="1" hangingPunct="1"/>
                      <a:r>
                        <a:rPr sz="1100" b="0" lang="ja-JP" altLang="en-US">
                          <a:solidFill>
                            <a:srgbClr val="111111"/>
                          </a:solidFill>
                          <a:latin typeface="Century Gothic"/>
                          <a:ea typeface="Yu Gothic"/>
                        </a:rPr>
                        <a:t>分析モジュール</a:t>
                      </a:r>
                    </a:p>
                  </a:txBody>
                  <a:tcPr/>
                </a:tc>
                <a:tc>
                  <a:txBody>
                    <a:bodyPr/>
                    <a:lstStyle/>
                    <a:p>
                      <a:pPr eaLnBrk="1" hangingPunct="1"/>
                      <a:r>
                        <a:rPr sz="1100" b="0" lang="ja-JP" altLang="en-US">
                          <a:solidFill>
                            <a:srgbClr val="111111"/>
                          </a:solidFill>
                          <a:latin typeface="Century Gothic"/>
                          <a:ea typeface="Yu Gothic"/>
                        </a:rPr>
                        <a:t>ATLAS・CORE・MEGA・Saturn V（CAPCOM）</a:t>
                      </a:r>
                    </a:p>
                  </a:txBody>
                  <a:tcPr/>
                </a:tc>
              </a:tr>
              <a:tr h="356615">
                <a:tc>
                  <a:txBody>
                    <a:bodyPr/>
                    <a:lstStyle/>
                    <a:p>
                      <a:pPr eaLnBrk="1" hangingPunct="1"/>
                      <a:r>
                        <a:rPr sz="1100" b="0" lang="ja-JP" altLang="en-US">
                          <a:solidFill>
                            <a:srgbClr val="111111"/>
                          </a:solidFill>
                          <a:latin typeface="Century Gothic"/>
                          <a:ea typeface="Yu Gothic"/>
                        </a:rPr>
                        <a:t>分析エンジン</a:t>
                      </a:r>
                    </a:p>
                  </a:txBody>
                  <a:tcPr>
                    <a:solidFill>
                      <a:srgbClr val="F1F2F3"/>
                    </a:solidFill>
                  </a:tcPr>
                </a:tc>
                <a:tc>
                  <a:txBody>
                    <a:bodyPr/>
                    <a:lstStyle/>
                    <a:p>
                      <a:pPr eaLnBrk="1" hangingPunct="1"/>
                      <a:r>
                        <a:rPr sz="1100" b="0" lang="ja-JP" altLang="en-US">
                          <a:solidFill>
                            <a:srgbClr val="111111"/>
                          </a:solidFill>
                          <a:latin typeface="Century Gothic"/>
                          <a:ea typeface="Yu Gothic"/>
                        </a:rPr>
                        <a:t>patiroha + SBERT(paraphrase-multilingual-MiniLM-L12-v2)</a:t>
                      </a:r>
                    </a:p>
                  </a:txBody>
                  <a:tcPr>
                    <a:solidFill>
                      <a:srgbClr val="F1F2F3"/>
                    </a:solidFill>
                  </a:tcPr>
                </a:tc>
              </a:tr>
              <a:tr h="356615">
                <a:tc>
                  <a:txBody>
                    <a:bodyPr/>
                    <a:lstStyle/>
                    <a:p>
                      <a:pPr eaLnBrk="1" hangingPunct="1"/>
                      <a:r>
                        <a:rPr sz="1100" b="0" lang="ja-JP" altLang="en-US">
                          <a:solidFill>
                            <a:srgbClr val="111111"/>
                          </a:solidFill>
                          <a:latin typeface="Century Gothic"/>
                          <a:ea typeface="Yu Gothic"/>
                        </a:rPr>
                        <a:t>クラスタリング</a:t>
                      </a:r>
                    </a:p>
                  </a:txBody>
                  <a:tcPr/>
                </a:tc>
                <a:tc>
                  <a:txBody>
                    <a:bodyPr/>
                    <a:lstStyle/>
                    <a:p>
                      <a:pPr eaLnBrk="1" hangingPunct="1"/>
                      <a:r>
                        <a:rPr sz="1100" b="0" lang="ja-JP" altLang="en-US">
                          <a:solidFill>
                            <a:srgbClr val="111111"/>
                          </a:solidFill>
                          <a:latin typeface="Century Gothic"/>
                          <a:ea typeface="Yu Gothic"/>
                        </a:rPr>
                        <a:t>UMAP + HDBSCAN（TELESCOPE 2クラスタ／PROBE 17サブクラスタ）</a:t>
                      </a:r>
                    </a:p>
                  </a:txBody>
                  <a:tcPr/>
                </a:tc>
              </a:tr>
              <a:tr h="356615">
                <a:tc>
                  <a:txBody>
                    <a:bodyPr/>
                    <a:lstStyle/>
                    <a:p>
                      <a:pPr eaLnBrk="1" hangingPunct="1"/>
                      <a:r>
                        <a:rPr sz="1100" b="0" lang="ja-JP" altLang="en-US">
                          <a:solidFill>
                            <a:srgbClr val="111111"/>
                          </a:solidFill>
                          <a:latin typeface="Century Gothic"/>
                          <a:ea typeface="Yu Gothic"/>
                        </a:rPr>
                        <a:t>連携ツール</a:t>
                      </a:r>
                    </a:p>
                  </a:txBody>
                  <a:tcPr>
                    <a:solidFill>
                      <a:srgbClr val="F1F2F3"/>
                    </a:solidFill>
                  </a:tcPr>
                </a:tc>
                <a:tc>
                  <a:txBody>
                    <a:bodyPr/>
                    <a:lstStyle/>
                    <a:p>
                      <a:pPr eaLnBrk="1" hangingPunct="1"/>
                      <a:r>
                        <a:rPr sz="1100" b="0" lang="ja-JP" altLang="en-US">
                          <a:solidFill>
                            <a:srgbClr val="111111"/>
                          </a:solidFill>
                          <a:latin typeface="Century Gothic"/>
                          <a:ea typeface="Yu Gothic"/>
                        </a:rPr>
                        <a:t>Claude Code（Anthropic）</a:t>
                      </a:r>
                    </a:p>
                  </a:txBody>
                  <a:tcPr>
                    <a:solidFill>
                      <a:srgbClr val="F1F2F3"/>
                    </a:solidFill>
                  </a:tcPr>
                </a:tc>
              </a:tr>
              <a:tr h="356624">
                <a:tc>
                  <a:txBody>
                    <a:bodyPr/>
                    <a:lstStyle/>
                    <a:p>
                      <a:pPr eaLnBrk="1" hangingPunct="1"/>
                      <a:r>
                        <a:rPr sz="1100" b="0" lang="ja-JP" altLang="en-US">
                          <a:solidFill>
                            <a:srgbClr val="111111"/>
                          </a:solidFill>
                          <a:latin typeface="Century Gothic"/>
                          <a:ea typeface="Yu Gothic"/>
                        </a:rPr>
                        <a:t>NEBULA(非特許文献)</a:t>
                      </a:r>
                    </a:p>
                  </a:txBody>
                  <a:tcPr/>
                </a:tc>
                <a:tc>
                  <a:txBody>
                    <a:bodyPr/>
                    <a:lstStyle/>
                    <a:p>
                      <a:pPr eaLnBrk="1" hangingPunct="1"/>
                      <a:r>
                        <a:rPr sz="1100" b="0" lang="ja-JP" altLang="en-US">
                          <a:solidFill>
                            <a:srgbClr val="111111"/>
                          </a:solidFill>
                          <a:latin typeface="Century Gothic"/>
                          <a:ea typeface="Yu Gothic"/>
                        </a:rPr>
                        <a:t>本セッションでは学術・ニュース系が未収集（外部環境は特許情報からの推察）</a:t>
                      </a:r>
                    </a:p>
                  </a:txBody>
                  <a:tcPr/>
                </a:tc>
              </a:tr>
            </a:tbl>
          </a:graphicData>
        </a:graphic>
      </p:graphicFrame>
      <p:sp>
        <p:nvSpPr>
          <p:cNvPr id="8" name="TextBox 7"/>
          <p:cNvSpPr txBox="1"/>
          <p:nvPr/>
        </p:nvSpPr>
        <p:spPr>
          <a:xfrm>
            <a:off x="457200" y="6053328"/>
            <a:ext cx="11247120" cy="320040"/>
          </a:xfrm>
          <a:prstGeom prst="rect">
            <a:avLst/>
          </a:prstGeom>
          <a:noFill/>
          <a:effectLst/>
        </p:spPr>
        <p:txBody>
          <a:bodyPr wrap="square">
            <a:noAutofit/>
          </a:bodyPr>
          <a:lstStyle/>
          <a:p>
            <a:pPr eaLnBrk="1" hangingPunct="1"/>
            <a:r>
              <a:rPr sz="900" b="0" lang="ja-JP" altLang="en-US">
                <a:solidFill>
                  <a:srgbClr val="686868"/>
                </a:solidFill>
                <a:latin typeface="Century Gothic"/>
                <a:ea typeface="Yu Gothic"/>
              </a:rPr>
              <a:t>（出所）特許データベース Cyber patent desc（2026-06-14）</a:t>
            </a:r>
          </a:p>
        </p:txBody>
      </p:sp>
      <p:sp>
        <p:nvSpPr>
          <p:cNvPr id="9" name="TextBox 8"/>
          <p:cNvSpPr txBox="1"/>
          <p:nvPr/>
        </p:nvSpPr>
        <p:spPr>
          <a:xfrm>
            <a:off x="11384280" y="6419088"/>
            <a:ext cx="502920" cy="228600"/>
          </a:xfrm>
          <a:prstGeom prst="rect">
            <a:avLst/>
          </a:prstGeom>
          <a:noFill/>
          <a:effectLst/>
        </p:spPr>
        <p:txBody>
          <a:bodyPr wrap="none">
            <a:spAutoFit/>
          </a:bodyPr>
          <a:lstStyle/>
          <a:p>
            <a:pPr eaLnBrk="1" hangingPunct="1" algn="r"/>
            <a:r>
              <a:rPr sz="1000" b="0" lang="ja-JP" altLang="en-US">
                <a:solidFill>
                  <a:srgbClr val="686868"/>
                </a:solidFill>
                <a:latin typeface="Century Gothic"/>
                <a:ea typeface="Yu Gothic"/>
              </a:rPr>
              <a:t>38</a:t>
            </a:r>
          </a:p>
        </p:txBody>
      </p:sp>
      <p:cxnSp>
        <p:nvCxnSpPr>
          <p:cNvPr id="10" name="Connector 9"/>
          <p:cNvCxnSpPr/>
          <p:nvPr/>
        </p:nvCxnSpPr>
        <p:spPr>
          <a:xfrm>
            <a:off x="11859767" y="128016"/>
            <a:ext cx="201169" cy="0"/>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11" name="Connector 10"/>
          <p:cNvCxnSpPr/>
          <p:nvPr/>
        </p:nvCxnSpPr>
        <p:spPr>
          <a:xfrm>
            <a:off x="12060936" y="128016"/>
            <a:ext cx="0" cy="201168"/>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12" name="Connector 11"/>
          <p:cNvCxnSpPr/>
          <p:nvPr/>
        </p:nvCxnSpPr>
        <p:spPr>
          <a:xfrm>
            <a:off x="128016" y="6729984"/>
            <a:ext cx="201168" cy="0"/>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13" name="Connector 12"/>
          <p:cNvCxnSpPr/>
          <p:nvPr/>
        </p:nvCxnSpPr>
        <p:spPr>
          <a:xfrm>
            <a:off x="128016" y="6528816"/>
            <a:ext cx="0" cy="201168"/>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22960" y="521208"/>
            <a:ext cx="365760" cy="1270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22960" y="630936"/>
            <a:ext cx="10725912" cy="713232"/>
          </a:xfrm>
          <a:prstGeom prst="rect">
            <a:avLst/>
          </a:prstGeom>
          <a:noFill/>
          <a:effectLst/>
        </p:spPr>
        <p:txBody>
          <a:bodyPr wrap="square">
            <a:noAutofit/>
          </a:bodyPr>
          <a:lstStyle/>
          <a:p>
            <a:pPr eaLnBrk="1" hangingPunct="1">
              <a:lnSpc>
                <a:spcPct val="118000"/>
              </a:lnSpc>
            </a:pPr>
            <a:r>
              <a:rPr b="1" sz="2700" lang="ja-JP" altLang="en-US">
                <a:solidFill>
                  <a:srgbClr val="111111"/>
                </a:solidFill>
                <a:latin typeface="Yu Mincho"/>
                <a:ea typeface="Yu Mincho"/>
              </a:rPr>
              <a:t>付録B：母集団検索式（設計意図の論理構造）</a:t>
            </a:r>
          </a:p>
        </p:txBody>
      </p:sp>
      <p:sp>
        <p:nvSpPr>
          <p:cNvPr id="4" name="Rectangle 3"/>
          <p:cNvSpPr/>
          <p:nvPr/>
        </p:nvSpPr>
        <p:spPr>
          <a:xfrm>
            <a:off x="822960" y="1399032"/>
            <a:ext cx="10725912" cy="822959"/>
          </a:xfrm>
          <a:prstGeom prst="rect">
            <a:avLst/>
          </a:prstGeom>
          <a:solidFill>
            <a:srgbClr val="F6F7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822960" y="1399032"/>
            <a:ext cx="36576" cy="822959"/>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60120" y="1472184"/>
            <a:ext cx="10451592" cy="676655"/>
          </a:xfrm>
          <a:prstGeom prst="rect">
            <a:avLst/>
          </a:prstGeom>
          <a:noFill/>
          <a:effectLst/>
        </p:spPr>
        <p:txBody>
          <a:bodyPr wrap="square">
            <a:noAutofit/>
          </a:bodyPr>
          <a:lstStyle/>
          <a:p>
            <a:pPr eaLnBrk="1" hangingPunct="1">
              <a:lnSpc>
                <a:spcPct val="150000"/>
              </a:lnSpc>
            </a:pPr>
            <a:r>
              <a:rPr sz="1500" b="1" lang="ja-JP" altLang="en-US">
                <a:solidFill>
                  <a:srgbClr val="C51212"/>
                </a:solidFill>
                <a:latin typeface="Century Gothic"/>
                <a:ea typeface="Yu Gothic"/>
              </a:rPr>
              <a:t>■ </a:t>
            </a:r>
            <a:r>
              <a:rPr sz="1500" lang="ja-JP" altLang="en-US">
                <a:solidFill>
                  <a:srgbClr val="111111"/>
                </a:solidFill>
                <a:latin typeface="Century Gothic"/>
                <a:ea typeface="Yu Gothic"/>
              </a:rPr>
              <a:t>『使用済み材』×『樹脂』×『組成物・コンパウンド』の積で、高機能化された再生材技術を抽出している。</a:t>
            </a:r>
          </a:p>
        </p:txBody>
      </p:sp>
      <p:graphicFrame>
        <p:nvGraphicFramePr>
          <p:cNvPr id="7" name="Table 6"/>
          <p:cNvGraphicFramePr>
            <a:graphicFrameLocks noGrp="1"/>
          </p:cNvGraphicFramePr>
          <p:nvPr/>
        </p:nvGraphicFramePr>
        <p:xfrm>
          <a:off x="457200" y="2313432"/>
          <a:ext cx="11247120" cy="2743200"/>
        </p:xfrm>
        <a:graphic>
          <a:graphicData uri="http://schemas.openxmlformats.org/drawingml/2006/table">
            <a:tbl>
              <a:tblPr firstRow="1" bandRow="1">
                <a:tableStyleId>{5C22544A-7EE6-4342-B048-85BDC9FD1C3A}</a:tableStyleId>
              </a:tblPr>
              <a:tblGrid>
                <a:gridCol w="731520"/>
                <a:gridCol w="7040880"/>
                <a:gridCol w="3474720"/>
              </a:tblGrid>
              <a:tr h="457200">
                <a:tc>
                  <a:txBody>
                    <a:bodyPr/>
                    <a:lstStyle/>
                    <a:p>
                      <a:pPr eaLnBrk="1" hangingPunct="1"/>
                      <a:r>
                        <a:rPr sz="1200" b="1" lang="ja-JP" altLang="en-US">
                          <a:solidFill>
                            <a:srgbClr val="FFFFFF"/>
                          </a:solidFill>
                          <a:latin typeface="Century Gothic"/>
                          <a:ea typeface="Yu Gothic"/>
                        </a:rPr>
                        <a:t>節</a:t>
                      </a:r>
                    </a:p>
                  </a:txBody>
                  <a:tcPr>
                    <a:solidFill>
                      <a:srgbClr val="111111"/>
                    </a:solidFill>
                  </a:tcPr>
                </a:tc>
                <a:tc>
                  <a:txBody>
                    <a:bodyPr/>
                    <a:lstStyle/>
                    <a:p>
                      <a:pPr eaLnBrk="1" hangingPunct="1"/>
                      <a:r>
                        <a:rPr sz="1200" b="1" lang="ja-JP" altLang="en-US">
                          <a:solidFill>
                            <a:srgbClr val="FFFFFF"/>
                          </a:solidFill>
                          <a:latin typeface="Century Gothic"/>
                          <a:ea typeface="Yu Gothic"/>
                        </a:rPr>
                        <a:t>条件（フィールド）</a:t>
                      </a:r>
                    </a:p>
                  </a:txBody>
                  <a:tcPr>
                    <a:solidFill>
                      <a:srgbClr val="111111"/>
                    </a:solidFill>
                  </a:tcPr>
                </a:tc>
                <a:tc>
                  <a:txBody>
                    <a:bodyPr/>
                    <a:lstStyle/>
                    <a:p>
                      <a:pPr eaLnBrk="1" hangingPunct="1"/>
                      <a:r>
                        <a:rPr sz="1200" b="1" lang="ja-JP" altLang="en-US">
                          <a:solidFill>
                            <a:srgbClr val="FFFFFF"/>
                          </a:solidFill>
                          <a:latin typeface="Century Gothic"/>
                          <a:ea typeface="Yu Gothic"/>
                        </a:rPr>
                        <a:t>意図</a:t>
                      </a:r>
                    </a:p>
                  </a:txBody>
                  <a:tcPr>
                    <a:solidFill>
                      <a:srgbClr val="111111"/>
                    </a:solidFill>
                  </a:tcPr>
                </a:tc>
              </a:tr>
              <a:tr h="457200">
                <a:tc>
                  <a:txBody>
                    <a:bodyPr/>
                    <a:lstStyle/>
                    <a:p>
                      <a:pPr eaLnBrk="1" hangingPunct="1"/>
                      <a:r>
                        <a:rPr sz="1100" b="0" lang="ja-JP" altLang="en-US">
                          <a:solidFill>
                            <a:srgbClr val="111111"/>
                          </a:solidFill>
                          <a:latin typeface="Century Gothic"/>
                          <a:ea typeface="Yu Gothic"/>
                        </a:rPr>
                        <a:t>[1]</a:t>
                      </a:r>
                    </a:p>
                  </a:txBody>
                  <a:tcPr/>
                </a:tc>
                <a:tc>
                  <a:txBody>
                    <a:bodyPr/>
                    <a:lstStyle/>
                    <a:p>
                      <a:pPr eaLnBrk="1" hangingPunct="1"/>
                      <a:r>
                        <a:rPr sz="1100" b="0" lang="ja-JP" altLang="en-US">
                          <a:solidFill>
                            <a:srgbClr val="111111"/>
                          </a:solidFill>
                          <a:latin typeface="Century Gothic"/>
                          <a:ea typeface="Yu Gothic"/>
                        </a:rPr>
                        <a:t>発明の名称：組成物 + コンパウンド</a:t>
                      </a:r>
                    </a:p>
                  </a:txBody>
                  <a:tcPr/>
                </a:tc>
                <a:tc>
                  <a:txBody>
                    <a:bodyPr/>
                    <a:lstStyle/>
                    <a:p>
                      <a:pPr eaLnBrk="1" hangingPunct="1"/>
                      <a:r>
                        <a:rPr sz="1100" b="0" lang="ja-JP" altLang="en-US">
                          <a:solidFill>
                            <a:srgbClr val="111111"/>
                          </a:solidFill>
                          <a:latin typeface="Century Gothic"/>
                          <a:ea typeface="Yu Gothic"/>
                        </a:rPr>
                        <a:t>素材化された組成物・コンパウンド技術に限定</a:t>
                      </a:r>
                    </a:p>
                  </a:txBody>
                  <a:tcPr/>
                </a:tc>
              </a:tr>
              <a:tr h="457200">
                <a:tc>
                  <a:txBody>
                    <a:bodyPr/>
                    <a:lstStyle/>
                    <a:p>
                      <a:pPr eaLnBrk="1" hangingPunct="1"/>
                      <a:r>
                        <a:rPr sz="1100" b="0" lang="ja-JP" altLang="en-US">
                          <a:solidFill>
                            <a:srgbClr val="111111"/>
                          </a:solidFill>
                          <a:latin typeface="Century Gothic"/>
                          <a:ea typeface="Yu Gothic"/>
                        </a:rPr>
                        <a:t>[2]</a:t>
                      </a:r>
                    </a:p>
                  </a:txBody>
                  <a:tcPr>
                    <a:solidFill>
                      <a:srgbClr val="F1F2F3"/>
                    </a:solidFill>
                  </a:tcPr>
                </a:tc>
                <a:tc>
                  <a:txBody>
                    <a:bodyPr/>
                    <a:lstStyle/>
                    <a:p>
                      <a:pPr eaLnBrk="1" hangingPunct="1"/>
                      <a:r>
                        <a:rPr sz="1100" b="0" lang="ja-JP" altLang="en-US">
                          <a:solidFill>
                            <a:srgbClr val="111111"/>
                          </a:solidFill>
                          <a:latin typeface="Century Gothic"/>
                          <a:ea typeface="Yu Gothic"/>
                        </a:rPr>
                        <a:t>名称+要約+クレーム：使用済み/PCR/リサイクル材/再生材/再生プラ/再生樹脂/リサイクルプラ/コンシューマー</a:t>
                      </a:r>
                    </a:p>
                  </a:txBody>
                  <a:tcPr>
                    <a:solidFill>
                      <a:srgbClr val="F1F2F3"/>
                    </a:solidFill>
                  </a:tcPr>
                </a:tc>
                <a:tc>
                  <a:txBody>
                    <a:bodyPr/>
                    <a:lstStyle/>
                    <a:p>
                      <a:pPr eaLnBrk="1" hangingPunct="1"/>
                      <a:r>
                        <a:rPr sz="1100" b="0" lang="ja-JP" altLang="en-US">
                          <a:solidFill>
                            <a:srgbClr val="111111"/>
                          </a:solidFill>
                          <a:latin typeface="Century Gothic"/>
                          <a:ea typeface="Yu Gothic"/>
                        </a:rPr>
                        <a:t>使用済みプラスチック由来であることを担保</a:t>
                      </a:r>
                    </a:p>
                  </a:txBody>
                  <a:tcPr>
                    <a:solidFill>
                      <a:srgbClr val="F1F2F3"/>
                    </a:solidFill>
                  </a:tcPr>
                </a:tc>
              </a:tr>
              <a:tr h="457200">
                <a:tc>
                  <a:txBody>
                    <a:bodyPr/>
                    <a:lstStyle/>
                    <a:p>
                      <a:pPr eaLnBrk="1" hangingPunct="1"/>
                      <a:r>
                        <a:rPr sz="1100" b="0" lang="ja-JP" altLang="en-US">
                          <a:solidFill>
                            <a:srgbClr val="111111"/>
                          </a:solidFill>
                          <a:latin typeface="Century Gothic"/>
                          <a:ea typeface="Yu Gothic"/>
                        </a:rPr>
                        <a:t>[3]</a:t>
                      </a:r>
                    </a:p>
                  </a:txBody>
                  <a:tcPr/>
                </a:tc>
                <a:tc>
                  <a:txBody>
                    <a:bodyPr/>
                    <a:lstStyle/>
                    <a:p>
                      <a:pPr eaLnBrk="1" hangingPunct="1"/>
                      <a:r>
                        <a:rPr sz="1100" b="0" lang="ja-JP" altLang="en-US">
                          <a:solidFill>
                            <a:srgbClr val="111111"/>
                          </a:solidFill>
                          <a:latin typeface="Century Gothic"/>
                          <a:ea typeface="Yu Gothic"/>
                        </a:rPr>
                        <a:t>名称+要約+クレーム：樹脂</a:t>
                      </a:r>
                    </a:p>
                  </a:txBody>
                  <a:tcPr/>
                </a:tc>
                <a:tc>
                  <a:txBody>
                    <a:bodyPr/>
                    <a:lstStyle/>
                    <a:p>
                      <a:pPr eaLnBrk="1" hangingPunct="1"/>
                      <a:r>
                        <a:rPr sz="1100" b="0" lang="ja-JP" altLang="en-US">
                          <a:solidFill>
                            <a:srgbClr val="111111"/>
                          </a:solidFill>
                          <a:latin typeface="Century Gothic"/>
                          <a:ea typeface="Yu Gothic"/>
                        </a:rPr>
                        <a:t>樹脂技術に限定（無機・金属等を除外）</a:t>
                      </a:r>
                    </a:p>
                  </a:txBody>
                  <a:tcPr/>
                </a:tc>
              </a:tr>
              <a:tr h="457200">
                <a:tc>
                  <a:txBody>
                    <a:bodyPr/>
                    <a:lstStyle/>
                    <a:p>
                      <a:pPr eaLnBrk="1" hangingPunct="1"/>
                      <a:r>
                        <a:rPr sz="1100" b="0" lang="ja-JP" altLang="en-US">
                          <a:solidFill>
                            <a:srgbClr val="111111"/>
                          </a:solidFill>
                          <a:latin typeface="Century Gothic"/>
                          <a:ea typeface="Yu Gothic"/>
                        </a:rPr>
                        <a:t>[4]</a:t>
                      </a:r>
                    </a:p>
                  </a:txBody>
                  <a:tcPr>
                    <a:solidFill>
                      <a:srgbClr val="F1F2F3"/>
                    </a:solidFill>
                  </a:tcPr>
                </a:tc>
                <a:tc>
                  <a:txBody>
                    <a:bodyPr/>
                    <a:lstStyle/>
                    <a:p>
                      <a:pPr eaLnBrk="1" hangingPunct="1"/>
                      <a:r>
                        <a:rPr sz="1100" b="0" lang="ja-JP" altLang="en-US">
                          <a:solidFill>
                            <a:srgbClr val="111111"/>
                          </a:solidFill>
                          <a:latin typeface="Century Gothic"/>
                          <a:ea typeface="Yu Gothic"/>
                        </a:rPr>
                        <a:t>出願日：1996/01/01 以降</a:t>
                      </a:r>
                    </a:p>
                  </a:txBody>
                  <a:tcPr>
                    <a:solidFill>
                      <a:srgbClr val="F1F2F3"/>
                    </a:solidFill>
                  </a:tcPr>
                </a:tc>
                <a:tc>
                  <a:txBody>
                    <a:bodyPr/>
                    <a:lstStyle/>
                    <a:p>
                      <a:pPr eaLnBrk="1" hangingPunct="1"/>
                      <a:r>
                        <a:rPr sz="1100" b="0" lang="ja-JP" altLang="en-US">
                          <a:solidFill>
                            <a:srgbClr val="111111"/>
                          </a:solidFill>
                          <a:latin typeface="Century Gothic"/>
                          <a:ea typeface="Yu Gothic"/>
                        </a:rPr>
                        <a:t>対象期間の設定</a:t>
                      </a:r>
                    </a:p>
                  </a:txBody>
                  <a:tcPr>
                    <a:solidFill>
                      <a:srgbClr val="F1F2F3"/>
                    </a:solidFill>
                  </a:tcPr>
                </a:tc>
              </a:tr>
              <a:tr h="457200">
                <a:tc>
                  <a:txBody>
                    <a:bodyPr/>
                    <a:lstStyle/>
                    <a:p>
                      <a:pPr eaLnBrk="1" hangingPunct="1"/>
                      <a:r>
                        <a:rPr sz="1100" b="0" lang="ja-JP" altLang="en-US">
                          <a:solidFill>
                            <a:srgbClr val="111111"/>
                          </a:solidFill>
                          <a:latin typeface="Century Gothic"/>
                          <a:ea typeface="Yu Gothic"/>
                        </a:rPr>
                        <a:t>[5]</a:t>
                      </a:r>
                    </a:p>
                  </a:txBody>
                  <a:tcPr/>
                </a:tc>
                <a:tc>
                  <a:txBody>
                    <a:bodyPr/>
                    <a:lstStyle/>
                    <a:p>
                      <a:pPr eaLnBrk="1" hangingPunct="1"/>
                      <a:r>
                        <a:rPr sz="1100" b="0" lang="ja-JP" altLang="en-US">
                          <a:solidFill>
                            <a:srgbClr val="111111"/>
                          </a:solidFill>
                          <a:latin typeface="Century Gothic"/>
                          <a:ea typeface="Yu Gothic"/>
                        </a:rPr>
                        <a:t>論理式：1 AND 2 AND 3 AND 4</a:t>
                      </a:r>
                    </a:p>
                  </a:txBody>
                  <a:tcPr/>
                </a:tc>
                <a:tc>
                  <a:txBody>
                    <a:bodyPr/>
                    <a:lstStyle/>
                    <a:p>
                      <a:pPr eaLnBrk="1" hangingPunct="1"/>
                      <a:r>
                        <a:rPr sz="1100" b="0" lang="ja-JP" altLang="en-US">
                          <a:solidFill>
                            <a:srgbClr val="111111"/>
                          </a:solidFill>
                          <a:latin typeface="Century Gothic"/>
                          <a:ea typeface="Yu Gothic"/>
                        </a:rPr>
                        <a:t>上記すべての積（高機能再生材組成物に絞り込み）</a:t>
                      </a:r>
                    </a:p>
                  </a:txBody>
                  <a:tcPr/>
                </a:tc>
              </a:tr>
            </a:tbl>
          </a:graphicData>
        </a:graphic>
      </p:graphicFrame>
      <p:sp>
        <p:nvSpPr>
          <p:cNvPr id="8" name="TextBox 7"/>
          <p:cNvSpPr txBox="1"/>
          <p:nvPr/>
        </p:nvSpPr>
        <p:spPr>
          <a:xfrm>
            <a:off x="457200" y="6053328"/>
            <a:ext cx="11247120" cy="320040"/>
          </a:xfrm>
          <a:prstGeom prst="rect">
            <a:avLst/>
          </a:prstGeom>
          <a:noFill/>
          <a:effectLst/>
        </p:spPr>
        <p:txBody>
          <a:bodyPr wrap="square">
            <a:noAutofit/>
          </a:bodyPr>
          <a:lstStyle/>
          <a:p>
            <a:pPr eaLnBrk="1" hangingPunct="1"/>
            <a:r>
              <a:rPr sz="900" b="0" lang="ja-JP" altLang="en-US">
                <a:solidFill>
                  <a:srgbClr val="686868"/>
                </a:solidFill>
                <a:latin typeface="Century Gothic"/>
                <a:ea typeface="Yu Gothic"/>
              </a:rPr>
              <a:t>（出所）特許データベース Cyber patent desc（2026-06-14）</a:t>
            </a:r>
          </a:p>
        </p:txBody>
      </p:sp>
      <p:sp>
        <p:nvSpPr>
          <p:cNvPr id="9" name="TextBox 8"/>
          <p:cNvSpPr txBox="1"/>
          <p:nvPr/>
        </p:nvSpPr>
        <p:spPr>
          <a:xfrm>
            <a:off x="11384280" y="6419088"/>
            <a:ext cx="502920" cy="228600"/>
          </a:xfrm>
          <a:prstGeom prst="rect">
            <a:avLst/>
          </a:prstGeom>
          <a:noFill/>
          <a:effectLst/>
        </p:spPr>
        <p:txBody>
          <a:bodyPr wrap="none">
            <a:spAutoFit/>
          </a:bodyPr>
          <a:lstStyle/>
          <a:p>
            <a:pPr eaLnBrk="1" hangingPunct="1" algn="r"/>
            <a:r>
              <a:rPr sz="1000" b="0" lang="ja-JP" altLang="en-US">
                <a:solidFill>
                  <a:srgbClr val="686868"/>
                </a:solidFill>
                <a:latin typeface="Century Gothic"/>
                <a:ea typeface="Yu Gothic"/>
              </a:rPr>
              <a:t>39</a:t>
            </a:r>
          </a:p>
        </p:txBody>
      </p:sp>
      <p:cxnSp>
        <p:nvCxnSpPr>
          <p:cNvPr id="10" name="Connector 9"/>
          <p:cNvCxnSpPr/>
          <p:nvPr/>
        </p:nvCxnSpPr>
        <p:spPr>
          <a:xfrm>
            <a:off x="11859767" y="128016"/>
            <a:ext cx="201169" cy="0"/>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11" name="Connector 10"/>
          <p:cNvCxnSpPr/>
          <p:nvPr/>
        </p:nvCxnSpPr>
        <p:spPr>
          <a:xfrm>
            <a:off x="12060936" y="128016"/>
            <a:ext cx="0" cy="201168"/>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12" name="Connector 11"/>
          <p:cNvCxnSpPr/>
          <p:nvPr/>
        </p:nvCxnSpPr>
        <p:spPr>
          <a:xfrm>
            <a:off x="128016" y="6729984"/>
            <a:ext cx="201168" cy="0"/>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cxnSp>
        <p:nvCxnSpPr>
          <p:cNvPr id="13" name="Connector 12"/>
          <p:cNvCxnSpPr/>
          <p:nvPr/>
        </p:nvCxnSpPr>
        <p:spPr>
          <a:xfrm>
            <a:off x="128016" y="6528816"/>
            <a:ext cx="0" cy="201168"/>
          </a:xfrm>
          <a:prstGeom prst="line">
            <a:avLst/>
          </a:prstGeom>
          <a:ln w="9525">
            <a:solidFill>
              <a:srgbClr val="C51212"/>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01011"/>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1078992" y="2331720"/>
            <a:ext cx="3108960" cy="100584"/>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1051560" y="2606040"/>
            <a:ext cx="10058400" cy="2011680"/>
          </a:xfrm>
          <a:prstGeom prst="rect">
            <a:avLst/>
          </a:prstGeom>
          <a:noFill/>
          <a:effectLst/>
        </p:spPr>
        <p:txBody>
          <a:bodyPr wrap="square">
            <a:spAutoFit/>
          </a:bodyPr>
          <a:lstStyle/>
          <a:p>
            <a:pPr eaLnBrk="1" hangingPunct="1">
              <a:lnSpc>
                <a:spcPct val="125000"/>
              </a:lnSpc>
            </a:pPr>
            <a:r>
              <a:rPr sz="3000" b="1" lang="ja-JP" altLang="en-US">
                <a:solidFill>
                  <a:srgbClr val="FFFFFF"/>
                </a:solidFill>
                <a:latin typeface="Yu Mincho"/>
                <a:ea typeface="Yu Mincho"/>
              </a:rPr>
              <a:t>再生材は「使うか」から「どう素材化するか」へ — 担い手は交代し、品質安定化と化学リサイクルが次の主戦場</a:t>
            </a:r>
          </a:p>
        </p:txBody>
      </p:sp>
      <p:sp>
        <p:nvSpPr>
          <p:cNvPr id="5" name="TextBox 4"/>
          <p:cNvSpPr txBox="1"/>
          <p:nvPr/>
        </p:nvSpPr>
        <p:spPr>
          <a:xfrm>
            <a:off x="1078992" y="4846320"/>
            <a:ext cx="10058400" cy="731520"/>
          </a:xfrm>
          <a:prstGeom prst="rect">
            <a:avLst/>
          </a:prstGeom>
          <a:noFill/>
          <a:effectLst/>
        </p:spPr>
        <p:txBody>
          <a:bodyPr wrap="square">
            <a:spAutoFit/>
          </a:bodyPr>
          <a:lstStyle/>
          <a:p>
            <a:pPr eaLnBrk="1" hangingPunct="1"/>
            <a:r>
              <a:rPr sz="1400" b="0" lang="ja-JP" altLang="en-US">
                <a:solidFill>
                  <a:srgbClr val="C2C2C6"/>
                </a:solidFill>
                <a:latin typeface="Century Gothic"/>
                <a:ea typeface="Yu Gothic"/>
              </a:rPr>
              <a:t>APOLLO v8.0.0 ｜ CAPCOM Deep Dive ｜ 本母集団417件（1996–2025, Cyber patent desc）</a:t>
            </a:r>
          </a:p>
        </p:txBody>
      </p:sp>
      <p:sp>
        <p:nvSpPr>
          <p:cNvPr id="6" name="Rectangle 5"/>
          <p:cNvSpPr/>
          <p:nvPr/>
        </p:nvSpPr>
        <p:spPr>
          <a:xfrm>
            <a:off x="0" y="6492240"/>
            <a:ext cx="12188952" cy="27432"/>
          </a:xfrm>
          <a:prstGeom prst="rect">
            <a:avLst/>
          </a:prstGeom>
          <a:solidFill>
            <a:srgbClr val="C512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APOLLO CAPCOM">
  <a:themeElements>
    <a:clrScheme name="APOLLO CAPCOM">
      <a:dk1>
        <a:srgbClr val="1B2A4A"/>
      </a:dk1>
      <a:lt1>
        <a:srgbClr val="FFFFFF"/>
      </a:lt1>
      <a:dk2>
        <a:srgbClr val="333333"/>
      </a:dk2>
      <a:lt2>
        <a:srgbClr val="F5F5F5"/>
      </a:lt2>
      <a:accent1>
        <a:srgbClr val="3B7DD8"/>
      </a:accent1>
      <a:accent2>
        <a:srgbClr val="2E5090"/>
      </a:accent2>
      <a:accent3>
        <a:srgbClr val="2E8B57"/>
      </a:accent3>
      <a:accent4>
        <a:srgbClr val="D4A017"/>
      </a:accent4>
      <a:accent5>
        <a:srgbClr val="D64545"/>
      </a:accent5>
      <a:accent6>
        <a:srgbClr val="666666"/>
      </a:accent6>
      <a:hlink>
        <a:srgbClr val="3B7DD8"/>
      </a:hlink>
      <a:folHlink>
        <a:srgbClr val="666666"/>
      </a:folHlink>
    </a:clrScheme>
    <a:fontScheme name="APOLLO CAPCOM">
      <a:majorFont>
        <a:latin typeface="Hiragino Sans"/>
        <a:ea typeface="Hiragino Sans"/>
        <a:cs typeface=""/>
        <a:font script="Jpan" typeface="Hiragino Sans"/>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Hiragino Sans"/>
        <a:ea typeface="Hiragino Sans"/>
        <a:cs typeface=""/>
        <a:font script="Jpan" typeface="Hiragino Sans"/>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